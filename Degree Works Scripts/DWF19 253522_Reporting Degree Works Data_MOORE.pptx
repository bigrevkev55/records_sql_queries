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98"/>
  </p:notesMasterIdLst>
  <p:handoutMasterIdLst>
    <p:handoutMasterId r:id="rId99"/>
  </p:handoutMasterIdLst>
  <p:sldIdLst>
    <p:sldId id="703" r:id="rId5"/>
    <p:sldId id="705" r:id="rId6"/>
    <p:sldId id="710" r:id="rId7"/>
    <p:sldId id="727" r:id="rId8"/>
    <p:sldId id="807" r:id="rId9"/>
    <p:sldId id="712" r:id="rId10"/>
    <p:sldId id="713" r:id="rId11"/>
    <p:sldId id="724" r:id="rId12"/>
    <p:sldId id="725" r:id="rId13"/>
    <p:sldId id="726" r:id="rId14"/>
    <p:sldId id="729" r:id="rId15"/>
    <p:sldId id="730" r:id="rId16"/>
    <p:sldId id="808" r:id="rId17"/>
    <p:sldId id="762" r:id="rId18"/>
    <p:sldId id="764" r:id="rId19"/>
    <p:sldId id="765" r:id="rId20"/>
    <p:sldId id="766" r:id="rId21"/>
    <p:sldId id="767" r:id="rId22"/>
    <p:sldId id="769" r:id="rId23"/>
    <p:sldId id="768" r:id="rId24"/>
    <p:sldId id="770" r:id="rId25"/>
    <p:sldId id="771" r:id="rId26"/>
    <p:sldId id="772" r:id="rId27"/>
    <p:sldId id="773" r:id="rId28"/>
    <p:sldId id="774" r:id="rId29"/>
    <p:sldId id="775" r:id="rId30"/>
    <p:sldId id="776" r:id="rId31"/>
    <p:sldId id="777" r:id="rId32"/>
    <p:sldId id="778" r:id="rId33"/>
    <p:sldId id="779" r:id="rId34"/>
    <p:sldId id="782" r:id="rId35"/>
    <p:sldId id="780" r:id="rId36"/>
    <p:sldId id="783" r:id="rId37"/>
    <p:sldId id="781" r:id="rId38"/>
    <p:sldId id="784" r:id="rId39"/>
    <p:sldId id="785" r:id="rId40"/>
    <p:sldId id="763" r:id="rId41"/>
    <p:sldId id="786" r:id="rId42"/>
    <p:sldId id="789" r:id="rId43"/>
    <p:sldId id="791" r:id="rId44"/>
    <p:sldId id="792" r:id="rId45"/>
    <p:sldId id="793" r:id="rId46"/>
    <p:sldId id="795" r:id="rId47"/>
    <p:sldId id="794" r:id="rId48"/>
    <p:sldId id="797" r:id="rId49"/>
    <p:sldId id="796" r:id="rId50"/>
    <p:sldId id="798" r:id="rId51"/>
    <p:sldId id="799" r:id="rId52"/>
    <p:sldId id="800" r:id="rId53"/>
    <p:sldId id="801" r:id="rId54"/>
    <p:sldId id="802" r:id="rId55"/>
    <p:sldId id="803" r:id="rId56"/>
    <p:sldId id="804" r:id="rId57"/>
    <p:sldId id="761" r:id="rId58"/>
    <p:sldId id="731" r:id="rId59"/>
    <p:sldId id="734" r:id="rId60"/>
    <p:sldId id="735" r:id="rId61"/>
    <p:sldId id="736" r:id="rId62"/>
    <p:sldId id="737" r:id="rId63"/>
    <p:sldId id="738" r:id="rId64"/>
    <p:sldId id="739" r:id="rId65"/>
    <p:sldId id="740" r:id="rId66"/>
    <p:sldId id="741" r:id="rId67"/>
    <p:sldId id="742" r:id="rId68"/>
    <p:sldId id="743" r:id="rId69"/>
    <p:sldId id="744" r:id="rId70"/>
    <p:sldId id="746" r:id="rId71"/>
    <p:sldId id="747" r:id="rId72"/>
    <p:sldId id="751" r:id="rId73"/>
    <p:sldId id="753" r:id="rId74"/>
    <p:sldId id="754" r:id="rId75"/>
    <p:sldId id="752" r:id="rId76"/>
    <p:sldId id="755" r:id="rId77"/>
    <p:sldId id="805" r:id="rId78"/>
    <p:sldId id="806" r:id="rId79"/>
    <p:sldId id="756" r:id="rId80"/>
    <p:sldId id="757" r:id="rId81"/>
    <p:sldId id="758" r:id="rId82"/>
    <p:sldId id="759" r:id="rId83"/>
    <p:sldId id="760" r:id="rId84"/>
    <p:sldId id="733" r:id="rId85"/>
    <p:sldId id="748" r:id="rId86"/>
    <p:sldId id="750" r:id="rId87"/>
    <p:sldId id="787" r:id="rId88"/>
    <p:sldId id="809" r:id="rId89"/>
    <p:sldId id="810" r:id="rId90"/>
    <p:sldId id="811" r:id="rId91"/>
    <p:sldId id="812" r:id="rId92"/>
    <p:sldId id="813" r:id="rId93"/>
    <p:sldId id="788" r:id="rId94"/>
    <p:sldId id="715" r:id="rId95"/>
    <p:sldId id="686" r:id="rId96"/>
    <p:sldId id="718" r:id="rId97"/>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64">
          <p15:clr>
            <a:srgbClr val="A4A3A4"/>
          </p15:clr>
        </p15:guide>
        <p15:guide id="2" orient="horz" pos="2158">
          <p15:clr>
            <a:srgbClr val="A4A3A4"/>
          </p15:clr>
        </p15:guide>
        <p15:guide id="3" orient="horz" pos="716">
          <p15:clr>
            <a:srgbClr val="A4A3A4"/>
          </p15:clr>
        </p15:guide>
        <p15:guide id="4" orient="horz" pos="1044" userDrawn="1">
          <p15:clr>
            <a:srgbClr val="A4A3A4"/>
          </p15:clr>
        </p15:guide>
        <p15:guide id="5" pos="1077">
          <p15:clr>
            <a:srgbClr val="A4A3A4"/>
          </p15:clr>
        </p15:guide>
        <p15:guide id="6" pos="2880" userDrawn="1">
          <p15:clr>
            <a:srgbClr val="A4A3A4"/>
          </p15:clr>
        </p15:guide>
        <p15:guide id="7" pos="5512">
          <p15:clr>
            <a:srgbClr val="A4A3A4"/>
          </p15:clr>
        </p15:guide>
        <p15:guide id="8" pos="4702">
          <p15:clr>
            <a:srgbClr val="A4A3A4"/>
          </p15:clr>
        </p15:guide>
        <p15:guide id="9" orient="horz" pos="3198">
          <p15:clr>
            <a:srgbClr val="A4A3A4"/>
          </p15:clr>
        </p15:guide>
        <p15:guide id="10" orient="horz" pos="1596" userDrawn="1">
          <p15:clr>
            <a:srgbClr val="A4A3A4"/>
          </p15:clr>
        </p15:guide>
        <p15:guide id="11" orient="horz" pos="537">
          <p15:clr>
            <a:srgbClr val="A4A3A4"/>
          </p15:clr>
        </p15:guide>
        <p15:guide id="12" orient="horz" pos="785">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milla Sullivan" initials="" lastIdx="43" clrIdx="0"/>
  <p:cmAuthor id="1" name="Brent Morris" initials="" lastIdx="0" clrIdx="1"/>
  <p:cmAuthor id="2" name="Carmody, Debbie" initials="CD" lastIdx="20" clrIdx="2"/>
  <p:cmAuthor id="3" name="Rakowski, Emily" initials="RE" lastIdx="3" clrIdx="3">
    <p:extLst/>
  </p:cmAuthor>
  <p:cmAuthor id="4" name="Ragsdale, BeBe" initials="RB" lastIdx="0" clrIdx="4">
    <p:extLst>
      <p:ext uri="{19B8F6BF-5375-455C-9EA6-DF929625EA0E}">
        <p15:presenceInfo xmlns:p15="http://schemas.microsoft.com/office/powerpoint/2012/main" userId="S::bebe.ragsdale@ellucian.com::40ec3429-313b-469a-9caa-830c21131a7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9"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D381"/>
    <a:srgbClr val="45A1AA"/>
    <a:srgbClr val="6B6F72"/>
    <a:srgbClr val="C5D81F"/>
    <a:srgbClr val="A1ABD7"/>
    <a:srgbClr val="FF9900"/>
    <a:srgbClr val="462F89"/>
    <a:srgbClr val="642673"/>
    <a:srgbClr val="DF1C5A"/>
    <a:srgbClr val="DCDDD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78" autoAdjust="0"/>
    <p:restoredTop sz="89926" autoAdjust="0"/>
  </p:normalViewPr>
  <p:slideViewPr>
    <p:cSldViewPr snapToGrid="0" snapToObjects="1" showGuides="1">
      <p:cViewPr varScale="1">
        <p:scale>
          <a:sx n="82" d="100"/>
          <a:sy n="82" d="100"/>
        </p:scale>
        <p:origin x="348" y="84"/>
      </p:cViewPr>
      <p:guideLst>
        <p:guide orient="horz" pos="4264"/>
        <p:guide orient="horz" pos="2158"/>
        <p:guide orient="horz" pos="716"/>
        <p:guide orient="horz" pos="1044"/>
        <p:guide pos="1077"/>
        <p:guide pos="2880"/>
        <p:guide pos="5512"/>
        <p:guide pos="4702"/>
        <p:guide orient="horz" pos="3198"/>
        <p:guide orient="horz" pos="1596"/>
        <p:guide orient="horz" pos="537"/>
        <p:guide orient="horz" pos="785"/>
      </p:guideLst>
    </p:cSldViewPr>
  </p:slideViewPr>
  <p:outlineViewPr>
    <p:cViewPr>
      <p:scale>
        <a:sx n="33" d="100"/>
        <a:sy n="33" d="100"/>
      </p:scale>
      <p:origin x="24" y="53658"/>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p:scale>
          <a:sx n="75" d="100"/>
          <a:sy n="75" d="100"/>
        </p:scale>
        <p:origin x="-3880" y="-62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7A92C477-285A-664E-866F-D0B5150B495E}" type="datetime1">
              <a:rPr lang="en-US" smtClean="0"/>
              <a:pPr/>
              <a:t>4/5/2019</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A79B3CB2-D278-FD48-95CA-B8E3879CB95E}" type="slidenum">
              <a:rPr lang="en-US" smtClean="0"/>
              <a:pPr/>
              <a:t>‹#›</a:t>
            </a:fld>
            <a:endParaRPr lang="en-US"/>
          </a:p>
        </p:txBody>
      </p:sp>
    </p:spTree>
    <p:extLst>
      <p:ext uri="{BB962C8B-B14F-4D97-AF65-F5344CB8AC3E}">
        <p14:creationId xmlns:p14="http://schemas.microsoft.com/office/powerpoint/2010/main" val="319406794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3439AD16-6639-F84C-8424-7D4A5B5B9ECB}" type="datetime1">
              <a:rPr lang="en-US" smtClean="0"/>
              <a:pPr/>
              <a:t>4/5/2019</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CF541D2A-E99A-2F4F-B8C9-28142709F87F}" type="slidenum">
              <a:rPr lang="en-US" smtClean="0"/>
              <a:pPr/>
              <a:t>‹#›</a:t>
            </a:fld>
            <a:endParaRPr lang="en-US"/>
          </a:p>
        </p:txBody>
      </p:sp>
    </p:spTree>
    <p:extLst>
      <p:ext uri="{BB962C8B-B14F-4D97-AF65-F5344CB8AC3E}">
        <p14:creationId xmlns:p14="http://schemas.microsoft.com/office/powerpoint/2010/main" val="137068236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name is Michael</a:t>
            </a:r>
            <a:r>
              <a:rPr lang="en-US" baseline="0" dirty="0" smtClean="0"/>
              <a:t> Moore and today we are going to look at reporting Degree Works data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734111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a:t>
            </a:fld>
            <a:endParaRPr lang="en-US"/>
          </a:p>
        </p:txBody>
      </p:sp>
    </p:spTree>
    <p:extLst>
      <p:ext uri="{BB962C8B-B14F-4D97-AF65-F5344CB8AC3E}">
        <p14:creationId xmlns:p14="http://schemas.microsoft.com/office/powerpoint/2010/main" val="471823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cover two main topics: the tables that</a:t>
            </a:r>
            <a:r>
              <a:rPr lang="en-US" baseline="0" dirty="0" smtClean="0"/>
              <a:t> are in the Degree Works database and how to report out that data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a:t>
            </a:fld>
            <a:endParaRPr lang="en-US"/>
          </a:p>
        </p:txBody>
      </p:sp>
    </p:spTree>
    <p:extLst>
      <p:ext uri="{BB962C8B-B14F-4D97-AF65-F5344CB8AC3E}">
        <p14:creationId xmlns:p14="http://schemas.microsoft.com/office/powerpoint/2010/main" val="1701985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am</a:t>
            </a:r>
            <a:r>
              <a:rPr lang="en-US" baseline="0" dirty="0" smtClean="0"/>
              <a:t> making some assumptions about you all today.  One, I am assuming everyone is familiar with a relational database and related terms, just not necessarily the Degree Works database.  I am also assuming you have experience querying data using SQL.  I will explain the decisions I made when writing the SQL, just not what the different clauses mean.  Finally, you will need to have query access to all of the Degree Works tables, so I am assuming you do.</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a:t>
            </a:fld>
            <a:endParaRPr lang="en-US"/>
          </a:p>
        </p:txBody>
      </p:sp>
    </p:spTree>
    <p:extLst>
      <p:ext uri="{BB962C8B-B14F-4D97-AF65-F5344CB8AC3E}">
        <p14:creationId xmlns:p14="http://schemas.microsoft.com/office/powerpoint/2010/main" val="204145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we get started,</a:t>
            </a:r>
            <a:r>
              <a:rPr lang="en-US" baseline="0" dirty="0" smtClean="0"/>
              <a:t> there are some important things you need to take note of.  First, the examples in this presentation are general and not comprehensive.  The reason for this is everyone’s data needs are different.  The examples presented here are meant to spark inspiration and get you started.  Also, the SQL presented here is only illustrative.  It will not work as writing because my environment is different than yours.   Although the columns and tables are accurate, you must localize the SQL to your environment.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a:t>
            </a:fld>
            <a:endParaRPr lang="en-US"/>
          </a:p>
        </p:txBody>
      </p:sp>
    </p:spTree>
    <p:extLst>
      <p:ext uri="{BB962C8B-B14F-4D97-AF65-F5344CB8AC3E}">
        <p14:creationId xmlns:p14="http://schemas.microsoft.com/office/powerpoint/2010/main" val="2674014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with that</a:t>
            </a:r>
            <a:r>
              <a:rPr lang="en-US" baseline="0" dirty="0" smtClean="0"/>
              <a:t> business out of the way, let’s review the agenda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a:t>
            </a:fld>
            <a:endParaRPr lang="en-US"/>
          </a:p>
        </p:txBody>
      </p:sp>
    </p:spTree>
    <p:extLst>
      <p:ext uri="{BB962C8B-B14F-4D97-AF65-F5344CB8AC3E}">
        <p14:creationId xmlns:p14="http://schemas.microsoft.com/office/powerpoint/2010/main" val="3940427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 up, just a brief</a:t>
            </a:r>
            <a:r>
              <a:rPr lang="en-US" baseline="0" dirty="0" smtClean="0"/>
              <a:t> background on ODU</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a:t>
            </a:fld>
            <a:endParaRPr lang="en-US"/>
          </a:p>
        </p:txBody>
      </p:sp>
    </p:spTree>
    <p:extLst>
      <p:ext uri="{BB962C8B-B14F-4D97-AF65-F5344CB8AC3E}">
        <p14:creationId xmlns:p14="http://schemas.microsoft.com/office/powerpoint/2010/main" val="4097853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have 22,000 students in 274 different</a:t>
            </a:r>
            <a:r>
              <a:rPr lang="en-US" baseline="0" dirty="0" smtClean="0"/>
              <a:t> programs at all different levels.  We have three full time Degree Works staff.  We have been living for a decade now, though we are still on version 4.1.6 (just waiting for 5.0.2!)  Finally, while other schools use fancy tools like Argos or </a:t>
            </a:r>
            <a:r>
              <a:rPr lang="en-US" baseline="0" dirty="0" err="1" smtClean="0"/>
              <a:t>Cognos</a:t>
            </a:r>
            <a:r>
              <a:rPr lang="en-US" baseline="0" dirty="0" smtClean="0"/>
              <a:t> or even Toad, we are using Microsoft Access for reporting.  It works really well for us and might work well for you too!</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a:t>
            </a:fld>
            <a:endParaRPr lang="en-US"/>
          </a:p>
        </p:txBody>
      </p:sp>
    </p:spTree>
    <p:extLst>
      <p:ext uri="{BB962C8B-B14F-4D97-AF65-F5344CB8AC3E}">
        <p14:creationId xmlns:p14="http://schemas.microsoft.com/office/powerpoint/2010/main" val="1898133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let’s</a:t>
            </a:r>
            <a:r>
              <a:rPr lang="en-US" baseline="0" dirty="0" smtClean="0"/>
              <a:t> learn a little about the tables in the Degree Works database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9</a:t>
            </a:fld>
            <a:endParaRPr lang="en-US"/>
          </a:p>
        </p:txBody>
      </p:sp>
    </p:spTree>
    <p:extLst>
      <p:ext uri="{BB962C8B-B14F-4D97-AF65-F5344CB8AC3E}">
        <p14:creationId xmlns:p14="http://schemas.microsoft.com/office/powerpoint/2010/main" val="2087835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are six types of tables in the Degree Works database, four of which we will be covering today, including…The tables we will not be covering are…because you can easily see this information in DW Shell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10</a:t>
            </a:fld>
            <a:endParaRPr lang="en-US"/>
          </a:p>
        </p:txBody>
      </p:sp>
    </p:spTree>
    <p:extLst>
      <p:ext uri="{BB962C8B-B14F-4D97-AF65-F5344CB8AC3E}">
        <p14:creationId xmlns:p14="http://schemas.microsoft.com/office/powerpoint/2010/main" val="1966393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CPA and DAP tables</a:t>
            </a:r>
            <a:r>
              <a:rPr lang="en-US" baseline="0" dirty="0" smtClean="0"/>
              <a:t> can be set to populate nightly or you can use the DAP22 in Transit.  If you are using Transit, be sure to check the “Build audit results to allow queries against the database (CPA)?” box.  In either case, it can take a long time to run.  In our case,  when we tried to populate it nightly, it was never able to finish because we simply had too many students.  Because of this, we only populate for certain populations on an as-needed basis</a:t>
            </a:r>
          </a:p>
        </p:txBody>
      </p:sp>
      <p:sp>
        <p:nvSpPr>
          <p:cNvPr id="4" name="Slide Number Placeholder 3"/>
          <p:cNvSpPr>
            <a:spLocks noGrp="1"/>
          </p:cNvSpPr>
          <p:nvPr>
            <p:ph type="sldNum" sz="quarter" idx="10"/>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3285570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few things to note about the CPA and DAP tables:</a:t>
            </a:r>
            <a:r>
              <a:rPr lang="en-US" baseline="0" dirty="0" smtClean="0"/>
              <a:t> each time they are populated, they do not overwrite existing data.  Because of this they can get very large.  Plus you may be querying outdated data.  However, the tables are safe to truncate, which your IT staff may have to do for you.</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965591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Nothing needs to be done to get data into the RAD and SEP tables.</a:t>
            </a:r>
            <a:r>
              <a:rPr lang="en-US" baseline="0" dirty="0" smtClean="0"/>
              <a:t>  RAD updates when data is bridged from your SIS and SEP updates when someone changes the plan from within the degree audit dashboard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616787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that</a:t>
            </a:r>
            <a:r>
              <a:rPr lang="en-US" baseline="0" dirty="0" smtClean="0"/>
              <a:t> we know what tables hold what data, we can start to query the data.  Let’s start by looking at some general student data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85663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Probably</a:t>
            </a:r>
            <a:r>
              <a:rPr lang="en-US" baseline="0" dirty="0" smtClean="0"/>
              <a:t> everyone is familiar with the Student Data Report that can be accessed from the Degree Works dashboard.  This is actually a good place to start when you are looking for data.  A lot of basic information can be found on the Student Data Report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2524366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first table in the student data report</a:t>
            </a:r>
            <a:r>
              <a:rPr lang="en-US" baseline="0" dirty="0" smtClean="0"/>
              <a:t> is the Primary-</a:t>
            </a:r>
            <a:r>
              <a:rPr lang="en-US" baseline="0" dirty="0" err="1" smtClean="0"/>
              <a:t>Mst</a:t>
            </a:r>
            <a:r>
              <a:rPr lang="en-US" baseline="0" dirty="0" smtClean="0"/>
              <a:t> table or RAD_PRIMARY_MST as it is named in the Degree Works database.  As you can see from the screenshot of the table in the Student Data Report, it does not contain all the information as seen in the design of the RAD_PRIMARY_MST table.  Therefore, it is important to look at all of the data in the table to get a clear understanding of what is available.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4074448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 up</a:t>
            </a:r>
            <a:r>
              <a:rPr lang="en-US" baseline="0" dirty="0" smtClean="0"/>
              <a:t> is Goal-</a:t>
            </a:r>
            <a:r>
              <a:rPr lang="en-US" baseline="0" dirty="0" err="1" smtClean="0"/>
              <a:t>Dtl</a:t>
            </a:r>
            <a:r>
              <a:rPr lang="en-US" baseline="0" dirty="0" smtClean="0"/>
              <a:t> or RAD_GOAL_DTL.  This table is fairly light on data, but we can see it provides the degree, catalog, and student level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655659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GoalData-Dtl</a:t>
            </a:r>
            <a:r>
              <a:rPr lang="en-US" baseline="0" dirty="0" smtClean="0"/>
              <a:t> or RAD_GOALDATA_DTL is similar to RAD_GOAL_DTL but provides a lot more information.  We can see it uses </a:t>
            </a:r>
            <a:r>
              <a:rPr lang="en-US" baseline="0" dirty="0" err="1" smtClean="0"/>
              <a:t>GoalCode</a:t>
            </a:r>
            <a:r>
              <a:rPr lang="en-US" baseline="0" dirty="0" smtClean="0"/>
              <a:t> to help us decipher what is in </a:t>
            </a:r>
            <a:r>
              <a:rPr lang="en-US" baseline="0" dirty="0" err="1" smtClean="0"/>
              <a:t>GoalValue-Dtl</a:t>
            </a:r>
            <a:r>
              <a:rPr lang="en-US" baseline="0" dirty="0" smtClean="0"/>
              <a:t>.  Interestingly, it has dedicated columns for degree and catalog year, data we saw already in RAD_GOAL_DTL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3161760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is the design of the RAD_GOALDATA_DTL table.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550147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as we saw, both</a:t>
            </a:r>
            <a:r>
              <a:rPr lang="en-US" baseline="0" dirty="0" smtClean="0"/>
              <a:t> RAD_GOAL_DTL and RAD_GOALDATA_DTL share similar data.  So which one should we use?  My recommendation is RAD_GOALDATA_DTL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3693610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RAD_GOAL_DTL has limited</a:t>
            </a:r>
            <a:r>
              <a:rPr lang="en-US" baseline="0" dirty="0" smtClean="0"/>
              <a:t> information.  Say initially we only needed to know the degree and catalog year.  It would be easy to use RAD_GOAL_DTL to get this.  But later if we needed to add major, we would have to go to another table.  We could just start with RAD_GOALDATA_DTL so we would have a way to expand our query in the future.  One thing to note is that is does contain the student level or classification.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4243695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drawback</a:t>
            </a:r>
            <a:r>
              <a:rPr lang="en-US" baseline="0" dirty="0" smtClean="0"/>
              <a:t> to RAD_GOALDATA_DTL is that it has multiple rows to hold all the data.  Rather than having columns named MAJOR or MINOR, we have to set that as criteria in RAD_GOAL_CODE.  Because of this, we need to join RAD_GOALDATA_DTL to itself to understand a student’s curriculum</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364317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 me explain.</a:t>
            </a:r>
            <a:r>
              <a:rPr lang="en-US" baseline="0" dirty="0" smtClean="0"/>
              <a:t>  If we look at RAD_GOALDATA_DTL for this example student, we see that there are two different degrees, BA and ID, which each have their own associated MAJOR, CONC, and so on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2432457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let’s do a quick query to find</a:t>
            </a:r>
            <a:r>
              <a:rPr lang="en-US" baseline="0" dirty="0" smtClean="0"/>
              <a:t> the majors and concentrations in RAD_GOALDATA_DTL.  We set our criteria for RAD_GOAL_CODE to either be MAJOR or CONC</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3921658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we review</a:t>
            </a:r>
            <a:r>
              <a:rPr lang="en-US" baseline="0" dirty="0" smtClean="0"/>
              <a:t> the results for this student, we see that each major has its own row as does each concentration.  It is not readily apparent which goes to which.</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1079451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if we look back at the RAD_GOALDATA_DTL table, we can see there is an </a:t>
            </a:r>
            <a:r>
              <a:rPr lang="en-US" dirty="0" err="1" smtClean="0"/>
              <a:t>AttachCode</a:t>
            </a:r>
            <a:r>
              <a:rPr lang="en-US" baseline="0" dirty="0" smtClean="0"/>
              <a:t> and </a:t>
            </a:r>
            <a:r>
              <a:rPr lang="en-US" baseline="0" dirty="0" err="1" smtClean="0"/>
              <a:t>AttachValue</a:t>
            </a:r>
            <a:r>
              <a:rPr lang="en-US" baseline="0" dirty="0" smtClean="0"/>
              <a:t> for each CONC.  This tells us (and our query) which CONC goes to which MAJOR.  We can join on these values to get better results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328339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Notice in this query, we bring in</a:t>
            </a:r>
            <a:r>
              <a:rPr lang="en-US" baseline="0" dirty="0" smtClean="0"/>
              <a:t> two versions of RAD_GOALDATA_DTL, aliasing one with a different name.  The first version will be the one we return the MAJOR from while the second will be our CONC.  Then in our WHERE criteria, we can join the first table’s RAD_GOAL_CODE to the second table’s RAD_ATTACH_CODE.  Remember that the CONC row had a value of MAJOR in RAD_ATTACH_CODE.  The we join RAD_ATTACH_VALUE to RAD_ATTACH_VALUE, recalling that RAD_ATTACH_VALUE has the actual major code in it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13865476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in our results, we get a much cleaner</a:t>
            </a:r>
            <a:r>
              <a:rPr lang="en-US" baseline="0" dirty="0" smtClean="0"/>
              <a:t> look which each major and </a:t>
            </a:r>
            <a:r>
              <a:rPr lang="en-US" baseline="0" dirty="0" err="1" smtClean="0"/>
              <a:t>conc</a:t>
            </a:r>
            <a:r>
              <a:rPr lang="en-US" baseline="0" dirty="0" smtClean="0"/>
              <a:t> pair getting their own row.  Now if you were going to do this query for real, you would of course want to account for majors where this no concentration.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558073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Term-</a:t>
            </a:r>
            <a:r>
              <a:rPr lang="en-US" dirty="0" err="1" smtClean="0"/>
              <a:t>Dtl</a:t>
            </a:r>
            <a:r>
              <a:rPr lang="en-US" baseline="0" dirty="0" smtClean="0"/>
              <a:t> or RAD_TERM_DTL contains good information regarding the GPA and credits earned.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1880065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giant table with tiny text is Class-</a:t>
            </a:r>
            <a:r>
              <a:rPr lang="en-US" dirty="0" err="1" smtClean="0"/>
              <a:t>Dtl</a:t>
            </a:r>
            <a:r>
              <a:rPr lang="en-US" dirty="0" smtClean="0"/>
              <a:t> or RAD_CLASS_DTL.  This contains a complete listing of all the classes the student has taken, is taking</a:t>
            </a:r>
            <a:r>
              <a:rPr lang="en-US" baseline="0" dirty="0" smtClean="0"/>
              <a:t>, and is pre-registered for.  Note that it is the classes taken at your institution.  Transferred classes are in another table Transfer-</a:t>
            </a:r>
            <a:r>
              <a:rPr lang="en-US" baseline="0" dirty="0" err="1" smtClean="0"/>
              <a:t>Dtl</a:t>
            </a:r>
            <a:r>
              <a:rPr lang="en-US" baseline="0" dirty="0" smtClean="0"/>
              <a:t> or RAD_TRANSFER_DTL which is similar.</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25172592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let’s</a:t>
            </a:r>
            <a:r>
              <a:rPr lang="en-US" baseline="0" dirty="0" smtClean="0"/>
              <a:t> use the RAD_CLASS_DTL table to determine which classes students are enrolled in this semester.</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2248857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a:t>
            </a:r>
            <a:r>
              <a:rPr lang="en-US" baseline="0" dirty="0" smtClean="0"/>
              <a:t> here are the results for one particular student.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96226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we can see from Class-</a:t>
            </a:r>
            <a:r>
              <a:rPr lang="en-US" dirty="0" err="1" smtClean="0"/>
              <a:t>Dtl</a:t>
            </a:r>
            <a:r>
              <a:rPr lang="en-US" baseline="0" dirty="0" smtClean="0"/>
              <a:t> from the Student Report Data, the course is in two columns: Discipline and </a:t>
            </a:r>
            <a:r>
              <a:rPr lang="en-US" baseline="0" dirty="0" err="1" smtClean="0"/>
              <a:t>CourseNumber</a:t>
            </a:r>
            <a:r>
              <a:rPr lang="en-US" baseline="0" dirty="0" smtClean="0"/>
              <a:t>.  But in RAD_CLASS_DTL, the discipline and number is concatenated in RAD_COURSE_KEY with extra spaces between the two.</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42387828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next table up is Custom-</a:t>
            </a:r>
            <a:r>
              <a:rPr lang="en-US" dirty="0" err="1" smtClean="0"/>
              <a:t>Dtl</a:t>
            </a:r>
            <a:r>
              <a:rPr lang="en-US" baseline="0" dirty="0" smtClean="0"/>
              <a:t> or RAD_CUSTOM_DTL.  Note that the </a:t>
            </a:r>
            <a:r>
              <a:rPr lang="en-US" baseline="0" dirty="0" err="1" smtClean="0"/>
              <a:t>CustomCode</a:t>
            </a:r>
            <a:r>
              <a:rPr lang="en-US" baseline="0" dirty="0" smtClean="0"/>
              <a:t> provides the description of the data in </a:t>
            </a:r>
            <a:r>
              <a:rPr lang="en-US" baseline="0" dirty="0" err="1" smtClean="0"/>
              <a:t>CustomValue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13837976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custom codes come from SCR002 that you define.  We won’t get into the background of SCR002 today, but note that just because you define a code on SCR002, it doesn’t mean every student will have that code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3291340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did not cover every table in the Student Data Report or</a:t>
            </a:r>
            <a:r>
              <a:rPr lang="en-US" baseline="0" dirty="0" smtClean="0"/>
              <a:t> even in the RAD table group.  So I would encourage you all to explore these tables in more detail.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2424279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also report out of the SEP tables to do things such as</a:t>
            </a:r>
            <a:r>
              <a:rPr lang="en-US" baseline="0" dirty="0" smtClean="0"/>
              <a:t> predicting course demand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12148908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a number of SEP tables but we will only be covering a few of them today.  So</a:t>
            </a:r>
            <a:r>
              <a:rPr lang="en-US" baseline="0" dirty="0" smtClean="0"/>
              <a:t> again, be sure to explore these on your own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25928825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is a SEP_TMPL group that you can report out template data, but we won’t be looking at those either</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19485810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what are we looking at?  Well, as I mentioned, we can predict course demand.</a:t>
            </a:r>
            <a:r>
              <a:rPr lang="en-US" baseline="0" dirty="0" smtClean="0"/>
              <a:t>  But in order for that to work, we need to ensure as many students as possible have an approved plan.  At ODU, we require the student to flag one plan as active, and the advisor to lock it once it is approved.  So let’s start by first determining who has an active, locked plan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31368576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just a few student plan</a:t>
            </a:r>
            <a:r>
              <a:rPr lang="en-US" baseline="0" dirty="0" smtClean="0"/>
              <a:t> description.  Actually some of the plan descriptions can be quite humorous. </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22330744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a:t>
            </a:r>
            <a:r>
              <a:rPr lang="en-US" baseline="0" dirty="0" smtClean="0"/>
              <a:t> that we know who has a plan, let’s turn to determining who is planning to take a particular course.  We need to look at three different tables to get this data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21324940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our SQL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14790991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from this we can see that 112 students are planning to take MGMT</a:t>
            </a:r>
            <a:r>
              <a:rPr lang="en-US" baseline="0" dirty="0" smtClean="0"/>
              <a:t> 325 in the fall.  We can pass this on to the business school so they can plan to offer enough seats to meet student demand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8953128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also look broadly to see what the most</a:t>
            </a:r>
            <a:r>
              <a:rPr lang="en-US" baseline="0" dirty="0" smtClean="0"/>
              <a:t> popular courses are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42749586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here we can see that our</a:t>
            </a:r>
            <a:r>
              <a:rPr lang="en-US" baseline="0" dirty="0" smtClean="0"/>
              <a:t> second level English composition is top of the list for fall, followed by statistics, literature, calculus, and physics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19454933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get a little more specific and see</a:t>
            </a:r>
            <a:r>
              <a:rPr lang="en-US" baseline="0" dirty="0" smtClean="0"/>
              <a:t> what courses students in a certain major are planning to take.  In additional to the previous three tables, we’ll also look at RAD_GOALDATA_DTL which we saw earlier</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7640562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we can see the most</a:t>
            </a:r>
            <a:r>
              <a:rPr lang="en-US" baseline="0" dirty="0" smtClean="0"/>
              <a:t> popular course for cybersecurity students in the writing intensive course, followed by CYSE and IT courses.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42703708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I said, ODU requires all</a:t>
            </a:r>
            <a:r>
              <a:rPr lang="en-US" baseline="0" dirty="0" smtClean="0"/>
              <a:t> students to make a plan to get their registration hold lifted.  This does not mean they all do it though, so we can run a query to see which students do not have a plan.  We use three tables we’ve seen before to make two queries.  The first query contains the students who do have a plan while the second makes use of those results to find the students without a plan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5668833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a:t>
            </a:r>
            <a:r>
              <a:rPr lang="en-US" baseline="0" dirty="0" smtClean="0"/>
              <a:t> look at the query in red first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3462623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these are IDs</a:t>
            </a:r>
            <a:r>
              <a:rPr lang="en-US" baseline="0" dirty="0" smtClean="0"/>
              <a:t> of the three students we need to reach out to and remind them to make a plan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31934433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we only look at the COURSE plan type.  It’s important to remember there other</a:t>
            </a:r>
            <a:r>
              <a:rPr lang="en-US" baseline="0" dirty="0" smtClean="0"/>
              <a:t> plan types including…Querying these will require more complex SQL than shown here.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15496741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move on to look at graduation</a:t>
            </a:r>
            <a:r>
              <a:rPr lang="en-US" baseline="0" dirty="0" smtClean="0"/>
              <a:t> and missing requirements as well as exceptions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342483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talked about how the CPA tables get populated</a:t>
            </a:r>
            <a:r>
              <a:rPr lang="en-US" baseline="0" dirty="0" smtClean="0"/>
              <a:t> earlier, but let’s look now at where that data comes from.  First up is the CPA_BLOCKCRCLNEEDED table.  We can look at Scribe for a particular block </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16684010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CPA_BLOCKGPA will provide</a:t>
            </a:r>
            <a:r>
              <a:rPr lang="en-US" baseline="0" dirty="0" smtClean="0"/>
              <a:t> the completeness of the audit overall as well as the completeness of the particular block, be it degree, major, minor, etc.  Here we are only looking at one block, degree.  If we compare it to the audit, we can see the Program Progress bar percent is going into PCT_COMPLETE_STRING and PCT_COMPLETE_NUM.  Now we use Degree as Program at ODU, so the program progress bar matches the percentage that the DEGREE block is complete.  We can see the GPA going into the GPA_STRING and GPA_NUM columns.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35030293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CPA_BLOCKLABELS</a:t>
            </a:r>
            <a:r>
              <a:rPr lang="en-US" baseline="0" dirty="0" smtClean="0"/>
              <a:t> we can match those to the Scribed rules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19510701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CPA_CLASSAPPLIED, we can see which course is being applied to a particular rule in a particular block</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58</a:t>
            </a:fld>
            <a:endParaRPr lang="en-US"/>
          </a:p>
        </p:txBody>
      </p:sp>
    </p:spTree>
    <p:extLst>
      <p:ext uri="{BB962C8B-B14F-4D97-AF65-F5344CB8AC3E}">
        <p14:creationId xmlns:p14="http://schemas.microsoft.com/office/powerpoint/2010/main" val="15727119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using</a:t>
            </a:r>
            <a:r>
              <a:rPr lang="en-US" baseline="0" dirty="0" smtClean="0"/>
              <a:t> these two tables, we can answer this question.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59</a:t>
            </a:fld>
            <a:endParaRPr lang="en-US"/>
          </a:p>
        </p:txBody>
      </p:sp>
    </p:spTree>
    <p:extLst>
      <p:ext uri="{BB962C8B-B14F-4D97-AF65-F5344CB8AC3E}">
        <p14:creationId xmlns:p14="http://schemas.microsoft.com/office/powerpoint/2010/main" val="3129427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flip the question and</a:t>
            </a:r>
            <a:r>
              <a:rPr lang="en-US" baseline="0" dirty="0" smtClean="0"/>
              <a:t> ask where a particular course is applying</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62</a:t>
            </a:fld>
            <a:endParaRPr lang="en-US"/>
          </a:p>
        </p:txBody>
      </p:sp>
    </p:spTree>
    <p:extLst>
      <p:ext uri="{BB962C8B-B14F-4D97-AF65-F5344CB8AC3E}">
        <p14:creationId xmlns:p14="http://schemas.microsoft.com/office/powerpoint/2010/main" val="10623487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DAP_AUDIT_DTL has 10</a:t>
            </a:r>
            <a:r>
              <a:rPr lang="en-US" baseline="0" dirty="0" smtClean="0"/>
              <a:t> sets of columns for up to 10 different blocks.  In the next slide, we’ll focus on one block, but the concept is the same for the other blocks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65</a:t>
            </a:fld>
            <a:endParaRPr lang="en-US"/>
          </a:p>
        </p:txBody>
      </p:sp>
    </p:spTree>
    <p:extLst>
      <p:ext uri="{BB962C8B-B14F-4D97-AF65-F5344CB8AC3E}">
        <p14:creationId xmlns:p14="http://schemas.microsoft.com/office/powerpoint/2010/main" val="26625181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first look at where the data comes from.  </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66</a:t>
            </a:fld>
            <a:endParaRPr lang="en-US"/>
          </a:p>
        </p:txBody>
      </p:sp>
    </p:spTree>
    <p:extLst>
      <p:ext uri="{BB962C8B-B14F-4D97-AF65-F5344CB8AC3E}">
        <p14:creationId xmlns:p14="http://schemas.microsoft.com/office/powerpoint/2010/main" val="37227479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a:t>
            </a:r>
            <a:r>
              <a:rPr lang="en-US" baseline="0" dirty="0" smtClean="0"/>
              <a:t> that we have an understanding of the table, let’s query it to find out who is ready to be graduated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67</a:t>
            </a:fld>
            <a:endParaRPr lang="en-US"/>
          </a:p>
        </p:txBody>
      </p:sp>
    </p:spTree>
    <p:extLst>
      <p:ext uri="{BB962C8B-B14F-4D97-AF65-F5344CB8AC3E}">
        <p14:creationId xmlns:p14="http://schemas.microsoft.com/office/powerpoint/2010/main" val="35616144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use these IDs to award the degrees</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68</a:t>
            </a:fld>
            <a:endParaRPr lang="en-US"/>
          </a:p>
        </p:txBody>
      </p:sp>
    </p:spTree>
    <p:extLst>
      <p:ext uri="{BB962C8B-B14F-4D97-AF65-F5344CB8AC3E}">
        <p14:creationId xmlns:p14="http://schemas.microsoft.com/office/powerpoint/2010/main" val="18068255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DAP_RESULT_DTL</a:t>
            </a:r>
            <a:r>
              <a:rPr lang="en-US" baseline="0" dirty="0" smtClean="0"/>
              <a:t> sums up all the data generated by the CPA.  And there is a lot of data.  The next slides will look at one student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69</a:t>
            </a:fld>
            <a:endParaRPr lang="en-US"/>
          </a:p>
        </p:txBody>
      </p:sp>
    </p:spTree>
    <p:extLst>
      <p:ext uri="{BB962C8B-B14F-4D97-AF65-F5344CB8AC3E}">
        <p14:creationId xmlns:p14="http://schemas.microsoft.com/office/powerpoint/2010/main" val="40379100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We’re</a:t>
            </a:r>
            <a:r>
              <a:rPr lang="en-US" baseline="0" dirty="0" smtClean="0"/>
              <a:t> going to isolate even further and just look at one block.  Here is the Scribe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70</a:t>
            </a:fld>
            <a:endParaRPr lang="en-US"/>
          </a:p>
        </p:txBody>
      </p:sp>
    </p:spTree>
    <p:extLst>
      <p:ext uri="{BB962C8B-B14F-4D97-AF65-F5344CB8AC3E}">
        <p14:creationId xmlns:p14="http://schemas.microsoft.com/office/powerpoint/2010/main" val="29110956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a:t>
            </a:r>
            <a:r>
              <a:rPr lang="en-US" baseline="0" dirty="0" smtClean="0"/>
              <a:t> here is how it appears on the Degree Audit for our one student.  We can see she only has one requirement remaining</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71</a:t>
            </a:fld>
            <a:endParaRPr lang="en-US"/>
          </a:p>
        </p:txBody>
      </p:sp>
    </p:spTree>
    <p:extLst>
      <p:ext uri="{BB962C8B-B14F-4D97-AF65-F5344CB8AC3E}">
        <p14:creationId xmlns:p14="http://schemas.microsoft.com/office/powerpoint/2010/main" val="28869317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is the DAP_RESULT_DTL</a:t>
            </a:r>
            <a:r>
              <a:rPr lang="en-US" baseline="0" dirty="0" smtClean="0"/>
              <a:t> data for this one block</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72</a:t>
            </a:fld>
            <a:endParaRPr lang="en-US"/>
          </a:p>
        </p:txBody>
      </p:sp>
    </p:spTree>
    <p:extLst>
      <p:ext uri="{BB962C8B-B14F-4D97-AF65-F5344CB8AC3E}">
        <p14:creationId xmlns:p14="http://schemas.microsoft.com/office/powerpoint/2010/main" val="21088599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 let’s</a:t>
            </a:r>
            <a:r>
              <a:rPr lang="en-US" baseline="0" dirty="0" smtClean="0"/>
              <a:t> look at the header of the block.  We can see that even though we are not displaying a GPA or class/credits required, it is still being calculated in the table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73</a:t>
            </a:fld>
            <a:endParaRPr lang="en-US"/>
          </a:p>
        </p:txBody>
      </p:sp>
    </p:spTree>
    <p:extLst>
      <p:ext uri="{BB962C8B-B14F-4D97-AF65-F5344CB8AC3E}">
        <p14:creationId xmlns:p14="http://schemas.microsoft.com/office/powerpoint/2010/main" val="35469157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knowing</a:t>
            </a:r>
            <a:r>
              <a:rPr lang="en-US" baseline="0" dirty="0" smtClean="0"/>
              <a:t> that, we could query this table to find out who is not meeting a minimum GPA</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74</a:t>
            </a:fld>
            <a:endParaRPr lang="en-US"/>
          </a:p>
        </p:txBody>
      </p:sp>
    </p:spTree>
    <p:extLst>
      <p:ext uri="{BB962C8B-B14F-4D97-AF65-F5344CB8AC3E}">
        <p14:creationId xmlns:p14="http://schemas.microsoft.com/office/powerpoint/2010/main" val="27052212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 of our undergraduate majors require 2.0 minimum, so we can look for those with less</a:t>
            </a:r>
            <a:r>
              <a:rPr lang="en-US" baseline="0" dirty="0" smtClean="0"/>
              <a:t> than 2.0</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75</a:t>
            </a:fld>
            <a:endParaRPr lang="en-US"/>
          </a:p>
        </p:txBody>
      </p:sp>
    </p:spTree>
    <p:extLst>
      <p:ext uri="{BB962C8B-B14F-4D97-AF65-F5344CB8AC3E}">
        <p14:creationId xmlns:p14="http://schemas.microsoft.com/office/powerpoint/2010/main" val="31467424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 up is the Subset label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76</a:t>
            </a:fld>
            <a:endParaRPr lang="en-US"/>
          </a:p>
        </p:txBody>
      </p:sp>
    </p:spTree>
    <p:extLst>
      <p:ext uri="{BB962C8B-B14F-4D97-AF65-F5344CB8AC3E}">
        <p14:creationId xmlns:p14="http://schemas.microsoft.com/office/powerpoint/2010/main" val="6948304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a:t>
            </a:r>
            <a:r>
              <a:rPr lang="en-US" baseline="0" dirty="0" smtClean="0"/>
              <a:t> now look at a completed requirement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77</a:t>
            </a:fld>
            <a:endParaRPr lang="en-US"/>
          </a:p>
        </p:txBody>
      </p:sp>
    </p:spTree>
    <p:extLst>
      <p:ext uri="{BB962C8B-B14F-4D97-AF65-F5344CB8AC3E}">
        <p14:creationId xmlns:p14="http://schemas.microsoft.com/office/powerpoint/2010/main" val="10549595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now</a:t>
            </a:r>
            <a:r>
              <a:rPr lang="en-US" baseline="0" dirty="0" smtClean="0"/>
              <a:t> an incomplete requirement</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78</a:t>
            </a:fld>
            <a:endParaRPr lang="en-US"/>
          </a:p>
        </p:txBody>
      </p:sp>
    </p:spTree>
    <p:extLst>
      <p:ext uri="{BB962C8B-B14F-4D97-AF65-F5344CB8AC3E}">
        <p14:creationId xmlns:p14="http://schemas.microsoft.com/office/powerpoint/2010/main" val="21118176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79</a:t>
            </a:fld>
            <a:endParaRPr lang="en-US"/>
          </a:p>
        </p:txBody>
      </p:sp>
    </p:spTree>
    <p:extLst>
      <p:ext uri="{BB962C8B-B14F-4D97-AF65-F5344CB8AC3E}">
        <p14:creationId xmlns:p14="http://schemas.microsoft.com/office/powerpoint/2010/main" val="33823772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comes down to the difference</a:t>
            </a:r>
            <a:r>
              <a:rPr lang="en-US" baseline="0" dirty="0" smtClean="0"/>
              <a:t> in DAP_RESULT_TYPE.  Note also for the incomplete requirement, DAP_VALUE4 lists MAYTAKE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80</a:t>
            </a:fld>
            <a:endParaRPr lang="en-US"/>
          </a:p>
        </p:txBody>
      </p:sp>
    </p:spTree>
    <p:extLst>
      <p:ext uri="{BB962C8B-B14F-4D97-AF65-F5344CB8AC3E}">
        <p14:creationId xmlns:p14="http://schemas.microsoft.com/office/powerpoint/2010/main" val="38224482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81</a:t>
            </a:fld>
            <a:endParaRPr lang="en-US"/>
          </a:p>
        </p:txBody>
      </p:sp>
    </p:spTree>
    <p:extLst>
      <p:ext uri="{BB962C8B-B14F-4D97-AF65-F5344CB8AC3E}">
        <p14:creationId xmlns:p14="http://schemas.microsoft.com/office/powerpoint/2010/main" val="21375212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Something that can be useful</a:t>
            </a:r>
            <a:r>
              <a:rPr lang="en-US" baseline="0" dirty="0" smtClean="0"/>
              <a:t> for forecasting course needs or finding students close to graduation is see what requirement are missing.  </a:t>
            </a:r>
            <a:r>
              <a:rPr lang="en-US" dirty="0" smtClean="0"/>
              <a:t>This is a very</a:t>
            </a:r>
            <a:r>
              <a:rPr lang="en-US" baseline="0" dirty="0" smtClean="0"/>
              <a:t> simplified version of how to do that.  There are many other considerations you would need to factor in when doing this for real.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82</a:t>
            </a:fld>
            <a:endParaRPr lang="en-US"/>
          </a:p>
        </p:txBody>
      </p:sp>
    </p:spTree>
    <p:extLst>
      <p:ext uri="{BB962C8B-B14F-4D97-AF65-F5344CB8AC3E}">
        <p14:creationId xmlns:p14="http://schemas.microsoft.com/office/powerpoint/2010/main" val="314514760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Things to think about if you are going</a:t>
            </a:r>
            <a:r>
              <a:rPr lang="en-US" baseline="0" dirty="0" smtClean="0"/>
              <a:t> to try querying missing requirements are group rules and rule-incompletes.  They behave differently than your standard class or credit requirement.  Unfortunately, they are out of scope for this presentation</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84</a:t>
            </a:fld>
            <a:endParaRPr lang="en-US"/>
          </a:p>
        </p:txBody>
      </p:sp>
    </p:spTree>
    <p:extLst>
      <p:ext uri="{BB962C8B-B14F-4D97-AF65-F5344CB8AC3E}">
        <p14:creationId xmlns:p14="http://schemas.microsoft.com/office/powerpoint/2010/main" val="3427532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move on to lookin</a:t>
            </a:r>
            <a:r>
              <a:rPr lang="en-US" baseline="0" dirty="0" smtClean="0"/>
              <a:t>g at exceptions in DAP_EXCEPT_DTL</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85</a:t>
            </a:fld>
            <a:endParaRPr lang="en-US"/>
          </a:p>
        </p:txBody>
      </p:sp>
    </p:spTree>
    <p:extLst>
      <p:ext uri="{BB962C8B-B14F-4D97-AF65-F5344CB8AC3E}">
        <p14:creationId xmlns:p14="http://schemas.microsoft.com/office/powerpoint/2010/main" val="18041386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you allow people outside your office to make exceptions, it’s probably a good idea to keep track of how many exceptions they are making to ensure no one is getting too carried away.</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86</a:t>
            </a:fld>
            <a:endParaRPr lang="en-US"/>
          </a:p>
        </p:txBody>
      </p:sp>
    </p:spTree>
    <p:extLst>
      <p:ext uri="{BB962C8B-B14F-4D97-AF65-F5344CB8AC3E}">
        <p14:creationId xmlns:p14="http://schemas.microsoft.com/office/powerpoint/2010/main" val="26815275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only the registrar’s office at ODU makes exceptions, so I</a:t>
            </a:r>
            <a:r>
              <a:rPr lang="en-US" baseline="0" dirty="0" smtClean="0"/>
              <a:t> am not surprised to see my two long time DW staff and myself topping the list.  This would also be a good way to see if anyone is making exceptions who should not be</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87</a:t>
            </a:fld>
            <a:endParaRPr lang="en-US"/>
          </a:p>
        </p:txBody>
      </p:sp>
    </p:spTree>
    <p:extLst>
      <p:ext uri="{BB962C8B-B14F-4D97-AF65-F5344CB8AC3E}">
        <p14:creationId xmlns:p14="http://schemas.microsoft.com/office/powerpoint/2010/main" val="17799646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there is a particular rule that is constantly receiving exceptions, it might be an indicator that it needs to be reviewed and possibly updated.</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88</a:t>
            </a:fld>
            <a:endParaRPr lang="en-US"/>
          </a:p>
        </p:txBody>
      </p:sp>
    </p:spTree>
    <p:extLst>
      <p:ext uri="{BB962C8B-B14F-4D97-AF65-F5344CB8AC3E}">
        <p14:creationId xmlns:p14="http://schemas.microsoft.com/office/powerpoint/2010/main" val="307459122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here are some of the top requirements that have exceptions applied to them</a:t>
            </a:r>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89</a:t>
            </a:fld>
            <a:endParaRPr lang="en-US"/>
          </a:p>
        </p:txBody>
      </p:sp>
    </p:spTree>
    <p:extLst>
      <p:ext uri="{BB962C8B-B14F-4D97-AF65-F5344CB8AC3E}">
        <p14:creationId xmlns:p14="http://schemas.microsoft.com/office/powerpoint/2010/main" val="30804330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92</a:t>
            </a:fld>
            <a:endParaRPr lang="en-US"/>
          </a:p>
        </p:txBody>
      </p:sp>
    </p:spTree>
    <p:extLst>
      <p:ext uri="{BB962C8B-B14F-4D97-AF65-F5344CB8AC3E}">
        <p14:creationId xmlns:p14="http://schemas.microsoft.com/office/powerpoint/2010/main" val="127422810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41D2A-E99A-2F4F-B8C9-28142709F87F}" type="slidenum">
              <a:rPr lang="en-US" smtClean="0"/>
              <a:pPr/>
              <a:t>93</a:t>
            </a:fld>
            <a:endParaRPr lang="en-US"/>
          </a:p>
        </p:txBody>
      </p:sp>
    </p:spTree>
    <p:extLst>
      <p:ext uri="{BB962C8B-B14F-4D97-AF65-F5344CB8AC3E}">
        <p14:creationId xmlns:p14="http://schemas.microsoft.com/office/powerpoint/2010/main" val="26262140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 y="3819"/>
            <a:ext cx="9167050" cy="5156466"/>
          </a:xfrm>
          <a:prstGeom prst="rect">
            <a:avLst/>
          </a:prstGeom>
        </p:spPr>
      </p:pic>
      <p:sp>
        <p:nvSpPr>
          <p:cNvPr id="2" name="Title 1"/>
          <p:cNvSpPr>
            <a:spLocks noGrp="1"/>
          </p:cNvSpPr>
          <p:nvPr userDrawn="1">
            <p:ph type="ctrTitle" hasCustomPrompt="1"/>
          </p:nvPr>
        </p:nvSpPr>
        <p:spPr>
          <a:xfrm>
            <a:off x="509588" y="750607"/>
            <a:ext cx="4938329" cy="2045610"/>
          </a:xfrm>
        </p:spPr>
        <p:txBody>
          <a:bodyPr tIns="0" bIns="0" anchor="t">
            <a:normAutofit/>
          </a:bodyPr>
          <a:lstStyle>
            <a:lvl1pPr algn="l">
              <a:lnSpc>
                <a:spcPct val="90000"/>
              </a:lnSpc>
              <a:defRPr sz="4000" b="0" baseline="0">
                <a:solidFill>
                  <a:schemeClr val="bg1"/>
                </a:solidFill>
              </a:defRPr>
            </a:lvl1pPr>
          </a:lstStyle>
          <a:p>
            <a:r>
              <a:rPr lang="en-US" dirty="0"/>
              <a:t>Master title style</a:t>
            </a:r>
          </a:p>
        </p:txBody>
      </p:sp>
      <p:pic>
        <p:nvPicPr>
          <p:cNvPr id="12" name="Picture 11"/>
          <p:cNvPicPr>
            <a:picLocks noChangeAspect="1"/>
          </p:cNvPicPr>
          <p:nvPr userDrawn="1"/>
        </p:nvPicPr>
        <p:blipFill>
          <a:blip r:embed="rId3"/>
          <a:stretch>
            <a:fillRect/>
          </a:stretch>
        </p:blipFill>
        <p:spPr>
          <a:xfrm>
            <a:off x="6046005" y="3476406"/>
            <a:ext cx="2451781" cy="1077493"/>
          </a:xfrm>
          <a:prstGeom prst="rect">
            <a:avLst/>
          </a:prstGeom>
        </p:spPr>
      </p:pic>
      <p:sp>
        <p:nvSpPr>
          <p:cNvPr id="4" name="Text Placeholder 3"/>
          <p:cNvSpPr>
            <a:spLocks noGrp="1"/>
          </p:cNvSpPr>
          <p:nvPr>
            <p:ph type="body" sz="quarter" idx="10" hasCustomPrompt="1"/>
          </p:nvPr>
        </p:nvSpPr>
        <p:spPr>
          <a:xfrm>
            <a:off x="509588" y="3272570"/>
            <a:ext cx="3683000" cy="742583"/>
          </a:xfrm>
        </p:spPr>
        <p:txBody>
          <a:bodyPr anchor="b">
            <a:normAutofit/>
          </a:bodyPr>
          <a:lstStyle>
            <a:lvl1pPr>
              <a:spcBef>
                <a:spcPts val="0"/>
              </a:spcBef>
              <a:buNone/>
              <a:defRPr sz="2100" b="0" baseline="0">
                <a:solidFill>
                  <a:schemeClr val="bg1"/>
                </a:solidFill>
              </a:defRPr>
            </a:lvl1pPr>
          </a:lstStyle>
          <a:p>
            <a:pPr lvl="0"/>
            <a:r>
              <a:rPr lang="en-US" dirty="0"/>
              <a:t>PRESENTER NAME</a:t>
            </a:r>
            <a:br>
              <a:rPr lang="en-US" dirty="0"/>
            </a:br>
            <a:r>
              <a:rPr lang="en-US" dirty="0"/>
              <a:t>Title, Organization</a:t>
            </a:r>
          </a:p>
        </p:txBody>
      </p:sp>
      <p:sp>
        <p:nvSpPr>
          <p:cNvPr id="8" name="Text Placeholder 3"/>
          <p:cNvSpPr>
            <a:spLocks noGrp="1"/>
          </p:cNvSpPr>
          <p:nvPr>
            <p:ph type="body" sz="quarter" idx="11" hasCustomPrompt="1"/>
          </p:nvPr>
        </p:nvSpPr>
        <p:spPr>
          <a:xfrm>
            <a:off x="509588" y="4103077"/>
            <a:ext cx="3683000" cy="295801"/>
          </a:xfrm>
        </p:spPr>
        <p:txBody>
          <a:bodyPr anchor="b">
            <a:normAutofit/>
          </a:bodyPr>
          <a:lstStyle>
            <a:lvl1pPr>
              <a:buNone/>
              <a:defRPr sz="1400" b="0" baseline="0">
                <a:solidFill>
                  <a:schemeClr val="bg1"/>
                </a:solidFill>
              </a:defRPr>
            </a:lvl1pPr>
          </a:lstStyle>
          <a:p>
            <a:pPr lvl="0"/>
            <a:r>
              <a:rPr lang="en-US" dirty="0"/>
              <a:t>SESSION ID: DWF#####</a:t>
            </a:r>
          </a:p>
        </p:txBody>
      </p:sp>
    </p:spTree>
    <p:extLst>
      <p:ext uri="{BB962C8B-B14F-4D97-AF65-F5344CB8AC3E}">
        <p14:creationId xmlns:p14="http://schemas.microsoft.com/office/powerpoint/2010/main" val="22007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multiple presenters">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1" y="3819"/>
            <a:ext cx="9167050" cy="5156466"/>
          </a:xfrm>
          <a:prstGeom prst="rect">
            <a:avLst/>
          </a:prstGeom>
        </p:spPr>
      </p:pic>
      <p:sp>
        <p:nvSpPr>
          <p:cNvPr id="6" name="Title 1"/>
          <p:cNvSpPr>
            <a:spLocks noGrp="1"/>
          </p:cNvSpPr>
          <p:nvPr>
            <p:ph type="ctrTitle" hasCustomPrompt="1"/>
          </p:nvPr>
        </p:nvSpPr>
        <p:spPr>
          <a:xfrm>
            <a:off x="509587" y="447761"/>
            <a:ext cx="4938330" cy="2045610"/>
          </a:xfrm>
        </p:spPr>
        <p:txBody>
          <a:bodyPr tIns="0" bIns="0" anchor="t">
            <a:normAutofit/>
          </a:bodyPr>
          <a:lstStyle>
            <a:lvl1pPr algn="l">
              <a:lnSpc>
                <a:spcPct val="90000"/>
              </a:lnSpc>
              <a:defRPr sz="4000" b="0" baseline="0">
                <a:solidFill>
                  <a:schemeClr val="bg1"/>
                </a:solidFill>
              </a:defRPr>
            </a:lvl1pPr>
          </a:lstStyle>
          <a:p>
            <a:r>
              <a:rPr lang="en-US" dirty="0"/>
              <a:t>Master title style</a:t>
            </a:r>
          </a:p>
        </p:txBody>
      </p:sp>
      <p:sp>
        <p:nvSpPr>
          <p:cNvPr id="8" name="Text Placeholder 3"/>
          <p:cNvSpPr>
            <a:spLocks noGrp="1"/>
          </p:cNvSpPr>
          <p:nvPr>
            <p:ph type="body" sz="quarter" idx="10" hasCustomPrompt="1"/>
          </p:nvPr>
        </p:nvSpPr>
        <p:spPr>
          <a:xfrm>
            <a:off x="509587" y="2796218"/>
            <a:ext cx="4938329" cy="1218936"/>
          </a:xfrm>
        </p:spPr>
        <p:txBody>
          <a:bodyPr anchor="b">
            <a:normAutofit/>
          </a:bodyPr>
          <a:lstStyle>
            <a:lvl1pPr marL="0" marR="0" indent="0" algn="l" defTabSz="457200" rtl="0" eaLnBrk="1" fontAlgn="auto" latinLnBrk="0" hangingPunct="1">
              <a:lnSpc>
                <a:spcPct val="100000"/>
              </a:lnSpc>
              <a:spcBef>
                <a:spcPts val="0"/>
              </a:spcBef>
              <a:spcAft>
                <a:spcPts val="0"/>
              </a:spcAft>
              <a:buClrTx/>
              <a:buSzTx/>
              <a:buFont typeface="Arial"/>
              <a:buNone/>
              <a:tabLst/>
              <a:defRPr sz="1600" b="0"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t>PRESENTER NAME, Title, Organization</a:t>
            </a:r>
            <a:br>
              <a:rPr lang="en-US" dirty="0"/>
            </a:br>
            <a:r>
              <a:rPr lang="en-US" dirty="0"/>
              <a:t>PRESENTER NAME, Title, Organization</a:t>
            </a:r>
            <a:br>
              <a:rPr lang="en-US" dirty="0"/>
            </a:br>
            <a:r>
              <a:rPr lang="en-US" dirty="0"/>
              <a:t>PRESENTER NAME, Title, Organization</a:t>
            </a:r>
          </a:p>
        </p:txBody>
      </p:sp>
      <p:sp>
        <p:nvSpPr>
          <p:cNvPr id="9" name="Text Placeholder 3"/>
          <p:cNvSpPr>
            <a:spLocks noGrp="1"/>
          </p:cNvSpPr>
          <p:nvPr>
            <p:ph type="body" sz="quarter" idx="11" hasCustomPrompt="1"/>
          </p:nvPr>
        </p:nvSpPr>
        <p:spPr>
          <a:xfrm>
            <a:off x="509588" y="4103077"/>
            <a:ext cx="3683000" cy="295801"/>
          </a:xfrm>
        </p:spPr>
        <p:txBody>
          <a:bodyPr anchor="b">
            <a:normAutofit/>
          </a:bodyPr>
          <a:lstStyle>
            <a:lvl1pPr>
              <a:buNone/>
              <a:defRPr sz="1400" b="0" baseline="0">
                <a:solidFill>
                  <a:schemeClr val="bg1"/>
                </a:solidFill>
              </a:defRPr>
            </a:lvl1pPr>
          </a:lstStyle>
          <a:p>
            <a:pPr lvl="0"/>
            <a:r>
              <a:rPr lang="en-US" dirty="0"/>
              <a:t>SESSION ID: DWF#####</a:t>
            </a:r>
          </a:p>
        </p:txBody>
      </p:sp>
      <p:pic>
        <p:nvPicPr>
          <p:cNvPr id="10" name="Picture 9">
            <a:extLst>
              <a:ext uri="{FF2B5EF4-FFF2-40B4-BE49-F238E27FC236}">
                <a16:creationId xmlns:a16="http://schemas.microsoft.com/office/drawing/2014/main" id="{6EAFCA07-9258-6C4E-B9D6-23BD97E448DB}"/>
              </a:ext>
            </a:extLst>
          </p:cNvPr>
          <p:cNvPicPr>
            <a:picLocks noChangeAspect="1"/>
          </p:cNvPicPr>
          <p:nvPr userDrawn="1"/>
        </p:nvPicPr>
        <p:blipFill>
          <a:blip r:embed="rId3"/>
          <a:stretch>
            <a:fillRect/>
          </a:stretch>
        </p:blipFill>
        <p:spPr>
          <a:xfrm>
            <a:off x="6046005" y="3476406"/>
            <a:ext cx="2451781" cy="1077493"/>
          </a:xfrm>
          <a:prstGeom prst="rect">
            <a:avLst/>
          </a:prstGeom>
        </p:spPr>
      </p:pic>
    </p:spTree>
    <p:extLst>
      <p:ext uri="{BB962C8B-B14F-4D97-AF65-F5344CB8AC3E}">
        <p14:creationId xmlns:p14="http://schemas.microsoft.com/office/powerpoint/2010/main" val="423992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549187" y="410453"/>
            <a:ext cx="8079636" cy="727575"/>
          </a:xfrm>
        </p:spPr>
        <p:txBody>
          <a:bodyPr tIns="0" bIns="0" anchor="b">
            <a:noAutofit/>
          </a:bodyPr>
          <a:lstStyle>
            <a:lvl1pPr algn="l">
              <a:lnSpc>
                <a:spcPct val="100000"/>
              </a:lnSpc>
              <a:defRPr sz="3600" b="0">
                <a:solidFill>
                  <a:schemeClr val="accent4"/>
                </a:solidFill>
              </a:defRPr>
            </a:lvl1pPr>
          </a:lstStyle>
          <a:p>
            <a:r>
              <a:rPr lang="en-US" dirty="0"/>
              <a:t>Click to edit Master title style</a:t>
            </a:r>
          </a:p>
        </p:txBody>
      </p:sp>
      <p:sp>
        <p:nvSpPr>
          <p:cNvPr id="3" name="Subtitle 2"/>
          <p:cNvSpPr>
            <a:spLocks noGrp="1"/>
          </p:cNvSpPr>
          <p:nvPr userDrawn="1">
            <p:ph type="subTitle" idx="1"/>
          </p:nvPr>
        </p:nvSpPr>
        <p:spPr>
          <a:xfrm>
            <a:off x="549187" y="1370347"/>
            <a:ext cx="6805190" cy="1114541"/>
          </a:xfrm>
        </p:spPr>
        <p:txBody>
          <a:bodyPr>
            <a:normAutofit/>
          </a:bodyPr>
          <a:lstStyle>
            <a:lvl1pPr marL="0" indent="0" algn="l">
              <a:buNone/>
              <a:defRPr sz="2000" b="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4" name="Picture 13">
            <a:extLst>
              <a:ext uri="{FF2B5EF4-FFF2-40B4-BE49-F238E27FC236}">
                <a16:creationId xmlns:a16="http://schemas.microsoft.com/office/drawing/2014/main" id="{BDD48DBE-F7BA-8F43-826B-A85D0D0EF248}"/>
              </a:ext>
            </a:extLst>
          </p:cNvPr>
          <p:cNvPicPr>
            <a:picLocks noChangeAspect="1"/>
          </p:cNvPicPr>
          <p:nvPr userDrawn="1"/>
        </p:nvPicPr>
        <p:blipFill>
          <a:blip r:embed="rId2"/>
          <a:stretch>
            <a:fillRect/>
          </a:stretch>
        </p:blipFill>
        <p:spPr>
          <a:xfrm>
            <a:off x="-1" y="3819"/>
            <a:ext cx="9167050" cy="5156466"/>
          </a:xfrm>
          <a:prstGeom prst="rect">
            <a:avLst/>
          </a:prstGeom>
        </p:spPr>
      </p:pic>
    </p:spTree>
    <p:extLst>
      <p:ext uri="{BB962C8B-B14F-4D97-AF65-F5344CB8AC3E}">
        <p14:creationId xmlns:p14="http://schemas.microsoft.com/office/powerpoint/2010/main" val="220071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5" name="Table 4"/>
          <p:cNvGraphicFramePr>
            <a:graphicFrameLocks noGrp="1"/>
          </p:cNvGraphicFramePr>
          <p:nvPr userDrawn="1">
            <p:extLst>
              <p:ext uri="{D42A27DB-BD31-4B8C-83A1-F6EECF244321}">
                <p14:modId xmlns:p14="http://schemas.microsoft.com/office/powerpoint/2010/main" val="1013478496"/>
              </p:ext>
            </p:extLst>
          </p:nvPr>
        </p:nvGraphicFramePr>
        <p:xfrm>
          <a:off x="457203" y="1049495"/>
          <a:ext cx="6857998" cy="3010625"/>
        </p:xfrm>
        <a:graphic>
          <a:graphicData uri="http://schemas.openxmlformats.org/drawingml/2006/table">
            <a:tbl>
              <a:tblPr firstRow="1" bandRow="1">
                <a:tableStyleId>{5C22544A-7EE6-4342-B048-85BDC9FD1C3A}</a:tableStyleId>
              </a:tblPr>
              <a:tblGrid>
                <a:gridCol w="473442">
                  <a:extLst>
                    <a:ext uri="{9D8B030D-6E8A-4147-A177-3AD203B41FA5}">
                      <a16:colId xmlns:a16="http://schemas.microsoft.com/office/drawing/2014/main" val="20000"/>
                    </a:ext>
                  </a:extLst>
                </a:gridCol>
                <a:gridCol w="6384556">
                  <a:extLst>
                    <a:ext uri="{9D8B030D-6E8A-4147-A177-3AD203B41FA5}">
                      <a16:colId xmlns:a16="http://schemas.microsoft.com/office/drawing/2014/main" val="20001"/>
                    </a:ext>
                  </a:extLst>
                </a:gridCol>
              </a:tblGrid>
              <a:tr h="602125">
                <a:tc>
                  <a:txBody>
                    <a:bodyPr/>
                    <a:lstStyle/>
                    <a:p>
                      <a:r>
                        <a:rPr lang="en-US" sz="2300" b="1" kern="1200" dirty="0">
                          <a:solidFill>
                            <a:schemeClr val="accent2"/>
                          </a:solidFill>
                          <a:latin typeface="Arial"/>
                          <a:ea typeface="+mn-ea"/>
                          <a:cs typeface="Arial"/>
                        </a:rPr>
                        <a:t>1</a:t>
                      </a:r>
                    </a:p>
                  </a:txBody>
                  <a:tcPr anchor="b">
                    <a:lnL w="12700" cmpd="sng">
                      <a:noFill/>
                    </a:lnL>
                    <a:lnR w="12700" cmpd="sng">
                      <a:noFill/>
                    </a:lnR>
                    <a:lnT w="12700" cmpd="sng">
                      <a:noFill/>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a:solidFill>
                            <a:srgbClr val="414042"/>
                          </a:solidFill>
                          <a:latin typeface="Arial"/>
                          <a:ea typeface="+mn-ea"/>
                          <a:cs typeface="Arial"/>
                        </a:rPr>
                        <a:t>Topic #1</a:t>
                      </a:r>
                    </a:p>
                  </a:txBody>
                  <a:tcPr marB="73152" anchor="b">
                    <a:lnL w="12700" cmpd="sng">
                      <a:noFill/>
                    </a:lnL>
                    <a:lnR w="12700" cmpd="sng">
                      <a:noFill/>
                    </a:lnR>
                    <a:lnT w="12700" cmpd="sng">
                      <a:noFill/>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02125">
                <a:tc>
                  <a:txBody>
                    <a:bodyPr/>
                    <a:lstStyle/>
                    <a:p>
                      <a:r>
                        <a:rPr lang="en-US" sz="2300" b="1" kern="1200" dirty="0">
                          <a:solidFill>
                            <a:schemeClr val="accent2"/>
                          </a:solidFill>
                          <a:latin typeface="Arial"/>
                          <a:ea typeface="+mn-ea"/>
                          <a:cs typeface="Arial"/>
                        </a:rPr>
                        <a:t>2</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a:solidFill>
                            <a:srgbClr val="414042"/>
                          </a:solidFill>
                          <a:latin typeface="Arial"/>
                          <a:ea typeface="+mn-ea"/>
                          <a:cs typeface="Arial"/>
                        </a:rPr>
                        <a:t>Topic #2</a:t>
                      </a: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02125">
                <a:tc>
                  <a:txBody>
                    <a:bodyPr/>
                    <a:lstStyle/>
                    <a:p>
                      <a:r>
                        <a:rPr lang="en-US" sz="2300" b="1" kern="1200" dirty="0">
                          <a:solidFill>
                            <a:schemeClr val="accent2"/>
                          </a:solidFill>
                          <a:latin typeface="Arial"/>
                          <a:ea typeface="+mn-ea"/>
                          <a:cs typeface="Arial"/>
                        </a:rPr>
                        <a:t>3</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a:solidFill>
                            <a:srgbClr val="414042"/>
                          </a:solidFill>
                          <a:latin typeface="Arial"/>
                          <a:ea typeface="+mn-ea"/>
                          <a:cs typeface="Arial"/>
                        </a:rPr>
                        <a:t>Topic #3</a:t>
                      </a: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02125">
                <a:tc>
                  <a:txBody>
                    <a:bodyPr/>
                    <a:lstStyle/>
                    <a:p>
                      <a:r>
                        <a:rPr lang="en-US" sz="2300" b="1" kern="1200" dirty="0">
                          <a:solidFill>
                            <a:schemeClr val="accent2"/>
                          </a:solidFill>
                          <a:latin typeface="Arial"/>
                          <a:ea typeface="+mn-ea"/>
                          <a:cs typeface="Arial"/>
                        </a:rPr>
                        <a:t>4</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a:solidFill>
                            <a:srgbClr val="414042"/>
                          </a:solidFill>
                          <a:latin typeface="Arial"/>
                          <a:ea typeface="+mn-ea"/>
                          <a:cs typeface="Arial"/>
                        </a:rPr>
                        <a:t>Topic #4</a:t>
                      </a: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021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300" b="1" kern="1200" dirty="0">
                          <a:solidFill>
                            <a:schemeClr val="accent2"/>
                          </a:solidFill>
                          <a:latin typeface="Arial"/>
                          <a:ea typeface="+mn-ea"/>
                          <a:cs typeface="Arial"/>
                        </a:rPr>
                        <a:t>5</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12700" cap="flat" cmpd="sng" algn="ctr">
                      <a:solidFill>
                        <a:srgbClr val="E2EC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500" b="0" kern="1200" dirty="0">
                          <a:solidFill>
                            <a:srgbClr val="414042"/>
                          </a:solidFill>
                          <a:latin typeface="Arial"/>
                          <a:ea typeface="+mn-ea"/>
                          <a:cs typeface="Arial"/>
                        </a:rPr>
                        <a:t>Topic #5</a:t>
                      </a: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12700" cap="flat" cmpd="sng" algn="ctr">
                      <a:solidFill>
                        <a:srgbClr val="E2EC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3" name="Title Placeholder 1"/>
          <p:cNvSpPr>
            <a:spLocks noGrp="1"/>
          </p:cNvSpPr>
          <p:nvPr>
            <p:ph type="title"/>
          </p:nvPr>
        </p:nvSpPr>
        <p:spPr>
          <a:xfrm>
            <a:off x="457200" y="438937"/>
            <a:ext cx="6858000" cy="437009"/>
          </a:xfrm>
          <a:prstGeom prst="rect">
            <a:avLst/>
          </a:prstGeom>
        </p:spPr>
        <p:txBody>
          <a:bodyPr vert="horz" lIns="0" tIns="0" rIns="0" bIns="0" rtlCol="0" anchor="t">
            <a:normAutofit/>
          </a:bodyPr>
          <a:lstStyle/>
          <a:p>
            <a:r>
              <a:rPr lang="en-US" dirty="0"/>
              <a:t>Click to edit Master title style</a:t>
            </a:r>
          </a:p>
        </p:txBody>
      </p:sp>
      <p:sp>
        <p:nvSpPr>
          <p:cNvPr id="6" name="Slide Number Placeholder 3"/>
          <p:cNvSpPr>
            <a:spLocks noGrp="1"/>
          </p:cNvSpPr>
          <p:nvPr>
            <p:ph type="sldNum" sz="quarter" idx="4"/>
          </p:nvPr>
        </p:nvSpPr>
        <p:spPr>
          <a:xfrm>
            <a:off x="8526647" y="4720440"/>
            <a:ext cx="617353" cy="247040"/>
          </a:xfrm>
          <a:prstGeom prst="rect">
            <a:avLst/>
          </a:prstGeom>
        </p:spPr>
        <p:txBody>
          <a:bodyPr vert="horz" lIns="0" tIns="0" rIns="0" bIns="0" rtlCol="0" anchor="b"/>
          <a:lstStyle>
            <a:lvl1pPr algn="ctr">
              <a:defRPr sz="1200" b="1">
                <a:solidFill>
                  <a:srgbClr val="45A1AA"/>
                </a:solidFill>
                <a:latin typeface="Arial"/>
                <a:cs typeface="Arial"/>
              </a:defRPr>
            </a:lvl1pPr>
          </a:lstStyle>
          <a:p>
            <a:fld id="{40A085A0-3A3D-6540-B0AC-0588E66301FB}" type="slidenum">
              <a:rPr lang="en-US" smtClean="0"/>
              <a:pPr/>
              <a:t>‹#›</a:t>
            </a:fld>
            <a:endParaRPr lang="en-US" dirty="0"/>
          </a:p>
        </p:txBody>
      </p:sp>
    </p:spTree>
    <p:extLst>
      <p:ext uri="{BB962C8B-B14F-4D97-AF65-F5344CB8AC3E}">
        <p14:creationId xmlns:p14="http://schemas.microsoft.com/office/powerpoint/2010/main" val="2200717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0150"/>
            <a:ext cx="6858000" cy="3257550"/>
          </a:xfrm>
        </p:spPr>
        <p:txBody>
          <a:bodyPr/>
          <a:lstStyle>
            <a:lvl1pPr>
              <a:spcBef>
                <a:spcPts val="1200"/>
              </a:spcBef>
              <a:buFontTx/>
              <a:buNone/>
              <a:defRPr sz="1800" b="1">
                <a:solidFill>
                  <a:schemeClr val="accent2"/>
                </a:solidFill>
              </a:defRPr>
            </a:lvl1pPr>
            <a:lvl2pPr marL="342900" indent="-342900" algn="l" defTabSz="457200" rtl="0" eaLnBrk="1" latinLnBrk="0" hangingPunct="1">
              <a:spcBef>
                <a:spcPts val="1200"/>
              </a:spcBef>
              <a:buFontTx/>
              <a:buNone/>
              <a:defRPr sz="1800">
                <a:solidFill>
                  <a:schemeClr val="tx2"/>
                </a:solidFill>
              </a:defRPr>
            </a:lvl2pPr>
            <a:lvl3pPr marL="342900" indent="-342900" algn="l" defTabSz="457200" rtl="0" eaLnBrk="1" latinLnBrk="0" hangingPunct="1">
              <a:spcBef>
                <a:spcPts val="1200"/>
              </a:spcBef>
              <a:buClr>
                <a:schemeClr val="accent2"/>
              </a:buClr>
              <a:buFontTx/>
              <a:buNone/>
              <a:defRPr sz="1600"/>
            </a:lvl3pPr>
            <a:lvl4pPr marL="342900" indent="-342900" algn="l" defTabSz="457200" rtl="0" eaLnBrk="1" latinLnBrk="0" hangingPunct="1">
              <a:spcBef>
                <a:spcPts val="1200"/>
              </a:spcBef>
              <a:buFontTx/>
              <a:buNone/>
              <a:defRPr sz="1500"/>
            </a:lvl4pPr>
            <a:lvl5pPr marL="342900" indent="-342900" algn="l" defTabSz="457200" rtl="0" eaLnBrk="1" latinLnBrk="0" hangingPunct="1">
              <a:spcBef>
                <a:spcPts val="1200"/>
              </a:spcBef>
              <a:buClr>
                <a:schemeClr val="accent1"/>
              </a:buClr>
              <a:buFontTx/>
              <a:buNone/>
              <a:defRPr sz="1500"/>
            </a:lvl5pPr>
          </a:lstStyle>
          <a:p>
            <a:pPr lvl="0"/>
            <a:r>
              <a:rPr lang="en-US" dirty="0"/>
              <a:t>Click to edit Master text styles</a:t>
            </a:r>
          </a:p>
          <a:p>
            <a:pPr marL="342900" lvl="1" indent="-342900" algn="l" defTabSz="457200" rtl="0" eaLnBrk="1" latinLnBrk="0" hangingPunct="1">
              <a:spcBef>
                <a:spcPts val="1200"/>
              </a:spcBef>
              <a:buFontTx/>
              <a:buNone/>
            </a:pPr>
            <a:r>
              <a:rPr lang="en-US" dirty="0"/>
              <a:t>Second level</a:t>
            </a:r>
          </a:p>
          <a:p>
            <a:pPr marL="342900" lvl="2" indent="-342900" algn="l" defTabSz="457200" rtl="0" eaLnBrk="1" latinLnBrk="0" hangingPunct="1">
              <a:spcBef>
                <a:spcPts val="1200"/>
              </a:spcBef>
              <a:buFontTx/>
              <a:buNone/>
            </a:pPr>
            <a:r>
              <a:rPr lang="en-US" dirty="0"/>
              <a:t>Third level</a:t>
            </a:r>
          </a:p>
          <a:p>
            <a:pPr marL="342900" lvl="3" indent="-342900" algn="l" defTabSz="457200" rtl="0" eaLnBrk="1" latinLnBrk="0" hangingPunct="1">
              <a:spcBef>
                <a:spcPts val="1200"/>
              </a:spcBef>
              <a:buFontTx/>
              <a:buNone/>
            </a:pPr>
            <a:r>
              <a:rPr lang="en-US" dirty="0"/>
              <a:t>Fourth level</a:t>
            </a:r>
          </a:p>
          <a:p>
            <a:pPr marL="342900" lvl="4" indent="-342900" algn="l" defTabSz="457200" rtl="0" eaLnBrk="1" latinLnBrk="0" hangingPunct="1">
              <a:spcBef>
                <a:spcPts val="1200"/>
              </a:spcBef>
              <a:buFontTx/>
              <a:buNone/>
            </a:pPr>
            <a:r>
              <a:rPr lang="en-US" dirty="0"/>
              <a:t>Fifth level</a:t>
            </a:r>
          </a:p>
        </p:txBody>
      </p:sp>
      <p:sp>
        <p:nvSpPr>
          <p:cNvPr id="9" name="Title Placeholder 1"/>
          <p:cNvSpPr>
            <a:spLocks noGrp="1"/>
          </p:cNvSpPr>
          <p:nvPr>
            <p:ph type="title"/>
          </p:nvPr>
        </p:nvSpPr>
        <p:spPr>
          <a:xfrm>
            <a:off x="457200" y="438937"/>
            <a:ext cx="6858000" cy="437009"/>
          </a:xfrm>
          <a:prstGeom prst="rect">
            <a:avLst/>
          </a:prstGeom>
        </p:spPr>
        <p:txBody>
          <a:bodyPr vert="horz" lIns="0" tIns="0" rIns="0" bIns="0" rtlCol="0" anchor="t">
            <a:normAutofit/>
          </a:bodyPr>
          <a:lstStyle/>
          <a:p>
            <a:r>
              <a:rPr lang="en-US" dirty="0"/>
              <a:t>Click to edit Master title style</a:t>
            </a:r>
          </a:p>
        </p:txBody>
      </p:sp>
      <p:sp>
        <p:nvSpPr>
          <p:cNvPr id="5" name="Slide Number Placeholder 3"/>
          <p:cNvSpPr>
            <a:spLocks noGrp="1"/>
          </p:cNvSpPr>
          <p:nvPr>
            <p:ph type="sldNum" sz="quarter" idx="4"/>
          </p:nvPr>
        </p:nvSpPr>
        <p:spPr>
          <a:xfrm>
            <a:off x="8526647" y="4720440"/>
            <a:ext cx="617353" cy="247040"/>
          </a:xfrm>
          <a:prstGeom prst="rect">
            <a:avLst/>
          </a:prstGeom>
        </p:spPr>
        <p:txBody>
          <a:bodyPr vert="horz" lIns="0" tIns="0" rIns="0" bIns="0" rtlCol="0" anchor="b"/>
          <a:lstStyle>
            <a:lvl1pPr algn="ctr">
              <a:defRPr sz="1200" b="1">
                <a:solidFill>
                  <a:srgbClr val="45A1AA"/>
                </a:solidFill>
                <a:latin typeface="Arial"/>
                <a:cs typeface="Arial"/>
              </a:defRPr>
            </a:lvl1pPr>
          </a:lstStyle>
          <a:p>
            <a:fld id="{40A085A0-3A3D-6540-B0AC-0588E66301FB}" type="slidenum">
              <a:rPr lang="en-US" smtClean="0"/>
              <a:pPr/>
              <a:t>‹#›</a:t>
            </a:fld>
            <a:endParaRPr lang="en-US" dirty="0"/>
          </a:p>
        </p:txBody>
      </p:sp>
    </p:spTree>
    <p:extLst>
      <p:ext uri="{BB962C8B-B14F-4D97-AF65-F5344CB8AC3E}">
        <p14:creationId xmlns:p14="http://schemas.microsoft.com/office/powerpoint/2010/main" val="460957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 title">
    <p:spTree>
      <p:nvGrpSpPr>
        <p:cNvPr id="1" name=""/>
        <p:cNvGrpSpPr/>
        <p:nvPr/>
      </p:nvGrpSpPr>
      <p:grpSpPr>
        <a:xfrm>
          <a:off x="0" y="0"/>
          <a:ext cx="0" cy="0"/>
          <a:chOff x="0" y="0"/>
          <a:chExt cx="0" cy="0"/>
        </a:xfrm>
      </p:grpSpPr>
      <p:sp>
        <p:nvSpPr>
          <p:cNvPr id="2" name="Title 1"/>
          <p:cNvSpPr>
            <a:spLocks noGrp="1"/>
          </p:cNvSpPr>
          <p:nvPr>
            <p:ph type="title"/>
          </p:nvPr>
        </p:nvSpPr>
        <p:spPr>
          <a:xfrm>
            <a:off x="457200" y="438937"/>
            <a:ext cx="2506234" cy="1671696"/>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40A085A0-3A3D-6540-B0AC-0588E66301FB}" type="slidenum">
              <a:rPr lang="en-US" smtClean="0"/>
              <a:pPr/>
              <a:t>‹#›</a:t>
            </a:fld>
            <a:endParaRPr lang="en-US" dirty="0"/>
          </a:p>
        </p:txBody>
      </p:sp>
      <p:sp>
        <p:nvSpPr>
          <p:cNvPr id="4" name="Content Placeholder 2"/>
          <p:cNvSpPr>
            <a:spLocks noGrp="1"/>
          </p:cNvSpPr>
          <p:nvPr>
            <p:ph idx="1"/>
          </p:nvPr>
        </p:nvSpPr>
        <p:spPr>
          <a:xfrm>
            <a:off x="3573554" y="438937"/>
            <a:ext cx="3739080" cy="4018763"/>
          </a:xfrm>
        </p:spPr>
        <p:txBody>
          <a:bodyPr/>
          <a:lstStyle>
            <a:lvl1pPr>
              <a:spcBef>
                <a:spcPts val="1200"/>
              </a:spcBef>
              <a:buFontTx/>
              <a:buNone/>
              <a:defRPr sz="1800" b="1">
                <a:solidFill>
                  <a:schemeClr val="accent2"/>
                </a:solidFill>
              </a:defRPr>
            </a:lvl1pPr>
            <a:lvl2pPr marL="342900" indent="-342900" algn="l" defTabSz="457200" rtl="0" eaLnBrk="1" latinLnBrk="0" hangingPunct="1">
              <a:spcBef>
                <a:spcPts val="1200"/>
              </a:spcBef>
              <a:buFontTx/>
              <a:buNone/>
              <a:defRPr sz="1800">
                <a:solidFill>
                  <a:schemeClr val="tx2"/>
                </a:solidFill>
              </a:defRPr>
            </a:lvl2pPr>
            <a:lvl3pPr marL="342900" indent="-342900" algn="l" defTabSz="457200" rtl="0" eaLnBrk="1" latinLnBrk="0" hangingPunct="1">
              <a:spcBef>
                <a:spcPts val="1200"/>
              </a:spcBef>
              <a:buClr>
                <a:schemeClr val="accent2"/>
              </a:buClr>
              <a:buFontTx/>
              <a:buNone/>
              <a:defRPr sz="1600"/>
            </a:lvl3pPr>
            <a:lvl4pPr marL="342900" indent="-342900" algn="l" defTabSz="457200" rtl="0" eaLnBrk="1" latinLnBrk="0" hangingPunct="1">
              <a:spcBef>
                <a:spcPts val="1200"/>
              </a:spcBef>
              <a:buFontTx/>
              <a:buNone/>
              <a:defRPr sz="1500"/>
            </a:lvl4pPr>
            <a:lvl5pPr marL="342900" indent="-342900" algn="l" defTabSz="457200" rtl="0" eaLnBrk="1" latinLnBrk="0" hangingPunct="1">
              <a:spcBef>
                <a:spcPts val="1200"/>
              </a:spcBef>
              <a:buClr>
                <a:schemeClr val="accent1"/>
              </a:buClr>
              <a:buFontTx/>
              <a:buNone/>
              <a:defRPr sz="1500"/>
            </a:lvl5pPr>
          </a:lstStyle>
          <a:p>
            <a:pPr lvl="0"/>
            <a:r>
              <a:rPr lang="en-US" dirty="0"/>
              <a:t>Click to edit Master text styles</a:t>
            </a:r>
          </a:p>
          <a:p>
            <a:pPr marL="342900" lvl="1" indent="-342900" algn="l" defTabSz="457200" rtl="0" eaLnBrk="1" latinLnBrk="0" hangingPunct="1">
              <a:spcBef>
                <a:spcPts val="1200"/>
              </a:spcBef>
              <a:buFontTx/>
              <a:buNone/>
            </a:pPr>
            <a:r>
              <a:rPr lang="en-US" dirty="0"/>
              <a:t>Second level</a:t>
            </a:r>
          </a:p>
          <a:p>
            <a:pPr marL="342900" lvl="2" indent="-342900" algn="l" defTabSz="457200" rtl="0" eaLnBrk="1" latinLnBrk="0" hangingPunct="1">
              <a:spcBef>
                <a:spcPts val="1200"/>
              </a:spcBef>
              <a:buFontTx/>
              <a:buNone/>
            </a:pPr>
            <a:r>
              <a:rPr lang="en-US" dirty="0"/>
              <a:t>Third level</a:t>
            </a:r>
          </a:p>
          <a:p>
            <a:pPr marL="342900" lvl="3" indent="-342900" algn="l" defTabSz="457200" rtl="0" eaLnBrk="1" latinLnBrk="0" hangingPunct="1">
              <a:spcBef>
                <a:spcPts val="1200"/>
              </a:spcBef>
              <a:buFontTx/>
              <a:buNone/>
            </a:pPr>
            <a:r>
              <a:rPr lang="en-US" dirty="0"/>
              <a:t>Fourth level</a:t>
            </a:r>
          </a:p>
          <a:p>
            <a:pPr marL="342900" lvl="4" indent="-342900" algn="l" defTabSz="457200" rtl="0" eaLnBrk="1" latinLnBrk="0" hangingPunct="1">
              <a:spcBef>
                <a:spcPts val="1200"/>
              </a:spcBef>
              <a:buFontTx/>
              <a:buNone/>
            </a:pPr>
            <a:r>
              <a:rPr lang="en-US" dirty="0"/>
              <a:t>Fifth level</a:t>
            </a:r>
          </a:p>
        </p:txBody>
      </p:sp>
    </p:spTree>
    <p:extLst>
      <p:ext uri="{BB962C8B-B14F-4D97-AF65-F5344CB8AC3E}">
        <p14:creationId xmlns:p14="http://schemas.microsoft.com/office/powerpoint/2010/main" val="4049450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layou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00150"/>
            <a:ext cx="3285098" cy="3257550"/>
          </a:xfrm>
        </p:spPr>
        <p:txBody>
          <a:bodyPr/>
          <a:lstStyle>
            <a:lvl1pPr>
              <a:defRPr lang="en-US" sz="1800" b="1" kern="1200" dirty="0" smtClean="0">
                <a:solidFill>
                  <a:srgbClr val="45A1AA"/>
                </a:solidFill>
                <a:latin typeface="Arial"/>
                <a:ea typeface="+mn-ea"/>
                <a:cs typeface="Arial"/>
              </a:defRPr>
            </a:lvl1pPr>
            <a:lvl2pPr>
              <a:defRPr lang="en-US" sz="1800" kern="1200" dirty="0" smtClean="0">
                <a:solidFill>
                  <a:schemeClr val="tx2"/>
                </a:solidFill>
                <a:latin typeface="Arial"/>
                <a:ea typeface="+mn-ea"/>
                <a:cs typeface="Arial"/>
              </a:defRPr>
            </a:lvl2pPr>
            <a:lvl3pPr>
              <a:defRPr lang="en-US" sz="1600" kern="1200" dirty="0" smtClean="0">
                <a:solidFill>
                  <a:srgbClr val="595959"/>
                </a:solidFill>
                <a:latin typeface="Arial"/>
                <a:ea typeface="+mn-ea"/>
                <a:cs typeface="Arial"/>
              </a:defRPr>
            </a:lvl3pPr>
            <a:lvl4pPr>
              <a:defRPr lang="en-US" sz="1500" kern="1200" dirty="0" smtClean="0">
                <a:solidFill>
                  <a:srgbClr val="595959"/>
                </a:solidFill>
                <a:latin typeface="Arial"/>
                <a:ea typeface="+mn-ea"/>
                <a:cs typeface="Arial"/>
              </a:defRPr>
            </a:lvl4pPr>
            <a:lvl5pPr>
              <a:defRPr lang="en-US" sz="1500" kern="1200" dirty="0">
                <a:solidFill>
                  <a:srgbClr val="595959"/>
                </a:solidFill>
                <a:latin typeface="Arial"/>
                <a:ea typeface="+mn-ea"/>
                <a:cs typeface="Arial"/>
              </a:defRPr>
            </a:lvl5pPr>
            <a:lvl6pPr>
              <a:defRPr sz="1800"/>
            </a:lvl6pPr>
            <a:lvl7pPr>
              <a:defRPr sz="1800"/>
            </a:lvl7pPr>
            <a:lvl8pPr>
              <a:defRPr sz="1800"/>
            </a:lvl8pPr>
            <a:lvl9pPr>
              <a:defRPr sz="1800"/>
            </a:lvl9pPr>
          </a:lstStyle>
          <a:p>
            <a:pPr marL="342900" lvl="0" indent="-342900" algn="l" defTabSz="457200" rtl="0" eaLnBrk="1" latinLnBrk="0" hangingPunct="1">
              <a:spcBef>
                <a:spcPts val="1200"/>
              </a:spcBef>
              <a:buFontTx/>
              <a:buNone/>
            </a:pPr>
            <a:r>
              <a:rPr lang="en-US" dirty="0"/>
              <a:t>Click to edit Master text styles</a:t>
            </a:r>
          </a:p>
          <a:p>
            <a:pPr marL="342900" lvl="1" indent="-342900" algn="l" defTabSz="457200" rtl="0" eaLnBrk="1" latinLnBrk="0" hangingPunct="1">
              <a:spcBef>
                <a:spcPts val="1200"/>
              </a:spcBef>
              <a:buFontTx/>
              <a:buNone/>
            </a:pPr>
            <a:r>
              <a:rPr lang="en-US" dirty="0"/>
              <a:t>Second level</a:t>
            </a:r>
          </a:p>
          <a:p>
            <a:pPr marL="342900" lvl="2" indent="-342900" algn="l" defTabSz="457200" rtl="0" eaLnBrk="1" latinLnBrk="0" hangingPunct="1">
              <a:spcBef>
                <a:spcPts val="1200"/>
              </a:spcBef>
              <a:buFontTx/>
              <a:buNone/>
            </a:pPr>
            <a:r>
              <a:rPr lang="en-US" dirty="0"/>
              <a:t>Third level</a:t>
            </a:r>
          </a:p>
          <a:p>
            <a:pPr marL="342900" lvl="3" indent="-342900" algn="l" defTabSz="457200" rtl="0" eaLnBrk="1" latinLnBrk="0" hangingPunct="1">
              <a:spcBef>
                <a:spcPts val="1200"/>
              </a:spcBef>
              <a:buFontTx/>
              <a:buNone/>
            </a:pPr>
            <a:r>
              <a:rPr lang="en-US" dirty="0"/>
              <a:t>Fourth level</a:t>
            </a:r>
          </a:p>
          <a:p>
            <a:pPr marL="342900" lvl="4" indent="-342900" algn="l" defTabSz="457200" rtl="0" eaLnBrk="1" latinLnBrk="0" hangingPunct="1">
              <a:spcBef>
                <a:spcPts val="1200"/>
              </a:spcBef>
              <a:buFontTx/>
              <a:buNone/>
            </a:pPr>
            <a:r>
              <a:rPr lang="en-US" dirty="0"/>
              <a:t>Fifth level</a:t>
            </a:r>
          </a:p>
        </p:txBody>
      </p:sp>
      <p:sp>
        <p:nvSpPr>
          <p:cNvPr id="4" name="Content Placeholder 3"/>
          <p:cNvSpPr>
            <a:spLocks noGrp="1"/>
          </p:cNvSpPr>
          <p:nvPr>
            <p:ph sz="half" idx="2"/>
          </p:nvPr>
        </p:nvSpPr>
        <p:spPr>
          <a:xfrm>
            <a:off x="4023360" y="1200150"/>
            <a:ext cx="3291840" cy="3257550"/>
          </a:xfrm>
        </p:spPr>
        <p:txBody>
          <a:bodyPr/>
          <a:lstStyle>
            <a:lvl1pPr>
              <a:defRPr lang="en-US" sz="1800" b="1" kern="1200" dirty="0" smtClean="0">
                <a:solidFill>
                  <a:srgbClr val="45A1AA"/>
                </a:solidFill>
                <a:latin typeface="Arial"/>
                <a:ea typeface="+mn-ea"/>
                <a:cs typeface="Arial"/>
              </a:defRPr>
            </a:lvl1pPr>
            <a:lvl2pPr>
              <a:defRPr lang="en-US" sz="1800" kern="1200" dirty="0" smtClean="0">
                <a:solidFill>
                  <a:schemeClr val="tx2"/>
                </a:solidFill>
                <a:latin typeface="Arial"/>
                <a:ea typeface="+mn-ea"/>
                <a:cs typeface="Arial"/>
              </a:defRPr>
            </a:lvl2pPr>
            <a:lvl3pPr>
              <a:defRPr lang="en-US" sz="1600" kern="1200" dirty="0" smtClean="0">
                <a:solidFill>
                  <a:srgbClr val="595959"/>
                </a:solidFill>
                <a:latin typeface="Arial"/>
                <a:ea typeface="+mn-ea"/>
                <a:cs typeface="Arial"/>
              </a:defRPr>
            </a:lvl3pPr>
            <a:lvl4pPr>
              <a:defRPr lang="en-US" sz="1500" kern="1200" dirty="0" smtClean="0">
                <a:solidFill>
                  <a:srgbClr val="595959"/>
                </a:solidFill>
                <a:latin typeface="Arial"/>
                <a:ea typeface="+mn-ea"/>
                <a:cs typeface="Arial"/>
              </a:defRPr>
            </a:lvl4pPr>
            <a:lvl5pPr>
              <a:defRPr lang="en-US" sz="1500" kern="1200" dirty="0">
                <a:solidFill>
                  <a:srgbClr val="595959"/>
                </a:solidFill>
                <a:latin typeface="Arial"/>
                <a:ea typeface="+mn-ea"/>
                <a:cs typeface="Arial"/>
              </a:defRPr>
            </a:lvl5pPr>
            <a:lvl6pPr>
              <a:defRPr sz="1800"/>
            </a:lvl6pPr>
            <a:lvl7pPr>
              <a:defRPr sz="1800"/>
            </a:lvl7pPr>
            <a:lvl8pPr>
              <a:defRPr sz="1800"/>
            </a:lvl8pPr>
            <a:lvl9pPr>
              <a:defRPr sz="1800"/>
            </a:lvl9pPr>
          </a:lstStyle>
          <a:p>
            <a:pPr marL="342900" lvl="0" indent="-342900" algn="l" defTabSz="457200" rtl="0" eaLnBrk="1" latinLnBrk="0" hangingPunct="1">
              <a:spcBef>
                <a:spcPts val="1200"/>
              </a:spcBef>
              <a:buFontTx/>
              <a:buNone/>
            </a:pPr>
            <a:r>
              <a:rPr lang="en-US" dirty="0"/>
              <a:t>Click to edit Master text styles</a:t>
            </a:r>
          </a:p>
          <a:p>
            <a:pPr marL="342900" lvl="1" indent="-342900" algn="l" defTabSz="457200" rtl="0" eaLnBrk="1" latinLnBrk="0" hangingPunct="1">
              <a:spcBef>
                <a:spcPts val="1200"/>
              </a:spcBef>
              <a:buFontTx/>
              <a:buNone/>
            </a:pPr>
            <a:r>
              <a:rPr lang="en-US" dirty="0"/>
              <a:t>Second level</a:t>
            </a:r>
          </a:p>
          <a:p>
            <a:pPr marL="342900" lvl="2" indent="-342900" algn="l" defTabSz="457200" rtl="0" eaLnBrk="1" latinLnBrk="0" hangingPunct="1">
              <a:spcBef>
                <a:spcPts val="1200"/>
              </a:spcBef>
              <a:buFontTx/>
              <a:buNone/>
            </a:pPr>
            <a:r>
              <a:rPr lang="en-US" dirty="0"/>
              <a:t>Third level</a:t>
            </a:r>
          </a:p>
          <a:p>
            <a:pPr marL="342900" lvl="3" indent="-342900" algn="l" defTabSz="457200" rtl="0" eaLnBrk="1" latinLnBrk="0" hangingPunct="1">
              <a:spcBef>
                <a:spcPts val="1200"/>
              </a:spcBef>
              <a:buFontTx/>
              <a:buNone/>
            </a:pPr>
            <a:r>
              <a:rPr lang="en-US" dirty="0"/>
              <a:t>Fourth level</a:t>
            </a:r>
          </a:p>
          <a:p>
            <a:pPr marL="342900" lvl="4" indent="-342900" algn="l" defTabSz="457200" rtl="0" eaLnBrk="1" latinLnBrk="0" hangingPunct="1">
              <a:spcBef>
                <a:spcPts val="1200"/>
              </a:spcBef>
              <a:buFontTx/>
              <a:buNone/>
            </a:pPr>
            <a:r>
              <a:rPr lang="en-US" dirty="0"/>
              <a:t>Fifth level</a:t>
            </a:r>
          </a:p>
        </p:txBody>
      </p:sp>
      <p:sp>
        <p:nvSpPr>
          <p:cNvPr id="7" name="Title Placeholder 1"/>
          <p:cNvSpPr>
            <a:spLocks noGrp="1"/>
          </p:cNvSpPr>
          <p:nvPr>
            <p:ph type="title"/>
          </p:nvPr>
        </p:nvSpPr>
        <p:spPr>
          <a:xfrm>
            <a:off x="457200" y="438937"/>
            <a:ext cx="6858000" cy="437009"/>
          </a:xfrm>
          <a:prstGeom prst="rect">
            <a:avLst/>
          </a:prstGeom>
        </p:spPr>
        <p:txBody>
          <a:bodyPr vert="horz" lIns="0" tIns="0" rIns="0" bIns="0" rtlCol="0" anchor="t">
            <a:normAutofit/>
          </a:bodyPr>
          <a:lstStyle/>
          <a:p>
            <a:r>
              <a:rPr lang="en-US" dirty="0"/>
              <a:t>Click to edit Master title style</a:t>
            </a:r>
          </a:p>
        </p:txBody>
      </p:sp>
      <p:sp>
        <p:nvSpPr>
          <p:cNvPr id="6" name="Slide Number Placeholder 3"/>
          <p:cNvSpPr>
            <a:spLocks noGrp="1"/>
          </p:cNvSpPr>
          <p:nvPr>
            <p:ph type="sldNum" sz="quarter" idx="4"/>
          </p:nvPr>
        </p:nvSpPr>
        <p:spPr>
          <a:xfrm>
            <a:off x="8526647" y="4720440"/>
            <a:ext cx="617353" cy="247040"/>
          </a:xfrm>
          <a:prstGeom prst="rect">
            <a:avLst/>
          </a:prstGeom>
        </p:spPr>
        <p:txBody>
          <a:bodyPr vert="horz" lIns="0" tIns="0" rIns="0" bIns="0" rtlCol="0" anchor="b"/>
          <a:lstStyle>
            <a:lvl1pPr algn="ctr">
              <a:defRPr sz="1200" b="1">
                <a:solidFill>
                  <a:srgbClr val="45A1AA"/>
                </a:solidFill>
                <a:latin typeface="Arial"/>
                <a:cs typeface="Arial"/>
              </a:defRPr>
            </a:lvl1pPr>
          </a:lstStyle>
          <a:p>
            <a:fld id="{40A085A0-3A3D-6540-B0AC-0588E66301FB}" type="slidenum">
              <a:rPr lang="en-US" smtClean="0"/>
              <a:pPr/>
              <a:t>‹#›</a:t>
            </a:fld>
            <a:endParaRPr lang="en-US" dirty="0"/>
          </a:p>
        </p:txBody>
      </p:sp>
    </p:spTree>
    <p:extLst>
      <p:ext uri="{BB962C8B-B14F-4D97-AF65-F5344CB8AC3E}">
        <p14:creationId xmlns:p14="http://schemas.microsoft.com/office/powerpoint/2010/main" val="2810889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layou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57200" y="438937"/>
            <a:ext cx="8229600" cy="437009"/>
          </a:xfrm>
          <a:prstGeom prst="rect">
            <a:avLst/>
          </a:prstGeom>
        </p:spPr>
        <p:txBody>
          <a:bodyPr vert="horz" lIns="0" tIns="0" rIns="0" bIns="0" rtlCol="0" anchor="t">
            <a:normAutofit/>
          </a:bodyPr>
          <a:lstStyle/>
          <a:p>
            <a:r>
              <a:rPr lang="en-US" dirty="0"/>
              <a:t>Click to edit Master title style</a:t>
            </a:r>
          </a:p>
        </p:txBody>
      </p:sp>
      <p:sp>
        <p:nvSpPr>
          <p:cNvPr id="4" name="Slide Number Placeholder 3"/>
          <p:cNvSpPr>
            <a:spLocks noGrp="1"/>
          </p:cNvSpPr>
          <p:nvPr>
            <p:ph type="sldNum" sz="quarter" idx="4"/>
          </p:nvPr>
        </p:nvSpPr>
        <p:spPr>
          <a:xfrm>
            <a:off x="8526647" y="4720440"/>
            <a:ext cx="617353" cy="247040"/>
          </a:xfrm>
          <a:prstGeom prst="rect">
            <a:avLst/>
          </a:prstGeom>
        </p:spPr>
        <p:txBody>
          <a:bodyPr vert="horz" lIns="0" tIns="0" rIns="0" bIns="0" rtlCol="0" anchor="b"/>
          <a:lstStyle>
            <a:lvl1pPr algn="ctr">
              <a:defRPr sz="1200" b="1">
                <a:solidFill>
                  <a:srgbClr val="45A1AA"/>
                </a:solidFill>
                <a:latin typeface="Arial"/>
                <a:cs typeface="Arial"/>
              </a:defRPr>
            </a:lvl1pPr>
          </a:lstStyle>
          <a:p>
            <a:fld id="{40A085A0-3A3D-6540-B0AC-0588E66301FB}" type="slidenum">
              <a:rPr lang="en-US" smtClean="0"/>
              <a:pPr/>
              <a:t>‹#›</a:t>
            </a:fld>
            <a:endParaRPr lang="en-US" dirty="0"/>
          </a:p>
        </p:txBody>
      </p:sp>
    </p:spTree>
    <p:extLst>
      <p:ext uri="{BB962C8B-B14F-4D97-AF65-F5344CB8AC3E}">
        <p14:creationId xmlns:p14="http://schemas.microsoft.com/office/powerpoint/2010/main" val="46095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9144000" cy="5143500"/>
          </a:xfrm>
        </p:spPr>
        <p:txBody>
          <a:bodyPr/>
          <a:lstStyle/>
          <a:p>
            <a:r>
              <a:rPr lang="en-US"/>
              <a:t>Click icon to add picture</a:t>
            </a:r>
            <a:endParaRPr lang="en-US" dirty="0"/>
          </a:p>
        </p:txBody>
      </p:sp>
    </p:spTree>
    <p:extLst>
      <p:ext uri="{BB962C8B-B14F-4D97-AF65-F5344CB8AC3E}">
        <p14:creationId xmlns:p14="http://schemas.microsoft.com/office/powerpoint/2010/main" val="1647634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D74C7D4-FA1A-2743-94B3-D5DFCB4CBD0B}"/>
              </a:ext>
            </a:extLst>
          </p:cNvPr>
          <p:cNvPicPr>
            <a:picLocks noChangeAspect="1"/>
          </p:cNvPicPr>
          <p:nvPr userDrawn="1"/>
        </p:nvPicPr>
        <p:blipFill>
          <a:blip r:embed="rId2"/>
          <a:stretch>
            <a:fillRect/>
          </a:stretch>
        </p:blipFill>
        <p:spPr>
          <a:xfrm>
            <a:off x="-1" y="3819"/>
            <a:ext cx="9167050" cy="5156465"/>
          </a:xfrm>
          <a:prstGeom prst="rect">
            <a:avLst/>
          </a:prstGeom>
        </p:spPr>
      </p:pic>
      <p:pic>
        <p:nvPicPr>
          <p:cNvPr id="10" name="Picture 9">
            <a:extLst>
              <a:ext uri="{FF2B5EF4-FFF2-40B4-BE49-F238E27FC236}">
                <a16:creationId xmlns:a16="http://schemas.microsoft.com/office/drawing/2014/main" id="{E970EC53-22A8-A448-88CA-878E5BFC6076}"/>
              </a:ext>
            </a:extLst>
          </p:cNvPr>
          <p:cNvPicPr>
            <a:picLocks noChangeAspect="1"/>
          </p:cNvPicPr>
          <p:nvPr userDrawn="1"/>
        </p:nvPicPr>
        <p:blipFill>
          <a:blip r:embed="rId3"/>
          <a:stretch>
            <a:fillRect/>
          </a:stretch>
        </p:blipFill>
        <p:spPr>
          <a:xfrm>
            <a:off x="6046005" y="3476406"/>
            <a:ext cx="2451781" cy="1077493"/>
          </a:xfrm>
          <a:prstGeom prst="rect">
            <a:avLst/>
          </a:prstGeom>
        </p:spPr>
      </p:pic>
      <p:sp>
        <p:nvSpPr>
          <p:cNvPr id="4" name="Title 1"/>
          <p:cNvSpPr txBox="1">
            <a:spLocks/>
          </p:cNvSpPr>
          <p:nvPr userDrawn="1"/>
        </p:nvSpPr>
        <p:spPr>
          <a:xfrm>
            <a:off x="509588" y="658706"/>
            <a:ext cx="8050860" cy="620014"/>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4000" b="0" kern="1200">
                <a:solidFill>
                  <a:schemeClr val="bg1"/>
                </a:solidFill>
                <a:latin typeface="Arial"/>
                <a:ea typeface="+mj-ea"/>
                <a:cs typeface="Arial"/>
              </a:defRPr>
            </a:lvl1pPr>
          </a:lstStyle>
          <a:p>
            <a:r>
              <a:rPr lang="en-US" sz="4800" dirty="0"/>
              <a:t>Thank you.</a:t>
            </a:r>
          </a:p>
        </p:txBody>
      </p:sp>
      <p:sp>
        <p:nvSpPr>
          <p:cNvPr id="5" name="Title 1"/>
          <p:cNvSpPr txBox="1">
            <a:spLocks/>
          </p:cNvSpPr>
          <p:nvPr userDrawn="1"/>
        </p:nvSpPr>
        <p:spPr>
          <a:xfrm>
            <a:off x="509589" y="1476903"/>
            <a:ext cx="5400393" cy="1292863"/>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4000" b="0" kern="1200">
                <a:solidFill>
                  <a:schemeClr val="bg1"/>
                </a:solidFill>
                <a:latin typeface="Arial"/>
                <a:ea typeface="+mj-ea"/>
                <a:cs typeface="Arial"/>
              </a:defRPr>
            </a:lvl1pPr>
          </a:lstStyle>
          <a:p>
            <a:pPr>
              <a:spcBef>
                <a:spcPts val="3000"/>
              </a:spcBef>
            </a:pPr>
            <a:r>
              <a:rPr lang="en-US" sz="2100" b="0" i="0" kern="1200" dirty="0">
                <a:solidFill>
                  <a:schemeClr val="bg1"/>
                </a:solidFill>
                <a:effectLst/>
                <a:latin typeface="Arial"/>
                <a:ea typeface="+mj-ea"/>
                <a:cs typeface="Arial"/>
              </a:rPr>
              <a:t>Remember to fill out a conference evaluation!</a:t>
            </a:r>
            <a:r>
              <a:rPr lang="en-US" sz="2100" dirty="0">
                <a:solidFill>
                  <a:schemeClr val="bg1"/>
                </a:solidFill>
              </a:rPr>
              <a:t/>
            </a:r>
            <a:br>
              <a:rPr lang="en-US" sz="2100" dirty="0">
                <a:solidFill>
                  <a:schemeClr val="bg1"/>
                </a:solidFill>
              </a:rPr>
            </a:br>
            <a:r>
              <a:rPr lang="en-US" sz="2100" b="1" dirty="0" err="1">
                <a:solidFill>
                  <a:schemeClr val="bg1"/>
                </a:solidFill>
              </a:rPr>
              <a:t>www.ellucian.com</a:t>
            </a:r>
            <a:r>
              <a:rPr lang="en-US" sz="2100" b="1" dirty="0">
                <a:solidFill>
                  <a:schemeClr val="bg1"/>
                </a:solidFill>
              </a:rPr>
              <a:t>/</a:t>
            </a:r>
            <a:r>
              <a:rPr lang="en-US" sz="2100" b="1" dirty="0" err="1">
                <a:solidFill>
                  <a:schemeClr val="bg1"/>
                </a:solidFill>
              </a:rPr>
              <a:t>EllucianLive</a:t>
            </a:r>
            <a:r>
              <a:rPr lang="en-US" sz="2100" b="1" dirty="0">
                <a:solidFill>
                  <a:schemeClr val="bg1"/>
                </a:solidFill>
              </a:rPr>
              <a:t>/DWF</a:t>
            </a:r>
          </a:p>
        </p:txBody>
      </p:sp>
      <p:sp>
        <p:nvSpPr>
          <p:cNvPr id="7" name="Text Placeholder 3"/>
          <p:cNvSpPr>
            <a:spLocks noGrp="1"/>
          </p:cNvSpPr>
          <p:nvPr>
            <p:ph type="body" sz="quarter" idx="10" hasCustomPrompt="1"/>
          </p:nvPr>
        </p:nvSpPr>
        <p:spPr>
          <a:xfrm>
            <a:off x="509588" y="3272570"/>
            <a:ext cx="3683000" cy="742583"/>
          </a:xfrm>
        </p:spPr>
        <p:txBody>
          <a:bodyPr anchor="b">
            <a:normAutofit/>
          </a:bodyPr>
          <a:lstStyle>
            <a:lvl1pPr>
              <a:spcBef>
                <a:spcPts val="0"/>
              </a:spcBef>
              <a:buNone/>
              <a:defRPr sz="2100" b="0" baseline="0">
                <a:solidFill>
                  <a:schemeClr val="bg1"/>
                </a:solidFill>
              </a:defRPr>
            </a:lvl1pPr>
          </a:lstStyle>
          <a:p>
            <a:pPr lvl="0"/>
            <a:r>
              <a:rPr lang="en-US" dirty="0"/>
              <a:t>PRESENTER NAME</a:t>
            </a:r>
            <a:br>
              <a:rPr lang="en-US" dirty="0"/>
            </a:br>
            <a:r>
              <a:rPr lang="en-US" dirty="0"/>
              <a:t>Presenter email [optional]</a:t>
            </a:r>
          </a:p>
        </p:txBody>
      </p:sp>
      <p:sp>
        <p:nvSpPr>
          <p:cNvPr id="8" name="Text Placeholder 3"/>
          <p:cNvSpPr>
            <a:spLocks noGrp="1"/>
          </p:cNvSpPr>
          <p:nvPr>
            <p:ph type="body" sz="quarter" idx="11" hasCustomPrompt="1"/>
          </p:nvPr>
        </p:nvSpPr>
        <p:spPr>
          <a:xfrm>
            <a:off x="509588" y="4103077"/>
            <a:ext cx="3683000" cy="295801"/>
          </a:xfrm>
        </p:spPr>
        <p:txBody>
          <a:bodyPr anchor="b">
            <a:normAutofit/>
          </a:bodyPr>
          <a:lstStyle>
            <a:lvl1pPr>
              <a:buNone/>
              <a:defRPr sz="1400" b="0" baseline="0">
                <a:solidFill>
                  <a:schemeClr val="bg1"/>
                </a:solidFill>
              </a:defRPr>
            </a:lvl1pPr>
          </a:lstStyle>
          <a:p>
            <a:pPr lvl="0"/>
            <a:r>
              <a:rPr lang="en-US" dirty="0"/>
              <a:t>SESSION ID: DWF#####</a:t>
            </a:r>
          </a:p>
        </p:txBody>
      </p:sp>
    </p:spTree>
    <p:extLst>
      <p:ext uri="{BB962C8B-B14F-4D97-AF65-F5344CB8AC3E}">
        <p14:creationId xmlns:p14="http://schemas.microsoft.com/office/powerpoint/2010/main" val="845463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slide - multiple presenter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27E56A4-8592-C54B-8C6D-F5CF566EF459}"/>
              </a:ext>
            </a:extLst>
          </p:cNvPr>
          <p:cNvPicPr>
            <a:picLocks noChangeAspect="1"/>
          </p:cNvPicPr>
          <p:nvPr userDrawn="1"/>
        </p:nvPicPr>
        <p:blipFill>
          <a:blip r:embed="rId2"/>
          <a:stretch>
            <a:fillRect/>
          </a:stretch>
        </p:blipFill>
        <p:spPr>
          <a:xfrm>
            <a:off x="-1" y="3819"/>
            <a:ext cx="9167050" cy="5156465"/>
          </a:xfrm>
          <a:prstGeom prst="rect">
            <a:avLst/>
          </a:prstGeom>
        </p:spPr>
      </p:pic>
      <p:pic>
        <p:nvPicPr>
          <p:cNvPr id="9" name="Picture 8">
            <a:extLst>
              <a:ext uri="{FF2B5EF4-FFF2-40B4-BE49-F238E27FC236}">
                <a16:creationId xmlns:a16="http://schemas.microsoft.com/office/drawing/2014/main" id="{F05CDBCD-2763-B84E-A043-4676CE88AD85}"/>
              </a:ext>
            </a:extLst>
          </p:cNvPr>
          <p:cNvPicPr>
            <a:picLocks noChangeAspect="1"/>
          </p:cNvPicPr>
          <p:nvPr userDrawn="1"/>
        </p:nvPicPr>
        <p:blipFill>
          <a:blip r:embed="rId3"/>
          <a:stretch>
            <a:fillRect/>
          </a:stretch>
        </p:blipFill>
        <p:spPr>
          <a:xfrm>
            <a:off x="6046005" y="3476406"/>
            <a:ext cx="2451781" cy="1077493"/>
          </a:xfrm>
          <a:prstGeom prst="rect">
            <a:avLst/>
          </a:prstGeom>
        </p:spPr>
      </p:pic>
      <p:sp>
        <p:nvSpPr>
          <p:cNvPr id="6" name="Title 1"/>
          <p:cNvSpPr txBox="1">
            <a:spLocks/>
          </p:cNvSpPr>
          <p:nvPr userDrawn="1"/>
        </p:nvSpPr>
        <p:spPr>
          <a:xfrm>
            <a:off x="509588" y="658706"/>
            <a:ext cx="8050860" cy="620014"/>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4000" b="0" kern="1200">
                <a:solidFill>
                  <a:schemeClr val="bg1"/>
                </a:solidFill>
                <a:latin typeface="Arial"/>
                <a:ea typeface="+mj-ea"/>
                <a:cs typeface="Arial"/>
              </a:defRPr>
            </a:lvl1pPr>
          </a:lstStyle>
          <a:p>
            <a:r>
              <a:rPr lang="en-US" sz="4800" dirty="0">
                <a:solidFill>
                  <a:schemeClr val="bg1"/>
                </a:solidFill>
              </a:rPr>
              <a:t>Thank you.</a:t>
            </a:r>
          </a:p>
        </p:txBody>
      </p:sp>
      <p:sp>
        <p:nvSpPr>
          <p:cNvPr id="7" name="Title 1"/>
          <p:cNvSpPr txBox="1">
            <a:spLocks/>
          </p:cNvSpPr>
          <p:nvPr userDrawn="1"/>
        </p:nvSpPr>
        <p:spPr>
          <a:xfrm>
            <a:off x="509589" y="1476903"/>
            <a:ext cx="5386946" cy="1292863"/>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4000" b="0" kern="1200">
                <a:solidFill>
                  <a:schemeClr val="bg1"/>
                </a:solidFill>
                <a:latin typeface="Arial"/>
                <a:ea typeface="+mj-ea"/>
                <a:cs typeface="Arial"/>
              </a:defRPr>
            </a:lvl1pPr>
          </a:lstStyle>
          <a:p>
            <a:pPr>
              <a:spcBef>
                <a:spcPts val="3000"/>
              </a:spcBef>
            </a:pPr>
            <a:r>
              <a:rPr lang="en-US" sz="2100" b="0" i="0" kern="1200" dirty="0">
                <a:solidFill>
                  <a:schemeClr val="bg1"/>
                </a:solidFill>
                <a:effectLst/>
                <a:latin typeface="Arial"/>
                <a:ea typeface="+mj-ea"/>
                <a:cs typeface="Arial"/>
              </a:rPr>
              <a:t>Remember to fill out a conference evaluation!</a:t>
            </a:r>
            <a:r>
              <a:rPr lang="en-US" sz="2100" dirty="0">
                <a:solidFill>
                  <a:schemeClr val="bg1"/>
                </a:solidFill>
              </a:rPr>
              <a:t/>
            </a:r>
            <a:br>
              <a:rPr lang="en-US" sz="2100" dirty="0">
                <a:solidFill>
                  <a:schemeClr val="bg1"/>
                </a:solidFill>
              </a:rPr>
            </a:br>
            <a:r>
              <a:rPr lang="en-US" sz="2100" b="1" dirty="0" err="1">
                <a:solidFill>
                  <a:schemeClr val="bg1"/>
                </a:solidFill>
              </a:rPr>
              <a:t>www.ellucian.com</a:t>
            </a:r>
            <a:r>
              <a:rPr lang="en-US" sz="2100" b="1" dirty="0">
                <a:solidFill>
                  <a:schemeClr val="bg1"/>
                </a:solidFill>
              </a:rPr>
              <a:t>/</a:t>
            </a:r>
            <a:r>
              <a:rPr lang="en-US" sz="2100" b="1" dirty="0" err="1">
                <a:solidFill>
                  <a:schemeClr val="bg1"/>
                </a:solidFill>
              </a:rPr>
              <a:t>EllucianLive</a:t>
            </a:r>
            <a:r>
              <a:rPr lang="en-US" sz="2100" b="1" dirty="0">
                <a:solidFill>
                  <a:schemeClr val="bg1"/>
                </a:solidFill>
              </a:rPr>
              <a:t>/DWF</a:t>
            </a:r>
          </a:p>
        </p:txBody>
      </p:sp>
      <p:sp>
        <p:nvSpPr>
          <p:cNvPr id="10" name="Text Placeholder 3"/>
          <p:cNvSpPr>
            <a:spLocks noGrp="1"/>
          </p:cNvSpPr>
          <p:nvPr>
            <p:ph type="body" sz="quarter" idx="10" hasCustomPrompt="1"/>
          </p:nvPr>
        </p:nvSpPr>
        <p:spPr>
          <a:xfrm>
            <a:off x="509587" y="2796218"/>
            <a:ext cx="4938329" cy="1218936"/>
          </a:xfrm>
        </p:spPr>
        <p:txBody>
          <a:bodyPr anchor="b">
            <a:normAutofit/>
          </a:bodyPr>
          <a:lstStyle>
            <a:lvl1pPr marL="0" marR="0" indent="0" algn="l" defTabSz="457200" rtl="0" eaLnBrk="1" fontAlgn="auto" latinLnBrk="0" hangingPunct="1">
              <a:lnSpc>
                <a:spcPct val="100000"/>
              </a:lnSpc>
              <a:spcBef>
                <a:spcPts val="0"/>
              </a:spcBef>
              <a:spcAft>
                <a:spcPts val="0"/>
              </a:spcAft>
              <a:buClrTx/>
              <a:buSzTx/>
              <a:buFont typeface="Arial"/>
              <a:buNone/>
              <a:tabLst/>
              <a:defRPr sz="1600" b="0"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t>PRESENTER NAME, email [optional]</a:t>
            </a:r>
            <a:br>
              <a:rPr lang="en-US" dirty="0"/>
            </a:br>
            <a:r>
              <a:rPr lang="en-US" dirty="0"/>
              <a:t>PRESENTER NAME, email [optional]</a:t>
            </a:r>
            <a:br>
              <a:rPr lang="en-US" dirty="0"/>
            </a:br>
            <a:r>
              <a:rPr lang="en-US" dirty="0"/>
              <a:t>PRESENTER NAME, email [optional]</a:t>
            </a:r>
          </a:p>
        </p:txBody>
      </p:sp>
      <p:sp>
        <p:nvSpPr>
          <p:cNvPr id="11" name="Text Placeholder 3"/>
          <p:cNvSpPr>
            <a:spLocks noGrp="1"/>
          </p:cNvSpPr>
          <p:nvPr>
            <p:ph type="body" sz="quarter" idx="11" hasCustomPrompt="1"/>
          </p:nvPr>
        </p:nvSpPr>
        <p:spPr>
          <a:xfrm>
            <a:off x="509588" y="4103077"/>
            <a:ext cx="3683000" cy="295801"/>
          </a:xfrm>
        </p:spPr>
        <p:txBody>
          <a:bodyPr anchor="b">
            <a:normAutofit/>
          </a:bodyPr>
          <a:lstStyle>
            <a:lvl1pPr>
              <a:buNone/>
              <a:defRPr sz="1400" b="0" baseline="0">
                <a:solidFill>
                  <a:schemeClr val="bg1"/>
                </a:solidFill>
              </a:defRPr>
            </a:lvl1pPr>
          </a:lstStyle>
          <a:p>
            <a:pPr lvl="0"/>
            <a:r>
              <a:rPr lang="en-US" dirty="0"/>
              <a:t>SESSION ID: DWF#####</a:t>
            </a:r>
          </a:p>
        </p:txBody>
      </p:sp>
    </p:spTree>
    <p:extLst>
      <p:ext uri="{BB962C8B-B14F-4D97-AF65-F5344CB8AC3E}">
        <p14:creationId xmlns:p14="http://schemas.microsoft.com/office/powerpoint/2010/main" val="18222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38937"/>
            <a:ext cx="6858000" cy="437009"/>
          </a:xfrm>
          <a:prstGeom prst="rect">
            <a:avLst/>
          </a:prstGeom>
        </p:spPr>
        <p:txBody>
          <a:bodyPr vert="horz" lIns="0" tIns="0" rIns="0" bIns="0" rtlCol="0" anchor="t">
            <a:normAutofit/>
          </a:bodyPr>
          <a:lstStyle/>
          <a:p>
            <a:r>
              <a:rPr lang="en-US" dirty="0"/>
              <a:t>Click to edit Master title style</a:t>
            </a:r>
          </a:p>
        </p:txBody>
      </p:sp>
      <p:sp>
        <p:nvSpPr>
          <p:cNvPr id="3" name="Text Placeholder 2"/>
          <p:cNvSpPr>
            <a:spLocks noGrp="1"/>
          </p:cNvSpPr>
          <p:nvPr>
            <p:ph type="body" idx="1"/>
          </p:nvPr>
        </p:nvSpPr>
        <p:spPr>
          <a:xfrm>
            <a:off x="457200" y="1156112"/>
            <a:ext cx="6858000" cy="3257550"/>
          </a:xfrm>
          <a:prstGeom prst="rect">
            <a:avLst/>
          </a:prstGeom>
        </p:spPr>
        <p:txBody>
          <a:bodyPr vert="horz" lIns="0" tIns="0" rIns="0" bIns="0" rtlCol="0">
            <a:normAutofit/>
          </a:bodyPr>
          <a:lstStyle/>
          <a:p>
            <a:pPr marL="342900" lvl="0" indent="-342900" algn="l" defTabSz="457200" rtl="0" eaLnBrk="1" latinLnBrk="0" hangingPunct="1">
              <a:spcBef>
                <a:spcPts val="1200"/>
              </a:spcBef>
              <a:buFontTx/>
              <a:buNone/>
            </a:pPr>
            <a:r>
              <a:rPr lang="en-US" dirty="0"/>
              <a:t>Click to edit Master text styles</a:t>
            </a:r>
          </a:p>
          <a:p>
            <a:pPr marL="342900" lvl="1" indent="-342900" algn="l" defTabSz="457200" rtl="0" eaLnBrk="1" latinLnBrk="0" hangingPunct="1">
              <a:spcBef>
                <a:spcPts val="1200"/>
              </a:spcBef>
              <a:buFontTx/>
              <a:buNone/>
            </a:pPr>
            <a:r>
              <a:rPr lang="en-US" dirty="0"/>
              <a:t>Second level</a:t>
            </a:r>
          </a:p>
          <a:p>
            <a:pPr marL="342900" lvl="2" indent="-342900" algn="l" defTabSz="457200" rtl="0" eaLnBrk="1" latinLnBrk="0" hangingPunct="1">
              <a:spcBef>
                <a:spcPts val="1200"/>
              </a:spcBef>
              <a:buFontTx/>
              <a:buNone/>
            </a:pPr>
            <a:r>
              <a:rPr lang="en-US" dirty="0"/>
              <a:t>Third level</a:t>
            </a:r>
          </a:p>
          <a:p>
            <a:pPr marL="342900" lvl="3" indent="-342900" algn="l" defTabSz="457200" rtl="0" eaLnBrk="1" latinLnBrk="0" hangingPunct="1">
              <a:spcBef>
                <a:spcPts val="1200"/>
              </a:spcBef>
              <a:buFontTx/>
              <a:buNone/>
            </a:pPr>
            <a:r>
              <a:rPr lang="en-US" dirty="0"/>
              <a:t>Fourth level</a:t>
            </a:r>
          </a:p>
          <a:p>
            <a:pPr marL="342900" lvl="4" indent="-342900" algn="l" defTabSz="457200" rtl="0" eaLnBrk="1" latinLnBrk="0" hangingPunct="1">
              <a:spcBef>
                <a:spcPts val="1200"/>
              </a:spcBef>
              <a:buFontTx/>
              <a:buNone/>
            </a:pPr>
            <a:r>
              <a:rPr lang="en-US" dirty="0"/>
              <a:t>Fifth level</a:t>
            </a:r>
          </a:p>
        </p:txBody>
      </p:sp>
      <p:pic>
        <p:nvPicPr>
          <p:cNvPr id="6" name="Picture 5"/>
          <p:cNvPicPr>
            <a:picLocks noChangeAspect="1"/>
          </p:cNvPicPr>
          <p:nvPr userDrawn="1"/>
        </p:nvPicPr>
        <p:blipFill>
          <a:blip r:embed="rId13"/>
          <a:stretch>
            <a:fillRect/>
          </a:stretch>
        </p:blipFill>
        <p:spPr>
          <a:xfrm>
            <a:off x="395579" y="4584424"/>
            <a:ext cx="1345489" cy="354804"/>
          </a:xfrm>
          <a:prstGeom prst="rect">
            <a:avLst/>
          </a:prstGeom>
        </p:spPr>
      </p:pic>
      <p:sp>
        <p:nvSpPr>
          <p:cNvPr id="4" name="Slide Number Placeholder 3"/>
          <p:cNvSpPr>
            <a:spLocks noGrp="1"/>
          </p:cNvSpPr>
          <p:nvPr>
            <p:ph type="sldNum" sz="quarter" idx="4"/>
          </p:nvPr>
        </p:nvSpPr>
        <p:spPr>
          <a:xfrm>
            <a:off x="8526647" y="4720440"/>
            <a:ext cx="617353" cy="247040"/>
          </a:xfrm>
          <a:prstGeom prst="rect">
            <a:avLst/>
          </a:prstGeom>
        </p:spPr>
        <p:txBody>
          <a:bodyPr vert="horz" lIns="0" tIns="0" rIns="0" bIns="0" rtlCol="0" anchor="b"/>
          <a:lstStyle>
            <a:lvl1pPr algn="ctr">
              <a:defRPr sz="1200" b="1">
                <a:solidFill>
                  <a:srgbClr val="45A1AA"/>
                </a:solidFill>
                <a:latin typeface="Arial"/>
                <a:cs typeface="Arial"/>
              </a:defRPr>
            </a:lvl1pPr>
          </a:lstStyle>
          <a:p>
            <a:fld id="{40A085A0-3A3D-6540-B0AC-0588E66301FB}" type="slidenum">
              <a:rPr lang="en-US" smtClean="0"/>
              <a:pPr/>
              <a:t>‹#›</a:t>
            </a:fld>
            <a:endParaRPr lang="en-US" dirty="0"/>
          </a:p>
        </p:txBody>
      </p:sp>
      <p:sp>
        <p:nvSpPr>
          <p:cNvPr id="11" name="Footer Placeholder 4"/>
          <p:cNvSpPr txBox="1">
            <a:spLocks/>
          </p:cNvSpPr>
          <p:nvPr userDrawn="1"/>
        </p:nvSpPr>
        <p:spPr>
          <a:xfrm>
            <a:off x="3995651" y="4853365"/>
            <a:ext cx="3319549" cy="107722"/>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lumMod val="50000"/>
                  </a:schemeClr>
                </a:solidFill>
                <a:effectLst/>
                <a:uLnTx/>
                <a:uFillTx/>
                <a:latin typeface="Arial" pitchFamily="34" charset="0"/>
                <a:ea typeface="+mn-ea"/>
                <a:cs typeface="Arial" pitchFamily="34" charset="0"/>
              </a:rPr>
              <a:t>© 2019 ELLUCIAN. |  </a:t>
            </a:r>
            <a:r>
              <a:rPr lang="en-US" sz="700" b="1" dirty="0">
                <a:solidFill>
                  <a:schemeClr val="bg1">
                    <a:lumMod val="50000"/>
                  </a:schemeClr>
                </a:solidFill>
                <a:latin typeface="Arial" pitchFamily="34" charset="0"/>
                <a:cs typeface="Arial" pitchFamily="34" charset="0"/>
              </a:rPr>
              <a:t>SESSION ID: DWF##### </a:t>
            </a:r>
            <a:endParaRPr kumimoji="0" lang="en-US" sz="700" b="1" i="0" u="none" strike="noStrike" kern="1200" cap="none" spc="0" normalizeH="0" baseline="0" noProof="0" dirty="0">
              <a:ln>
                <a:noFill/>
              </a:ln>
              <a:solidFill>
                <a:schemeClr val="bg1">
                  <a:lumMod val="50000"/>
                </a:schemeClr>
              </a:solidFill>
              <a:effectLst/>
              <a:uLnTx/>
              <a:uFillTx/>
              <a:latin typeface="Arial" pitchFamily="34" charset="0"/>
              <a:ea typeface="+mn-ea"/>
              <a:cs typeface="Arial" pitchFamily="34" charset="0"/>
            </a:endParaRPr>
          </a:p>
        </p:txBody>
      </p:sp>
      <p:pic>
        <p:nvPicPr>
          <p:cNvPr id="9" name="Picture 8">
            <a:extLst>
              <a:ext uri="{FF2B5EF4-FFF2-40B4-BE49-F238E27FC236}">
                <a16:creationId xmlns:a16="http://schemas.microsoft.com/office/drawing/2014/main" id="{6DC94E1D-69A5-3446-BE2F-27092418E823}"/>
              </a:ext>
            </a:extLst>
          </p:cNvPr>
          <p:cNvPicPr>
            <a:picLocks noChangeAspect="1"/>
          </p:cNvPicPr>
          <p:nvPr userDrawn="1"/>
        </p:nvPicPr>
        <p:blipFill>
          <a:blip r:embed="rId14"/>
          <a:stretch>
            <a:fillRect/>
          </a:stretch>
        </p:blipFill>
        <p:spPr>
          <a:xfrm>
            <a:off x="-1" y="4967480"/>
            <a:ext cx="9167050" cy="178248"/>
          </a:xfrm>
          <a:prstGeom prst="rect">
            <a:avLst/>
          </a:prstGeom>
        </p:spPr>
      </p:pic>
    </p:spTree>
    <p:extLst>
      <p:ext uri="{BB962C8B-B14F-4D97-AF65-F5344CB8AC3E}">
        <p14:creationId xmlns:p14="http://schemas.microsoft.com/office/powerpoint/2010/main" val="3679338633"/>
      </p:ext>
    </p:extLst>
  </p:cSld>
  <p:clrMap bg1="lt1" tx1="dk1" bg2="lt2" tx2="dk2" accent1="accent1" accent2="accent2" accent3="accent3" accent4="accent4" accent5="accent5" accent6="accent6" hlink="hlink" folHlink="folHlink"/>
  <p:sldLayoutIdLst>
    <p:sldLayoutId id="2147483697" r:id="rId1"/>
    <p:sldLayoutId id="2147483722" r:id="rId2"/>
    <p:sldLayoutId id="2147483717" r:id="rId3"/>
    <p:sldLayoutId id="2147483649" r:id="rId4"/>
    <p:sldLayoutId id="2147483650" r:id="rId5"/>
    <p:sldLayoutId id="2147483721" r:id="rId6"/>
    <p:sldLayoutId id="2147483652" r:id="rId7"/>
    <p:sldLayoutId id="2147483700" r:id="rId8"/>
    <p:sldLayoutId id="2147483716" r:id="rId9"/>
    <p:sldLayoutId id="2147483720" r:id="rId10"/>
    <p:sldLayoutId id="2147483723" r:id="rId11"/>
  </p:sldLayoutIdLst>
  <p:hf hdr="0" ftr="0" dt="0"/>
  <p:txStyles>
    <p:titleStyle>
      <a:lvl1pPr algn="l" defTabSz="457200" rtl="0" eaLnBrk="1" latinLnBrk="0" hangingPunct="1">
        <a:lnSpc>
          <a:spcPct val="100000"/>
        </a:lnSpc>
        <a:spcBef>
          <a:spcPct val="0"/>
        </a:spcBef>
        <a:buNone/>
        <a:defRPr sz="2600" b="0" kern="1200">
          <a:solidFill>
            <a:srgbClr val="462F89"/>
          </a:solidFill>
          <a:latin typeface="Arial"/>
          <a:ea typeface="+mj-ea"/>
          <a:cs typeface="Arial"/>
        </a:defRPr>
      </a:lvl1pPr>
    </p:titleStyle>
    <p:bodyStyle>
      <a:lvl1pPr marL="0" indent="0" algn="l" defTabSz="457200" rtl="0" eaLnBrk="1" latinLnBrk="0" hangingPunct="1">
        <a:spcBef>
          <a:spcPct val="20000"/>
        </a:spcBef>
        <a:buFont typeface="Arial"/>
        <a:buChar char="•"/>
        <a:defRPr lang="en-US" sz="1800" b="1" kern="1200" dirty="0" smtClean="0">
          <a:solidFill>
            <a:schemeClr val="accent2"/>
          </a:solidFill>
          <a:latin typeface="Arial"/>
          <a:ea typeface="+mn-ea"/>
          <a:cs typeface="Arial"/>
        </a:defRPr>
      </a:lvl1pPr>
      <a:lvl2pPr marL="742950" indent="-285750" algn="l" defTabSz="457200" rtl="0" eaLnBrk="1" latinLnBrk="0" hangingPunct="1">
        <a:spcBef>
          <a:spcPct val="20000"/>
        </a:spcBef>
        <a:buFont typeface="Arial"/>
        <a:buChar char="–"/>
        <a:defRPr lang="en-US" sz="1800" kern="1200" dirty="0" smtClean="0">
          <a:solidFill>
            <a:schemeClr val="tx2"/>
          </a:solidFill>
          <a:latin typeface="Arial"/>
          <a:ea typeface="+mn-ea"/>
          <a:cs typeface="Arial"/>
        </a:defRPr>
      </a:lvl2pPr>
      <a:lvl3pPr marL="1143000" indent="-228600" algn="l" defTabSz="457200" rtl="0" eaLnBrk="1" latinLnBrk="0" hangingPunct="1">
        <a:spcBef>
          <a:spcPct val="20000"/>
        </a:spcBef>
        <a:buFont typeface="Arial"/>
        <a:buChar char="•"/>
        <a:defRPr lang="en-US" sz="1600" kern="1200" dirty="0" smtClean="0">
          <a:solidFill>
            <a:srgbClr val="595959"/>
          </a:solidFill>
          <a:latin typeface="Arial"/>
          <a:ea typeface="+mn-ea"/>
          <a:cs typeface="Arial"/>
        </a:defRPr>
      </a:lvl3pPr>
      <a:lvl4pPr marL="1600200" indent="-228600" algn="l" defTabSz="457200" rtl="0" eaLnBrk="1" latinLnBrk="0" hangingPunct="1">
        <a:spcBef>
          <a:spcPct val="20000"/>
        </a:spcBef>
        <a:buFont typeface="Arial"/>
        <a:buChar char="–"/>
        <a:defRPr lang="en-US" sz="1500" kern="1200" dirty="0" smtClean="0">
          <a:solidFill>
            <a:srgbClr val="595959"/>
          </a:solidFill>
          <a:latin typeface="Arial"/>
          <a:ea typeface="+mn-ea"/>
          <a:cs typeface="Arial"/>
        </a:defRPr>
      </a:lvl4pPr>
      <a:lvl5pPr marL="2057400" indent="-228600" algn="l" defTabSz="457200" rtl="0" eaLnBrk="1" latinLnBrk="0" hangingPunct="1">
        <a:spcBef>
          <a:spcPct val="20000"/>
        </a:spcBef>
        <a:buFont typeface="Arial"/>
        <a:buChar char="»"/>
        <a:defRPr lang="en-US" sz="1500" kern="1200" dirty="0">
          <a:solidFill>
            <a:srgbClr val="595959"/>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4.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1.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68.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71.xml"/><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46.png"/></Relationships>
</file>

<file path=ppt/slides/_rels/slide77.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72.xml"/><Relationship Id="rId1"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46.png"/></Relationships>
</file>

<file path=ppt/slides/_rels/slide7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73.xml"/><Relationship Id="rId1" Type="http://schemas.openxmlformats.org/officeDocument/2006/relationships/slideLayout" Target="../slideLayouts/slideLayout5.xml"/><Relationship Id="rId5" Type="http://schemas.openxmlformats.org/officeDocument/2006/relationships/image" Target="../media/image55.png"/><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nSpc>
                <a:spcPct val="90000"/>
              </a:lnSpc>
            </a:pPr>
            <a:r>
              <a:rPr lang="en-US" sz="4000" dirty="0" smtClean="0">
                <a:solidFill>
                  <a:srgbClr val="FFFFFF"/>
                </a:solidFill>
              </a:rPr>
              <a:t>Reporting </a:t>
            </a:r>
            <a:br>
              <a:rPr lang="en-US" sz="4000" dirty="0" smtClean="0">
                <a:solidFill>
                  <a:srgbClr val="FFFFFF"/>
                </a:solidFill>
              </a:rPr>
            </a:br>
            <a:r>
              <a:rPr lang="en-US" sz="4000" dirty="0" smtClean="0">
                <a:solidFill>
                  <a:srgbClr val="FFFFFF"/>
                </a:solidFill>
              </a:rPr>
              <a:t>Degree Works </a:t>
            </a:r>
            <a:br>
              <a:rPr lang="en-US" sz="4000" dirty="0" smtClean="0">
                <a:solidFill>
                  <a:srgbClr val="FFFFFF"/>
                </a:solidFill>
              </a:rPr>
            </a:br>
            <a:r>
              <a:rPr lang="en-US" sz="4000" dirty="0" smtClean="0">
                <a:solidFill>
                  <a:srgbClr val="FFFFFF"/>
                </a:solidFill>
              </a:rPr>
              <a:t>Data</a:t>
            </a:r>
            <a:endParaRPr lang="en-US" sz="4000" dirty="0">
              <a:solidFill>
                <a:srgbClr val="FFFFFF"/>
              </a:solidFill>
            </a:endParaRPr>
          </a:p>
        </p:txBody>
      </p:sp>
      <p:sp>
        <p:nvSpPr>
          <p:cNvPr id="3" name="Text Placeholder 2"/>
          <p:cNvSpPr>
            <a:spLocks noGrp="1"/>
          </p:cNvSpPr>
          <p:nvPr>
            <p:ph type="body" sz="quarter" idx="10"/>
          </p:nvPr>
        </p:nvSpPr>
        <p:spPr/>
        <p:txBody>
          <a:bodyPr>
            <a:normAutofit fontScale="92500" lnSpcReduction="20000"/>
          </a:bodyPr>
          <a:lstStyle/>
          <a:p>
            <a:r>
              <a:rPr lang="en-US" b="1" dirty="0" smtClean="0">
                <a:solidFill>
                  <a:schemeClr val="bg1"/>
                </a:solidFill>
              </a:rPr>
              <a:t>Michael Moore, PhD</a:t>
            </a:r>
            <a:r>
              <a:rPr lang="en-US" b="1" dirty="0">
                <a:solidFill>
                  <a:schemeClr val="bg1"/>
                </a:solidFill>
              </a:rPr>
              <a:t/>
            </a:r>
            <a:br>
              <a:rPr lang="en-US" b="1" dirty="0">
                <a:solidFill>
                  <a:schemeClr val="bg1"/>
                </a:solidFill>
              </a:rPr>
            </a:br>
            <a:r>
              <a:rPr lang="en-US" dirty="0" smtClean="0">
                <a:solidFill>
                  <a:schemeClr val="bg1"/>
                </a:solidFill>
              </a:rPr>
              <a:t>Associate Registrar, </a:t>
            </a:r>
            <a:br>
              <a:rPr lang="en-US" dirty="0" smtClean="0">
                <a:solidFill>
                  <a:schemeClr val="bg1"/>
                </a:solidFill>
              </a:rPr>
            </a:br>
            <a:r>
              <a:rPr lang="en-US" dirty="0" smtClean="0">
                <a:solidFill>
                  <a:schemeClr val="bg1"/>
                </a:solidFill>
              </a:rPr>
              <a:t>Old Dominion University</a:t>
            </a:r>
            <a:endParaRPr lang="en-US" dirty="0">
              <a:solidFill>
                <a:schemeClr val="bg1"/>
              </a:solidFill>
            </a:endParaRPr>
          </a:p>
        </p:txBody>
      </p:sp>
      <p:sp>
        <p:nvSpPr>
          <p:cNvPr id="5" name="Text Placeholder 4"/>
          <p:cNvSpPr>
            <a:spLocks noGrp="1"/>
          </p:cNvSpPr>
          <p:nvPr>
            <p:ph type="body" sz="quarter" idx="11"/>
          </p:nvPr>
        </p:nvSpPr>
        <p:spPr/>
        <p:txBody>
          <a:bodyPr>
            <a:normAutofit/>
          </a:bodyPr>
          <a:lstStyle/>
          <a:p>
            <a:r>
              <a:rPr lang="en-US" dirty="0">
                <a:solidFill>
                  <a:schemeClr val="bg1"/>
                </a:solidFill>
              </a:rPr>
              <a:t>SESSION ID: </a:t>
            </a:r>
            <a:r>
              <a:rPr lang="en-US" dirty="0" smtClean="0">
                <a:solidFill>
                  <a:schemeClr val="bg1"/>
                </a:solidFill>
              </a:rPr>
              <a:t>DWF253522</a:t>
            </a:r>
          </a:p>
        </p:txBody>
      </p:sp>
    </p:spTree>
    <p:extLst>
      <p:ext uri="{BB962C8B-B14F-4D97-AF65-F5344CB8AC3E}">
        <p14:creationId xmlns:p14="http://schemas.microsoft.com/office/powerpoint/2010/main" val="13087550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200150"/>
            <a:ext cx="8069448" cy="3257550"/>
          </a:xfrm>
        </p:spPr>
        <p:txBody>
          <a:bodyPr>
            <a:noAutofit/>
          </a:bodyPr>
          <a:lstStyle/>
          <a:p>
            <a:pPr>
              <a:spcBef>
                <a:spcPct val="60000"/>
              </a:spcBef>
              <a:buClr>
                <a:srgbClr val="005C96"/>
              </a:buClr>
              <a:defRPr/>
            </a:pPr>
            <a:r>
              <a:rPr lang="en-US" sz="2000" b="0" dirty="0">
                <a:solidFill>
                  <a:schemeClr val="tx1"/>
                </a:solidFill>
              </a:rPr>
              <a:t>The views and opinions in this presentation are those of the presenter and do not necessarily reflect the position of Ellucian.</a:t>
            </a:r>
            <a:endParaRPr lang="en-US" sz="2000" dirty="0">
              <a:solidFill>
                <a:schemeClr val="tx1"/>
              </a:solidFill>
            </a:endParaRPr>
          </a:p>
        </p:txBody>
      </p:sp>
      <p:sp>
        <p:nvSpPr>
          <p:cNvPr id="2" name="Title 1"/>
          <p:cNvSpPr>
            <a:spLocks noGrp="1"/>
          </p:cNvSpPr>
          <p:nvPr>
            <p:ph type="title"/>
          </p:nvPr>
        </p:nvSpPr>
        <p:spPr/>
        <p:txBody>
          <a:bodyPr/>
          <a:lstStyle/>
          <a:p>
            <a:r>
              <a:rPr lang="en-US" dirty="0"/>
              <a:t>Disclaimer</a:t>
            </a:r>
          </a:p>
        </p:txBody>
      </p:sp>
      <p:sp>
        <p:nvSpPr>
          <p:cNvPr id="5" name="Slide Number Placeholder 4"/>
          <p:cNvSpPr>
            <a:spLocks noGrp="1"/>
          </p:cNvSpPr>
          <p:nvPr>
            <p:ph type="sldNum" sz="quarter" idx="4"/>
          </p:nvPr>
        </p:nvSpPr>
        <p:spPr/>
        <p:txBody>
          <a:bodyPr/>
          <a:lstStyle/>
          <a:p>
            <a:fld id="{40A085A0-3A3D-6540-B0AC-0588E66301FB}" type="slidenum">
              <a:rPr lang="en-US" smtClean="0"/>
              <a:pPr/>
              <a:t>2</a:t>
            </a:fld>
            <a:endParaRPr lang="en-US" dirty="0"/>
          </a:p>
        </p:txBody>
      </p:sp>
    </p:spTree>
    <p:extLst>
      <p:ext uri="{BB962C8B-B14F-4D97-AF65-F5344CB8AC3E}">
        <p14:creationId xmlns:p14="http://schemas.microsoft.com/office/powerpoint/2010/main" val="144039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1"/>
          </p:nvPr>
        </p:nvSpPr>
        <p:spPr/>
        <p:txBody>
          <a:bodyPr/>
          <a:lstStyle/>
          <a:p>
            <a:pPr marL="342900" indent="-342900">
              <a:spcBef>
                <a:spcPts val="2000"/>
              </a:spcBef>
              <a:buFont typeface="Arial"/>
              <a:buChar char="•"/>
            </a:pPr>
            <a:r>
              <a:rPr lang="en-US" dirty="0" smtClean="0"/>
              <a:t>Learn about the tables in the Degree Works database</a:t>
            </a:r>
          </a:p>
          <a:p>
            <a:pPr marL="342900" indent="-342900">
              <a:spcBef>
                <a:spcPts val="2000"/>
              </a:spcBef>
              <a:buFont typeface="Arial"/>
              <a:buChar char="•"/>
            </a:pPr>
            <a:r>
              <a:rPr lang="en-US" dirty="0"/>
              <a:t>Introduce reporting out Degree Works data</a:t>
            </a:r>
          </a:p>
          <a:p>
            <a:pPr>
              <a:spcBef>
                <a:spcPts val="2000"/>
              </a:spcBef>
            </a:pPr>
            <a:endParaRPr lang="en-US" dirty="0"/>
          </a:p>
        </p:txBody>
      </p:sp>
      <p:sp>
        <p:nvSpPr>
          <p:cNvPr id="2" name="Title 1"/>
          <p:cNvSpPr>
            <a:spLocks noGrp="1"/>
          </p:cNvSpPr>
          <p:nvPr>
            <p:ph type="title"/>
          </p:nvPr>
        </p:nvSpPr>
        <p:spPr/>
        <p:txBody>
          <a:bodyPr/>
          <a:lstStyle/>
          <a:p>
            <a:r>
              <a:rPr lang="en-US" dirty="0"/>
              <a:t>Introduction</a:t>
            </a:r>
          </a:p>
        </p:txBody>
      </p:sp>
      <p:sp>
        <p:nvSpPr>
          <p:cNvPr id="3" name="Slide Number Placeholder 2"/>
          <p:cNvSpPr>
            <a:spLocks noGrp="1"/>
          </p:cNvSpPr>
          <p:nvPr>
            <p:ph type="sldNum" sz="quarter" idx="4"/>
          </p:nvPr>
        </p:nvSpPr>
        <p:spPr/>
        <p:txBody>
          <a:bodyPr/>
          <a:lstStyle/>
          <a:p>
            <a:fld id="{40A085A0-3A3D-6540-B0AC-0588E66301FB}" type="slidenum">
              <a:rPr lang="en-US" smtClean="0"/>
              <a:pPr/>
              <a:t>3</a:t>
            </a:fld>
            <a:endParaRPr lang="en-US" dirty="0"/>
          </a:p>
        </p:txBody>
      </p:sp>
    </p:spTree>
    <p:extLst>
      <p:ext uri="{BB962C8B-B14F-4D97-AF65-F5344CB8AC3E}">
        <p14:creationId xmlns:p14="http://schemas.microsoft.com/office/powerpoint/2010/main" val="21703695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Familiar with a database and related terms</a:t>
            </a:r>
          </a:p>
          <a:p>
            <a:pPr marL="285750" indent="-285750">
              <a:buFont typeface="Arial" panose="020B0604020202020204" pitchFamily="34" charset="0"/>
              <a:buChar char="•"/>
            </a:pPr>
            <a:r>
              <a:rPr lang="en-US" dirty="0" smtClean="0"/>
              <a:t>Some experience querying data</a:t>
            </a:r>
          </a:p>
          <a:p>
            <a:pPr marL="285750" indent="-285750">
              <a:buFont typeface="Arial" panose="020B0604020202020204" pitchFamily="34" charset="0"/>
              <a:buChar char="•"/>
            </a:pPr>
            <a:r>
              <a:rPr lang="en-US" dirty="0" smtClean="0"/>
              <a:t>Have query access to all DW tables</a:t>
            </a:r>
            <a:endParaRPr lang="en-US" dirty="0"/>
          </a:p>
        </p:txBody>
      </p:sp>
      <p:sp>
        <p:nvSpPr>
          <p:cNvPr id="3" name="Title 2"/>
          <p:cNvSpPr>
            <a:spLocks noGrp="1"/>
          </p:cNvSpPr>
          <p:nvPr>
            <p:ph type="title"/>
          </p:nvPr>
        </p:nvSpPr>
        <p:spPr/>
        <p:txBody>
          <a:bodyPr/>
          <a:lstStyle/>
          <a:p>
            <a:r>
              <a:rPr lang="en-US" dirty="0" smtClean="0"/>
              <a:t>Assumptions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a:t>
            </a:fld>
            <a:endParaRPr lang="en-US" dirty="0"/>
          </a:p>
        </p:txBody>
      </p:sp>
    </p:spTree>
    <p:extLst>
      <p:ext uri="{BB962C8B-B14F-4D97-AF65-F5344CB8AC3E}">
        <p14:creationId xmlns:p14="http://schemas.microsoft.com/office/powerpoint/2010/main" val="5894387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Examples are general and not comprehensive</a:t>
            </a:r>
          </a:p>
          <a:p>
            <a:pPr marL="285750" indent="-285750">
              <a:buFont typeface="Arial" panose="020B0604020202020204" pitchFamily="34" charset="0"/>
              <a:buChar char="•"/>
            </a:pPr>
            <a:r>
              <a:rPr lang="en-US" dirty="0" smtClean="0"/>
              <a:t>SQL needs to be localized to your environment</a:t>
            </a:r>
          </a:p>
          <a:p>
            <a:pPr marL="285750" indent="-285750">
              <a:buFont typeface="Arial" panose="020B0604020202020204" pitchFamily="34" charset="0"/>
              <a:buChar char="•"/>
            </a:pPr>
            <a:endParaRPr lang="en-US" dirty="0"/>
          </a:p>
        </p:txBody>
      </p:sp>
      <p:sp>
        <p:nvSpPr>
          <p:cNvPr id="3" name="Title 2"/>
          <p:cNvSpPr>
            <a:spLocks noGrp="1"/>
          </p:cNvSpPr>
          <p:nvPr>
            <p:ph type="title"/>
          </p:nvPr>
        </p:nvSpPr>
        <p:spPr/>
        <p:txBody>
          <a:bodyPr/>
          <a:lstStyle/>
          <a:p>
            <a:r>
              <a:rPr lang="en-US" dirty="0" smtClean="0"/>
              <a:t>Important Notes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a:t>
            </a:fld>
            <a:endParaRPr lang="en-US" dirty="0"/>
          </a:p>
        </p:txBody>
      </p:sp>
    </p:spTree>
    <p:extLst>
      <p:ext uri="{BB962C8B-B14F-4D97-AF65-F5344CB8AC3E}">
        <p14:creationId xmlns:p14="http://schemas.microsoft.com/office/powerpoint/2010/main" val="1702316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Slide Number Placeholder 2"/>
          <p:cNvSpPr>
            <a:spLocks noGrp="1"/>
          </p:cNvSpPr>
          <p:nvPr>
            <p:ph type="sldNum" sz="quarter" idx="4"/>
          </p:nvPr>
        </p:nvSpPr>
        <p:spPr/>
        <p:txBody>
          <a:bodyPr/>
          <a:lstStyle/>
          <a:p>
            <a:fld id="{40A085A0-3A3D-6540-B0AC-0588E66301FB}" type="slidenum">
              <a:rPr lang="en-US" smtClean="0"/>
              <a:pPr/>
              <a:t>6</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459057523"/>
              </p:ext>
            </p:extLst>
          </p:nvPr>
        </p:nvGraphicFramePr>
        <p:xfrm>
          <a:off x="457202" y="987656"/>
          <a:ext cx="6996553" cy="3108710"/>
        </p:xfrm>
        <a:graphic>
          <a:graphicData uri="http://schemas.openxmlformats.org/drawingml/2006/table">
            <a:tbl>
              <a:tblPr firstRow="1" bandRow="1">
                <a:tableStyleId>{5C22544A-7EE6-4342-B048-85BDC9FD1C3A}</a:tableStyleId>
              </a:tblPr>
              <a:tblGrid>
                <a:gridCol w="483008">
                  <a:extLst>
                    <a:ext uri="{9D8B030D-6E8A-4147-A177-3AD203B41FA5}">
                      <a16:colId xmlns:a16="http://schemas.microsoft.com/office/drawing/2014/main" val="20000"/>
                    </a:ext>
                  </a:extLst>
                </a:gridCol>
                <a:gridCol w="6513545">
                  <a:extLst>
                    <a:ext uri="{9D8B030D-6E8A-4147-A177-3AD203B41FA5}">
                      <a16:colId xmlns:a16="http://schemas.microsoft.com/office/drawing/2014/main" val="20001"/>
                    </a:ext>
                  </a:extLst>
                </a:gridCol>
              </a:tblGrid>
              <a:tr h="621742">
                <a:tc>
                  <a:txBody>
                    <a:bodyPr/>
                    <a:lstStyle/>
                    <a:p>
                      <a:r>
                        <a:rPr lang="en-US" sz="2300" b="1" kern="1200" dirty="0">
                          <a:solidFill>
                            <a:schemeClr val="accent2"/>
                          </a:solidFill>
                          <a:latin typeface="Arial"/>
                          <a:ea typeface="+mn-ea"/>
                          <a:cs typeface="Arial"/>
                        </a:rPr>
                        <a:t>1</a:t>
                      </a:r>
                    </a:p>
                  </a:txBody>
                  <a:tcPr anchor="b">
                    <a:lnL w="12700" cmpd="sng">
                      <a:noFill/>
                    </a:lnL>
                    <a:lnR w="12700" cmpd="sng">
                      <a:noFill/>
                    </a:lnR>
                    <a:lnT w="12700" cmpd="sng">
                      <a:noFill/>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smtClean="0">
                          <a:solidFill>
                            <a:srgbClr val="414042"/>
                          </a:solidFill>
                          <a:latin typeface="Arial"/>
                          <a:ea typeface="+mn-ea"/>
                          <a:cs typeface="Arial"/>
                        </a:rPr>
                        <a:t>About Old Dominion University</a:t>
                      </a:r>
                      <a:endParaRPr lang="en-US" sz="1500" b="0" kern="1200" dirty="0">
                        <a:solidFill>
                          <a:srgbClr val="414042"/>
                        </a:solidFill>
                        <a:latin typeface="Arial"/>
                        <a:ea typeface="+mn-ea"/>
                        <a:cs typeface="Arial"/>
                      </a:endParaRPr>
                    </a:p>
                  </a:txBody>
                  <a:tcPr marB="73152" anchor="b">
                    <a:lnL w="12700" cmpd="sng">
                      <a:noFill/>
                    </a:lnL>
                    <a:lnR w="12700" cmpd="sng">
                      <a:noFill/>
                    </a:lnR>
                    <a:lnT w="12700" cmpd="sng">
                      <a:noFill/>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21742">
                <a:tc>
                  <a:txBody>
                    <a:bodyPr/>
                    <a:lstStyle/>
                    <a:p>
                      <a:r>
                        <a:rPr lang="en-US" sz="2300" b="1" kern="1200" dirty="0">
                          <a:solidFill>
                            <a:schemeClr val="accent2"/>
                          </a:solidFill>
                          <a:latin typeface="Arial"/>
                          <a:ea typeface="+mn-ea"/>
                          <a:cs typeface="Arial"/>
                        </a:rPr>
                        <a:t>2</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smtClean="0">
                          <a:solidFill>
                            <a:srgbClr val="414042"/>
                          </a:solidFill>
                          <a:latin typeface="Arial"/>
                          <a:ea typeface="+mn-ea"/>
                          <a:cs typeface="Arial"/>
                        </a:rPr>
                        <a:t>About the Tables</a:t>
                      </a:r>
                      <a:endParaRPr lang="en-US" sz="1500" b="0" kern="1200" dirty="0">
                        <a:solidFill>
                          <a:srgbClr val="414042"/>
                        </a:solidFill>
                        <a:latin typeface="Arial"/>
                        <a:ea typeface="+mn-ea"/>
                        <a:cs typeface="Arial"/>
                      </a:endParaRP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21742">
                <a:tc>
                  <a:txBody>
                    <a:bodyPr/>
                    <a:lstStyle/>
                    <a:p>
                      <a:r>
                        <a:rPr lang="en-US" sz="2300" b="1" kern="1200" dirty="0">
                          <a:solidFill>
                            <a:schemeClr val="accent2"/>
                          </a:solidFill>
                          <a:latin typeface="Arial"/>
                          <a:ea typeface="+mn-ea"/>
                          <a:cs typeface="Arial"/>
                        </a:rPr>
                        <a:t>3</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smtClean="0">
                          <a:solidFill>
                            <a:srgbClr val="414042"/>
                          </a:solidFill>
                          <a:latin typeface="Arial"/>
                          <a:ea typeface="+mn-ea"/>
                          <a:cs typeface="Arial"/>
                        </a:rPr>
                        <a:t>General</a:t>
                      </a:r>
                      <a:r>
                        <a:rPr lang="en-US" sz="1500" b="0" kern="1200" baseline="0" dirty="0" smtClean="0">
                          <a:solidFill>
                            <a:srgbClr val="414042"/>
                          </a:solidFill>
                          <a:latin typeface="Arial"/>
                          <a:ea typeface="+mn-ea"/>
                          <a:cs typeface="Arial"/>
                        </a:rPr>
                        <a:t> Student Data</a:t>
                      </a:r>
                      <a:endParaRPr lang="en-US" sz="1500" b="0" kern="1200" dirty="0">
                        <a:solidFill>
                          <a:srgbClr val="414042"/>
                        </a:solidFill>
                        <a:latin typeface="Arial"/>
                        <a:ea typeface="+mn-ea"/>
                        <a:cs typeface="Arial"/>
                      </a:endParaRP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21742">
                <a:tc>
                  <a:txBody>
                    <a:bodyPr/>
                    <a:lstStyle/>
                    <a:p>
                      <a:r>
                        <a:rPr lang="en-US" sz="2300" b="1" kern="1200" dirty="0">
                          <a:solidFill>
                            <a:schemeClr val="accent2"/>
                          </a:solidFill>
                          <a:latin typeface="Arial"/>
                          <a:ea typeface="+mn-ea"/>
                          <a:cs typeface="Arial"/>
                        </a:rPr>
                        <a:t>4</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kern="1200" dirty="0" smtClean="0">
                          <a:solidFill>
                            <a:srgbClr val="414042"/>
                          </a:solidFill>
                          <a:latin typeface="Arial"/>
                          <a:ea typeface="+mn-ea"/>
                          <a:cs typeface="Arial"/>
                        </a:rPr>
                        <a:t>Course</a:t>
                      </a:r>
                      <a:r>
                        <a:rPr lang="en-US" sz="1500" b="0" kern="1200" baseline="0" dirty="0" smtClean="0">
                          <a:solidFill>
                            <a:srgbClr val="414042"/>
                          </a:solidFill>
                          <a:latin typeface="Arial"/>
                          <a:ea typeface="+mn-ea"/>
                          <a:cs typeface="Arial"/>
                        </a:rPr>
                        <a:t> Planning with SEP</a:t>
                      </a:r>
                      <a:endParaRPr lang="en-US" sz="1500" b="0" kern="1200" dirty="0">
                        <a:solidFill>
                          <a:srgbClr val="414042"/>
                        </a:solidFill>
                        <a:latin typeface="Arial"/>
                        <a:ea typeface="+mn-ea"/>
                        <a:cs typeface="Arial"/>
                      </a:endParaRP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2174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300" b="1" kern="1200" dirty="0">
                          <a:solidFill>
                            <a:schemeClr val="accent2"/>
                          </a:solidFill>
                          <a:latin typeface="Arial"/>
                          <a:ea typeface="+mn-ea"/>
                          <a:cs typeface="Arial"/>
                        </a:rPr>
                        <a:t>5</a:t>
                      </a:r>
                    </a:p>
                  </a:txBody>
                  <a:tcPr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500" b="0" kern="1200" dirty="0" smtClean="0">
                          <a:solidFill>
                            <a:srgbClr val="414042"/>
                          </a:solidFill>
                          <a:latin typeface="Arial"/>
                          <a:ea typeface="+mn-ea"/>
                          <a:cs typeface="Arial"/>
                        </a:rPr>
                        <a:t>Graduation and Missing Requirements</a:t>
                      </a:r>
                      <a:endParaRPr lang="en-US" sz="1500" b="0" kern="1200" dirty="0">
                        <a:solidFill>
                          <a:srgbClr val="414042"/>
                        </a:solidFill>
                        <a:latin typeface="Arial"/>
                        <a:ea typeface="+mn-ea"/>
                        <a:cs typeface="Arial"/>
                      </a:endParaRPr>
                    </a:p>
                  </a:txBody>
                  <a:tcPr marB="73152" anchor="b">
                    <a:lnL w="12700" cmpd="sng">
                      <a:noFill/>
                    </a:lnL>
                    <a:lnR w="12700" cmpd="sng">
                      <a:noFill/>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65552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b"/>
          <a:lstStyle/>
          <a:p>
            <a:r>
              <a:rPr lang="en-US" dirty="0" smtClean="0">
                <a:solidFill>
                  <a:schemeClr val="accent4"/>
                </a:solidFill>
              </a:rPr>
              <a:t>About Old Dominion University</a:t>
            </a:r>
            <a:endParaRPr lang="en-US" dirty="0">
              <a:solidFill>
                <a:schemeClr val="accent4"/>
              </a:solidFill>
            </a:endParaRPr>
          </a:p>
        </p:txBody>
      </p:sp>
      <p:sp>
        <p:nvSpPr>
          <p:cNvPr id="6" name="Subtitle 5"/>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1425121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a:normAutofit/>
          </a:bodyPr>
          <a:lstStyle/>
          <a:p>
            <a:pPr marL="285750" indent="-285750">
              <a:buFont typeface="Arial" panose="020B0604020202020204" pitchFamily="34" charset="0"/>
              <a:buChar char="•"/>
            </a:pPr>
            <a:r>
              <a:rPr lang="en-US" dirty="0"/>
              <a:t>22,000 students</a:t>
            </a:r>
          </a:p>
          <a:p>
            <a:pPr marL="285750" indent="-285750">
              <a:buFont typeface="Arial" panose="020B0604020202020204" pitchFamily="34" charset="0"/>
              <a:buChar char="•"/>
            </a:pPr>
            <a:r>
              <a:rPr lang="en-US" dirty="0"/>
              <a:t>274 programs (bachelor, post-bac, master, doctoral, certificate)</a:t>
            </a:r>
          </a:p>
          <a:p>
            <a:pPr marL="285750" indent="-285750">
              <a:buFont typeface="Arial" panose="020B0604020202020204" pitchFamily="34" charset="0"/>
              <a:buChar char="•"/>
            </a:pPr>
            <a:r>
              <a:rPr lang="en-US" dirty="0"/>
              <a:t>3 Degree Works </a:t>
            </a:r>
            <a:r>
              <a:rPr lang="en-US" dirty="0" smtClean="0"/>
              <a:t>Staff</a:t>
            </a:r>
          </a:p>
          <a:p>
            <a:pPr marL="285750" indent="-285750">
              <a:buFont typeface="Arial" panose="020B0604020202020204" pitchFamily="34" charset="0"/>
              <a:buChar char="•"/>
            </a:pPr>
            <a:r>
              <a:rPr lang="en-US" dirty="0" smtClean="0"/>
              <a:t>Live </a:t>
            </a:r>
            <a:r>
              <a:rPr lang="en-US" dirty="0"/>
              <a:t>since 2009</a:t>
            </a:r>
          </a:p>
          <a:p>
            <a:pPr marL="285750" indent="-285750">
              <a:buFont typeface="Arial" panose="020B0604020202020204" pitchFamily="34" charset="0"/>
              <a:buChar char="•"/>
            </a:pPr>
            <a:r>
              <a:rPr lang="en-US" dirty="0"/>
              <a:t>Version 4.1.6</a:t>
            </a:r>
          </a:p>
          <a:p>
            <a:pPr marL="285750" indent="-285750">
              <a:spcBef>
                <a:spcPts val="2000"/>
              </a:spcBef>
              <a:buFont typeface="Arial" panose="020B0604020202020204" pitchFamily="34" charset="0"/>
              <a:buChar char="•"/>
            </a:pPr>
            <a:r>
              <a:rPr lang="en-US" dirty="0" smtClean="0"/>
              <a:t>Use MS Access for reporting</a:t>
            </a:r>
            <a:endParaRPr lang="en-US" dirty="0"/>
          </a:p>
        </p:txBody>
      </p:sp>
      <p:sp>
        <p:nvSpPr>
          <p:cNvPr id="2" name="Title 1"/>
          <p:cNvSpPr>
            <a:spLocks noGrp="1"/>
          </p:cNvSpPr>
          <p:nvPr>
            <p:ph type="title"/>
          </p:nvPr>
        </p:nvSpPr>
        <p:spPr/>
        <p:txBody>
          <a:bodyPr/>
          <a:lstStyle/>
          <a:p>
            <a:r>
              <a:rPr lang="en-US" dirty="0" smtClean="0"/>
              <a:t>About Old Dominion University</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a:t>
            </a:fld>
            <a:endParaRPr lang="en-US" dirty="0"/>
          </a:p>
        </p:txBody>
      </p:sp>
    </p:spTree>
    <p:extLst>
      <p:ext uri="{BB962C8B-B14F-4D97-AF65-F5344CB8AC3E}">
        <p14:creationId xmlns:p14="http://schemas.microsoft.com/office/powerpoint/2010/main" val="1609695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About the Tables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11552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CPA – Curriculum Planning Assistant</a:t>
            </a:r>
          </a:p>
          <a:p>
            <a:pPr marL="285750" indent="-285750">
              <a:buFont typeface="Arial" panose="020B0604020202020204" pitchFamily="34" charset="0"/>
              <a:buChar char="•"/>
            </a:pPr>
            <a:r>
              <a:rPr lang="en-US" dirty="0" smtClean="0"/>
              <a:t>DAP – Degree Audit</a:t>
            </a:r>
          </a:p>
          <a:p>
            <a:pPr marL="285750" indent="-285750">
              <a:buFont typeface="Arial" panose="020B0604020202020204" pitchFamily="34" charset="0"/>
              <a:buChar char="•"/>
            </a:pPr>
            <a:r>
              <a:rPr lang="en-US" dirty="0" smtClean="0"/>
              <a:t>RAD – Academic Data from SIS</a:t>
            </a:r>
          </a:p>
          <a:p>
            <a:pPr marL="285750" indent="-285750">
              <a:buFont typeface="Arial" panose="020B0604020202020204" pitchFamily="34" charset="0"/>
              <a:buChar char="•"/>
            </a:pPr>
            <a:r>
              <a:rPr lang="en-US" dirty="0" smtClean="0"/>
              <a:t>SEP – Student Educational Planner</a:t>
            </a:r>
          </a:p>
          <a:p>
            <a:r>
              <a:rPr lang="en-US" dirty="0" smtClean="0"/>
              <a:t>Not Covered</a:t>
            </a:r>
          </a:p>
          <a:p>
            <a:pPr marL="285750" indent="-285750">
              <a:buFont typeface="Arial" panose="020B0604020202020204" pitchFamily="34" charset="0"/>
              <a:buChar char="•"/>
            </a:pPr>
            <a:r>
              <a:rPr lang="en-US" dirty="0" smtClean="0"/>
              <a:t>SHP – Shepard Settings</a:t>
            </a:r>
          </a:p>
          <a:p>
            <a:pPr marL="285750" indent="-285750">
              <a:buFont typeface="Arial" panose="020B0604020202020204" pitchFamily="34" charset="0"/>
              <a:buChar char="•"/>
            </a:pPr>
            <a:r>
              <a:rPr lang="en-US" dirty="0" smtClean="0"/>
              <a:t>UCX – </a:t>
            </a:r>
            <a:r>
              <a:rPr lang="en-US" dirty="0" err="1" smtClean="0"/>
              <a:t>SureCode</a:t>
            </a:r>
            <a:r>
              <a:rPr lang="en-US" dirty="0" smtClean="0"/>
              <a:t> Settings</a:t>
            </a:r>
            <a:endParaRPr lang="en-US" dirty="0"/>
          </a:p>
        </p:txBody>
      </p:sp>
      <p:sp>
        <p:nvSpPr>
          <p:cNvPr id="3" name="Title 2"/>
          <p:cNvSpPr>
            <a:spLocks noGrp="1"/>
          </p:cNvSpPr>
          <p:nvPr>
            <p:ph type="title"/>
          </p:nvPr>
        </p:nvSpPr>
        <p:spPr/>
        <p:txBody>
          <a:bodyPr/>
          <a:lstStyle/>
          <a:p>
            <a:r>
              <a:rPr lang="en-US" dirty="0" smtClean="0"/>
              <a:t>Types of Tables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10</a:t>
            </a:fld>
            <a:endParaRPr lang="en-US" dirty="0"/>
          </a:p>
        </p:txBody>
      </p:sp>
    </p:spTree>
    <p:extLst>
      <p:ext uri="{BB962C8B-B14F-4D97-AF65-F5344CB8AC3E}">
        <p14:creationId xmlns:p14="http://schemas.microsoft.com/office/powerpoint/2010/main" val="26365766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Can be set to</a:t>
            </a:r>
            <a:br>
              <a:rPr lang="en-US" dirty="0" smtClean="0"/>
            </a:br>
            <a:r>
              <a:rPr lang="en-US" dirty="0" smtClean="0"/>
              <a:t>populate nightly</a:t>
            </a:r>
          </a:p>
          <a:p>
            <a:pPr marL="285750" indent="-285750">
              <a:buFont typeface="Arial" panose="020B0604020202020204" pitchFamily="34" charset="0"/>
              <a:buChar char="•"/>
            </a:pPr>
            <a:r>
              <a:rPr lang="en-US" dirty="0" smtClean="0"/>
              <a:t>Also populated by </a:t>
            </a:r>
            <a:br>
              <a:rPr lang="en-US" dirty="0" smtClean="0"/>
            </a:br>
            <a:r>
              <a:rPr lang="en-US" dirty="0" smtClean="0"/>
              <a:t>DAP22 job in </a:t>
            </a:r>
            <a:br>
              <a:rPr lang="en-US" dirty="0" smtClean="0"/>
            </a:br>
            <a:r>
              <a:rPr lang="en-US" dirty="0" smtClean="0"/>
              <a:t>Transit</a:t>
            </a:r>
          </a:p>
          <a:p>
            <a:pPr marL="285750" indent="-285750">
              <a:buFont typeface="Arial" panose="020B0604020202020204" pitchFamily="34" charset="0"/>
              <a:buChar char="•"/>
            </a:pPr>
            <a:r>
              <a:rPr lang="en-US" dirty="0" smtClean="0"/>
              <a:t>Can take a long</a:t>
            </a:r>
            <a:br>
              <a:rPr lang="en-US" dirty="0" smtClean="0"/>
            </a:br>
            <a:r>
              <a:rPr lang="en-US" dirty="0" smtClean="0"/>
              <a:t>time to run</a:t>
            </a:r>
          </a:p>
        </p:txBody>
      </p:sp>
      <p:sp>
        <p:nvSpPr>
          <p:cNvPr id="3" name="Title 2"/>
          <p:cNvSpPr>
            <a:spLocks noGrp="1"/>
          </p:cNvSpPr>
          <p:nvPr>
            <p:ph type="title"/>
          </p:nvPr>
        </p:nvSpPr>
        <p:spPr/>
        <p:txBody>
          <a:bodyPr/>
          <a:lstStyle/>
          <a:p>
            <a:r>
              <a:rPr lang="en-US" dirty="0" smtClean="0"/>
              <a:t>CPA and DAP Data</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11</a:t>
            </a:fld>
            <a:endParaRPr lang="en-US" dirty="0"/>
          </a:p>
        </p:txBody>
      </p:sp>
      <p:pic>
        <p:nvPicPr>
          <p:cNvPr id="8" name="Picture 7"/>
          <p:cNvPicPr>
            <a:picLocks noChangeAspect="1"/>
          </p:cNvPicPr>
          <p:nvPr/>
        </p:nvPicPr>
        <p:blipFill>
          <a:blip r:embed="rId3"/>
          <a:stretch>
            <a:fillRect/>
          </a:stretch>
        </p:blipFill>
        <p:spPr>
          <a:xfrm>
            <a:off x="2774238" y="957966"/>
            <a:ext cx="4756862" cy="3566160"/>
          </a:xfrm>
          <a:prstGeom prst="rect">
            <a:avLst/>
          </a:prstGeom>
        </p:spPr>
      </p:pic>
    </p:spTree>
    <p:extLst>
      <p:ext uri="{BB962C8B-B14F-4D97-AF65-F5344CB8AC3E}">
        <p14:creationId xmlns:p14="http://schemas.microsoft.com/office/powerpoint/2010/main" val="4809424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Does not overwrite existing data</a:t>
            </a:r>
          </a:p>
          <a:p>
            <a:pPr marL="285750" indent="-285750">
              <a:buFont typeface="Arial" panose="020B0604020202020204" pitchFamily="34" charset="0"/>
              <a:buChar char="•"/>
            </a:pPr>
            <a:r>
              <a:rPr lang="en-US" dirty="0" smtClean="0"/>
              <a:t>Can get very large </a:t>
            </a:r>
          </a:p>
          <a:p>
            <a:pPr marL="285750" indent="-285750">
              <a:buFont typeface="Arial" panose="020B0604020202020204" pitchFamily="34" charset="0"/>
              <a:buChar char="•"/>
            </a:pPr>
            <a:r>
              <a:rPr lang="en-US" dirty="0" smtClean="0"/>
              <a:t>Safe to truncate</a:t>
            </a:r>
            <a:endParaRPr lang="en-US" dirty="0"/>
          </a:p>
        </p:txBody>
      </p:sp>
      <p:sp>
        <p:nvSpPr>
          <p:cNvPr id="3" name="Title 2"/>
          <p:cNvSpPr>
            <a:spLocks noGrp="1"/>
          </p:cNvSpPr>
          <p:nvPr>
            <p:ph type="title"/>
          </p:nvPr>
        </p:nvSpPr>
        <p:spPr/>
        <p:txBody>
          <a:bodyPr/>
          <a:lstStyle/>
          <a:p>
            <a:r>
              <a:rPr lang="en-US" dirty="0" smtClean="0"/>
              <a:t>CPA and DAP Data</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12</a:t>
            </a:fld>
            <a:endParaRPr lang="en-US" dirty="0"/>
          </a:p>
        </p:txBody>
      </p:sp>
      <p:pic>
        <p:nvPicPr>
          <p:cNvPr id="6" name="Picture 5"/>
          <p:cNvPicPr>
            <a:picLocks noChangeAspect="1"/>
          </p:cNvPicPr>
          <p:nvPr/>
        </p:nvPicPr>
        <p:blipFill>
          <a:blip r:embed="rId3"/>
          <a:stretch>
            <a:fillRect/>
          </a:stretch>
        </p:blipFill>
        <p:spPr>
          <a:xfrm>
            <a:off x="2961169" y="1662113"/>
            <a:ext cx="1181265" cy="400106"/>
          </a:xfrm>
          <a:prstGeom prst="rect">
            <a:avLst/>
          </a:prstGeom>
        </p:spPr>
      </p:pic>
    </p:spTree>
    <p:extLst>
      <p:ext uri="{BB962C8B-B14F-4D97-AF65-F5344CB8AC3E}">
        <p14:creationId xmlns:p14="http://schemas.microsoft.com/office/powerpoint/2010/main" val="206710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RAD tables are populated when data is bridged from the SIS</a:t>
            </a:r>
          </a:p>
          <a:p>
            <a:pPr marL="285750" indent="-285750">
              <a:buFont typeface="Arial" panose="020B0604020202020204" pitchFamily="34" charset="0"/>
              <a:buChar char="•"/>
            </a:pPr>
            <a:r>
              <a:rPr lang="en-US" dirty="0" smtClean="0"/>
              <a:t>SEP tables are populated when a change is made to the student’s plan on the dashboard</a:t>
            </a:r>
            <a:endParaRPr lang="en-US" dirty="0"/>
          </a:p>
        </p:txBody>
      </p:sp>
      <p:sp>
        <p:nvSpPr>
          <p:cNvPr id="3" name="Title 2"/>
          <p:cNvSpPr>
            <a:spLocks noGrp="1"/>
          </p:cNvSpPr>
          <p:nvPr>
            <p:ph type="title"/>
          </p:nvPr>
        </p:nvSpPr>
        <p:spPr/>
        <p:txBody>
          <a:bodyPr/>
          <a:lstStyle/>
          <a:p>
            <a:r>
              <a:rPr lang="en-US" dirty="0" smtClean="0"/>
              <a:t>RAD and SEP tables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13</a:t>
            </a:fld>
            <a:endParaRPr lang="en-US" dirty="0"/>
          </a:p>
        </p:txBody>
      </p:sp>
    </p:spTree>
    <p:extLst>
      <p:ext uri="{BB962C8B-B14F-4D97-AF65-F5344CB8AC3E}">
        <p14:creationId xmlns:p14="http://schemas.microsoft.com/office/powerpoint/2010/main" val="2892674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General Student Data</a:t>
            </a:r>
            <a:endParaRPr lang="en-US" dirty="0"/>
          </a:p>
        </p:txBody>
      </p:sp>
      <p:sp>
        <p:nvSpPr>
          <p:cNvPr id="3" name="Subtitle 2"/>
          <p:cNvSpPr>
            <a:spLocks noGrp="1"/>
          </p:cNvSpPr>
          <p:nvPr>
            <p:ph type="subTitle" idx="1"/>
          </p:nvPr>
        </p:nvSpPr>
        <p:spPr/>
        <p:txBody>
          <a:bodyPr/>
          <a:lstStyle/>
          <a:p>
            <a:r>
              <a:rPr lang="en-US" dirty="0" smtClean="0"/>
              <a:t>No, not SGASTDN</a:t>
            </a:r>
            <a:endParaRPr lang="en-US" dirty="0"/>
          </a:p>
        </p:txBody>
      </p:sp>
    </p:spTree>
    <p:extLst>
      <p:ext uri="{BB962C8B-B14F-4D97-AF65-F5344CB8AC3E}">
        <p14:creationId xmlns:p14="http://schemas.microsoft.com/office/powerpoint/2010/main" val="2061395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Can learn a lot about where data is from Student Data Report </a:t>
            </a:r>
            <a:endParaRPr lang="en-US" dirty="0"/>
          </a:p>
        </p:txBody>
      </p:sp>
      <p:sp>
        <p:nvSpPr>
          <p:cNvPr id="3" name="Title 2"/>
          <p:cNvSpPr>
            <a:spLocks noGrp="1"/>
          </p:cNvSpPr>
          <p:nvPr>
            <p:ph type="title"/>
          </p:nvPr>
        </p:nvSpPr>
        <p:spPr/>
        <p:txBody>
          <a:bodyPr/>
          <a:lstStyle/>
          <a:p>
            <a:r>
              <a:rPr lang="en-US" dirty="0" smtClean="0"/>
              <a:t>Student Data Report</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15</a:t>
            </a:fld>
            <a:endParaRPr lang="en-US" dirty="0"/>
          </a:p>
        </p:txBody>
      </p:sp>
      <p:pic>
        <p:nvPicPr>
          <p:cNvPr id="6" name="Picture 5"/>
          <p:cNvPicPr>
            <a:picLocks noChangeAspect="1"/>
          </p:cNvPicPr>
          <p:nvPr/>
        </p:nvPicPr>
        <p:blipFill>
          <a:blip r:embed="rId3"/>
          <a:stretch>
            <a:fillRect/>
          </a:stretch>
        </p:blipFill>
        <p:spPr>
          <a:xfrm>
            <a:off x="3162199" y="2053159"/>
            <a:ext cx="1448002" cy="1343212"/>
          </a:xfrm>
          <a:prstGeom prst="rect">
            <a:avLst/>
          </a:prstGeom>
        </p:spPr>
      </p:pic>
    </p:spTree>
    <p:extLst>
      <p:ext uri="{BB962C8B-B14F-4D97-AF65-F5344CB8AC3E}">
        <p14:creationId xmlns:p14="http://schemas.microsoft.com/office/powerpoint/2010/main" val="11800967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RAD_PRIMARY_MST</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16</a:t>
            </a:fld>
            <a:endParaRPr lang="en-US" dirty="0"/>
          </a:p>
        </p:txBody>
      </p:sp>
      <p:pic>
        <p:nvPicPr>
          <p:cNvPr id="6" name="Picture 5"/>
          <p:cNvPicPr>
            <a:picLocks noChangeAspect="1"/>
          </p:cNvPicPr>
          <p:nvPr/>
        </p:nvPicPr>
        <p:blipFill>
          <a:blip r:embed="rId3"/>
          <a:stretch>
            <a:fillRect/>
          </a:stretch>
        </p:blipFill>
        <p:spPr>
          <a:xfrm>
            <a:off x="0" y="1136650"/>
            <a:ext cx="9144000" cy="321036"/>
          </a:xfrm>
          <a:prstGeom prst="rect">
            <a:avLst/>
          </a:prstGeom>
        </p:spPr>
      </p:pic>
      <p:pic>
        <p:nvPicPr>
          <p:cNvPr id="7" name="Picture 6"/>
          <p:cNvPicPr>
            <a:picLocks noChangeAspect="1"/>
          </p:cNvPicPr>
          <p:nvPr/>
        </p:nvPicPr>
        <p:blipFill>
          <a:blip r:embed="rId4"/>
          <a:stretch>
            <a:fillRect/>
          </a:stretch>
        </p:blipFill>
        <p:spPr>
          <a:xfrm>
            <a:off x="3205163" y="1537107"/>
            <a:ext cx="1554480" cy="3338793"/>
          </a:xfrm>
          <a:prstGeom prst="rect">
            <a:avLst/>
          </a:prstGeom>
        </p:spPr>
      </p:pic>
    </p:spTree>
    <p:extLst>
      <p:ext uri="{BB962C8B-B14F-4D97-AF65-F5344CB8AC3E}">
        <p14:creationId xmlns:p14="http://schemas.microsoft.com/office/powerpoint/2010/main" val="11631431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RAD_GOAL_DTL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17</a:t>
            </a:fld>
            <a:endParaRPr lang="en-US" dirty="0"/>
          </a:p>
        </p:txBody>
      </p:sp>
      <p:pic>
        <p:nvPicPr>
          <p:cNvPr id="5" name="Picture 4"/>
          <p:cNvPicPr>
            <a:picLocks noChangeAspect="1"/>
          </p:cNvPicPr>
          <p:nvPr/>
        </p:nvPicPr>
        <p:blipFill>
          <a:blip r:embed="rId3"/>
          <a:stretch>
            <a:fillRect/>
          </a:stretch>
        </p:blipFill>
        <p:spPr>
          <a:xfrm>
            <a:off x="323850" y="1136650"/>
            <a:ext cx="8496300" cy="733425"/>
          </a:xfrm>
          <a:prstGeom prst="rect">
            <a:avLst/>
          </a:prstGeom>
        </p:spPr>
      </p:pic>
      <p:pic>
        <p:nvPicPr>
          <p:cNvPr id="6" name="Picture 5"/>
          <p:cNvPicPr>
            <a:picLocks noChangeAspect="1"/>
          </p:cNvPicPr>
          <p:nvPr/>
        </p:nvPicPr>
        <p:blipFill>
          <a:blip r:embed="rId4"/>
          <a:stretch>
            <a:fillRect/>
          </a:stretch>
        </p:blipFill>
        <p:spPr>
          <a:xfrm>
            <a:off x="2804865" y="2142985"/>
            <a:ext cx="3543795" cy="2000529"/>
          </a:xfrm>
          <a:prstGeom prst="rect">
            <a:avLst/>
          </a:prstGeom>
        </p:spPr>
      </p:pic>
    </p:spTree>
    <p:extLst>
      <p:ext uri="{BB962C8B-B14F-4D97-AF65-F5344CB8AC3E}">
        <p14:creationId xmlns:p14="http://schemas.microsoft.com/office/powerpoint/2010/main" val="21799279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RAD_GOALDATA_DTL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18</a:t>
            </a:fld>
            <a:endParaRPr lang="en-US" dirty="0"/>
          </a:p>
        </p:txBody>
      </p:sp>
      <p:pic>
        <p:nvPicPr>
          <p:cNvPr id="5" name="Picture 4"/>
          <p:cNvPicPr>
            <a:picLocks noChangeAspect="1"/>
          </p:cNvPicPr>
          <p:nvPr/>
        </p:nvPicPr>
        <p:blipFill>
          <a:blip r:embed="rId3"/>
          <a:stretch>
            <a:fillRect/>
          </a:stretch>
        </p:blipFill>
        <p:spPr>
          <a:xfrm>
            <a:off x="323850" y="981075"/>
            <a:ext cx="8496300" cy="2724150"/>
          </a:xfrm>
          <a:prstGeom prst="rect">
            <a:avLst/>
          </a:prstGeom>
        </p:spPr>
      </p:pic>
    </p:spTree>
    <p:extLst>
      <p:ext uri="{BB962C8B-B14F-4D97-AF65-F5344CB8AC3E}">
        <p14:creationId xmlns:p14="http://schemas.microsoft.com/office/powerpoint/2010/main" val="102577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RAD_GOALDATA_DTL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19</a:t>
            </a:fld>
            <a:endParaRPr lang="en-US" dirty="0"/>
          </a:p>
        </p:txBody>
      </p:sp>
      <p:pic>
        <p:nvPicPr>
          <p:cNvPr id="5" name="Picture 4"/>
          <p:cNvPicPr>
            <a:picLocks noChangeAspect="1"/>
          </p:cNvPicPr>
          <p:nvPr/>
        </p:nvPicPr>
        <p:blipFill>
          <a:blip r:embed="rId3"/>
          <a:stretch>
            <a:fillRect/>
          </a:stretch>
        </p:blipFill>
        <p:spPr>
          <a:xfrm>
            <a:off x="2800102" y="1299985"/>
            <a:ext cx="3543795" cy="2543530"/>
          </a:xfrm>
          <a:prstGeom prst="rect">
            <a:avLst/>
          </a:prstGeom>
        </p:spPr>
      </p:pic>
    </p:spTree>
    <p:extLst>
      <p:ext uri="{BB962C8B-B14F-4D97-AF65-F5344CB8AC3E}">
        <p14:creationId xmlns:p14="http://schemas.microsoft.com/office/powerpoint/2010/main" val="38866084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Which one to use?</a:t>
            </a:r>
          </a:p>
          <a:p>
            <a:r>
              <a:rPr lang="en-US" dirty="0" smtClean="0"/>
              <a:t>RAD_GOALDATA_DTL</a:t>
            </a:r>
            <a:endParaRPr lang="en-US" dirty="0"/>
          </a:p>
        </p:txBody>
      </p:sp>
      <p:sp>
        <p:nvSpPr>
          <p:cNvPr id="3" name="Title 2"/>
          <p:cNvSpPr>
            <a:spLocks noGrp="1"/>
          </p:cNvSpPr>
          <p:nvPr>
            <p:ph type="title"/>
          </p:nvPr>
        </p:nvSpPr>
        <p:spPr/>
        <p:txBody>
          <a:bodyPr/>
          <a:lstStyle/>
          <a:p>
            <a:r>
              <a:rPr lang="en-US" dirty="0" smtClean="0"/>
              <a:t>RAD_GOAL_DTL vs RAD_GOALDATA_DTL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20</a:t>
            </a:fld>
            <a:endParaRPr lang="en-US" dirty="0"/>
          </a:p>
        </p:txBody>
      </p:sp>
    </p:spTree>
    <p:extLst>
      <p:ext uri="{BB962C8B-B14F-4D97-AF65-F5344CB8AC3E}">
        <p14:creationId xmlns:p14="http://schemas.microsoft.com/office/powerpoint/2010/main" val="12489698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RAD_GOAL_DTL </a:t>
            </a:r>
          </a:p>
          <a:p>
            <a:pPr marL="285750" indent="-285750">
              <a:buFont typeface="Arial" panose="020B0604020202020204" pitchFamily="34" charset="0"/>
              <a:buChar char="•"/>
            </a:pPr>
            <a:r>
              <a:rPr lang="en-US" dirty="0"/>
              <a:t>Contains a limited amount of data</a:t>
            </a:r>
          </a:p>
          <a:p>
            <a:pPr marL="285750" indent="-285750">
              <a:buFont typeface="Arial" panose="020B0604020202020204" pitchFamily="34" charset="0"/>
              <a:buChar char="•"/>
            </a:pPr>
            <a:r>
              <a:rPr lang="en-US" dirty="0"/>
              <a:t>Repeats data found elsewhere</a:t>
            </a:r>
          </a:p>
          <a:p>
            <a:pPr marL="285750" indent="-285750">
              <a:buFont typeface="Arial" panose="020B0604020202020204" pitchFamily="34" charset="0"/>
              <a:buChar char="•"/>
            </a:pPr>
            <a:r>
              <a:rPr lang="en-US" dirty="0"/>
              <a:t>Does contain </a:t>
            </a:r>
            <a:r>
              <a:rPr lang="en-US" dirty="0" smtClean="0"/>
              <a:t>student level (classification)</a:t>
            </a:r>
            <a:endParaRPr lang="en-US" dirty="0"/>
          </a:p>
          <a:p>
            <a:endParaRPr lang="en-US" dirty="0"/>
          </a:p>
        </p:txBody>
      </p:sp>
      <p:sp>
        <p:nvSpPr>
          <p:cNvPr id="3" name="Title 2"/>
          <p:cNvSpPr>
            <a:spLocks noGrp="1"/>
          </p:cNvSpPr>
          <p:nvPr>
            <p:ph type="title"/>
          </p:nvPr>
        </p:nvSpPr>
        <p:spPr/>
        <p:txBody>
          <a:bodyPr/>
          <a:lstStyle/>
          <a:p>
            <a:r>
              <a:rPr lang="en-US" dirty="0"/>
              <a:t>RAD_GOAL_DTL vs RAD_GOALDATA_DTL</a:t>
            </a:r>
          </a:p>
        </p:txBody>
      </p:sp>
      <p:sp>
        <p:nvSpPr>
          <p:cNvPr id="4" name="Slide Number Placeholder 3"/>
          <p:cNvSpPr>
            <a:spLocks noGrp="1"/>
          </p:cNvSpPr>
          <p:nvPr>
            <p:ph type="sldNum" sz="quarter" idx="4"/>
          </p:nvPr>
        </p:nvSpPr>
        <p:spPr/>
        <p:txBody>
          <a:bodyPr/>
          <a:lstStyle/>
          <a:p>
            <a:fld id="{40A085A0-3A3D-6540-B0AC-0588E66301FB}" type="slidenum">
              <a:rPr lang="en-US" smtClean="0"/>
              <a:pPr/>
              <a:t>21</a:t>
            </a:fld>
            <a:endParaRPr lang="en-US" dirty="0"/>
          </a:p>
        </p:txBody>
      </p:sp>
    </p:spTree>
    <p:extLst>
      <p:ext uri="{BB962C8B-B14F-4D97-AF65-F5344CB8AC3E}">
        <p14:creationId xmlns:p14="http://schemas.microsoft.com/office/powerpoint/2010/main" val="375168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RAD_GOALDATA_DTL </a:t>
            </a:r>
            <a:endParaRPr lang="en-US" dirty="0"/>
          </a:p>
          <a:p>
            <a:pPr marL="285750" indent="-285750">
              <a:buFont typeface="Arial" panose="020B0604020202020204" pitchFamily="34" charset="0"/>
              <a:buChar char="•"/>
            </a:pPr>
            <a:r>
              <a:rPr lang="en-US" dirty="0"/>
              <a:t>Contains a </a:t>
            </a:r>
            <a:r>
              <a:rPr lang="en-US" dirty="0" smtClean="0"/>
              <a:t>many data points not found elsewhere</a:t>
            </a:r>
          </a:p>
          <a:p>
            <a:pPr marL="285750" indent="-285750">
              <a:buFont typeface="Arial" panose="020B0604020202020204" pitchFamily="34" charset="0"/>
              <a:buChar char="•"/>
            </a:pPr>
            <a:r>
              <a:rPr lang="en-US" dirty="0" smtClean="0"/>
              <a:t>Needs to be joined to itself to get a complete picture of student curriculum</a:t>
            </a:r>
            <a:endParaRPr lang="en-US" dirty="0"/>
          </a:p>
          <a:p>
            <a:endParaRPr lang="en-US" dirty="0"/>
          </a:p>
        </p:txBody>
      </p:sp>
      <p:sp>
        <p:nvSpPr>
          <p:cNvPr id="3" name="Title 2"/>
          <p:cNvSpPr>
            <a:spLocks noGrp="1"/>
          </p:cNvSpPr>
          <p:nvPr>
            <p:ph type="title"/>
          </p:nvPr>
        </p:nvSpPr>
        <p:spPr/>
        <p:txBody>
          <a:bodyPr/>
          <a:lstStyle/>
          <a:p>
            <a:r>
              <a:rPr lang="en-US" dirty="0"/>
              <a:t>RAD_GOAL_DTL vs RAD_GOALDATA_DTL</a:t>
            </a:r>
          </a:p>
        </p:txBody>
      </p:sp>
      <p:sp>
        <p:nvSpPr>
          <p:cNvPr id="4" name="Slide Number Placeholder 3"/>
          <p:cNvSpPr>
            <a:spLocks noGrp="1"/>
          </p:cNvSpPr>
          <p:nvPr>
            <p:ph type="sldNum" sz="quarter" idx="4"/>
          </p:nvPr>
        </p:nvSpPr>
        <p:spPr/>
        <p:txBody>
          <a:bodyPr/>
          <a:lstStyle/>
          <a:p>
            <a:fld id="{40A085A0-3A3D-6540-B0AC-0588E66301FB}" type="slidenum">
              <a:rPr lang="en-US" smtClean="0"/>
              <a:pPr/>
              <a:t>22</a:t>
            </a:fld>
            <a:endParaRPr lang="en-US" dirty="0"/>
          </a:p>
        </p:txBody>
      </p:sp>
    </p:spTree>
    <p:extLst>
      <p:ext uri="{BB962C8B-B14F-4D97-AF65-F5344CB8AC3E}">
        <p14:creationId xmlns:p14="http://schemas.microsoft.com/office/powerpoint/2010/main" val="30564711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RAD_GOALDATA_DTL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23</a:t>
            </a:fld>
            <a:endParaRPr lang="en-US" dirty="0"/>
          </a:p>
        </p:txBody>
      </p:sp>
      <p:pic>
        <p:nvPicPr>
          <p:cNvPr id="7" name="Picture 6"/>
          <p:cNvPicPr>
            <a:picLocks noChangeAspect="1"/>
          </p:cNvPicPr>
          <p:nvPr/>
        </p:nvPicPr>
        <p:blipFill>
          <a:blip r:embed="rId3"/>
          <a:stretch>
            <a:fillRect/>
          </a:stretch>
        </p:blipFill>
        <p:spPr>
          <a:xfrm>
            <a:off x="323850" y="981075"/>
            <a:ext cx="8496300" cy="2724150"/>
          </a:xfrm>
          <a:prstGeom prst="rect">
            <a:avLst/>
          </a:prstGeom>
        </p:spPr>
      </p:pic>
      <p:sp>
        <p:nvSpPr>
          <p:cNvPr id="8" name="Rectangle 7"/>
          <p:cNvSpPr/>
          <p:nvPr/>
        </p:nvSpPr>
        <p:spPr>
          <a:xfrm>
            <a:off x="317395" y="1298861"/>
            <a:ext cx="8502755" cy="1247856"/>
          </a:xfrm>
          <a:prstGeom prst="rect">
            <a:avLst/>
          </a:prstGeom>
          <a:noFill/>
          <a:ln w="38100">
            <a:solidFill>
              <a:schemeClr val="accent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ectangle 8"/>
          <p:cNvSpPr/>
          <p:nvPr/>
        </p:nvSpPr>
        <p:spPr>
          <a:xfrm>
            <a:off x="317395" y="2581886"/>
            <a:ext cx="8502755" cy="1135062"/>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64235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Find majors and concentrations</a:t>
            </a:r>
          </a:p>
          <a:p>
            <a:endParaRPr lang="en-US" dirty="0"/>
          </a:p>
          <a:p>
            <a:r>
              <a:rPr lang="en-US" dirty="0"/>
              <a:t>SELECT </a:t>
            </a:r>
            <a:r>
              <a:rPr lang="en-US" dirty="0" err="1"/>
              <a:t>rad_goaldata_dtl.rad_id</a:t>
            </a:r>
            <a:r>
              <a:rPr lang="en-US" dirty="0"/>
              <a:t>, </a:t>
            </a:r>
            <a:r>
              <a:rPr lang="en-US" dirty="0" err="1"/>
              <a:t>rad_goaldata_dtl.rad_goal_code</a:t>
            </a:r>
            <a:r>
              <a:rPr lang="en-US" dirty="0"/>
              <a:t>, </a:t>
            </a:r>
            <a:r>
              <a:rPr lang="en-US" dirty="0" err="1"/>
              <a:t>rad_goaldata_dtl.rad_goal_value</a:t>
            </a:r>
            <a:endParaRPr lang="en-US" dirty="0"/>
          </a:p>
          <a:p>
            <a:r>
              <a:rPr lang="en-US" dirty="0"/>
              <a:t>FROM </a:t>
            </a:r>
            <a:r>
              <a:rPr lang="en-US" dirty="0" err="1"/>
              <a:t>rad_goaldata_dtl</a:t>
            </a:r>
            <a:endParaRPr lang="en-US" dirty="0"/>
          </a:p>
          <a:p>
            <a:r>
              <a:rPr lang="en-US" dirty="0"/>
              <a:t>WHERE </a:t>
            </a:r>
            <a:r>
              <a:rPr lang="en-US" dirty="0" err="1"/>
              <a:t>rad_goaldata_dtl.rad_goal_code</a:t>
            </a:r>
            <a:r>
              <a:rPr lang="en-US" dirty="0"/>
              <a:t>='MAJOR' OR </a:t>
            </a:r>
          </a:p>
          <a:p>
            <a:r>
              <a:rPr lang="en-US" dirty="0" err="1"/>
              <a:t>rad_goaldata_dtl.rad_goal_code</a:t>
            </a:r>
            <a:r>
              <a:rPr lang="en-US" dirty="0"/>
              <a:t>='CONC';</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24</a:t>
            </a:fld>
            <a:endParaRPr lang="en-US" dirty="0"/>
          </a:p>
        </p:txBody>
      </p:sp>
    </p:spTree>
    <p:extLst>
      <p:ext uri="{BB962C8B-B14F-4D97-AF65-F5344CB8AC3E}">
        <p14:creationId xmlns:p14="http://schemas.microsoft.com/office/powerpoint/2010/main" val="572385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PROBLEMS</a:t>
            </a:r>
          </a:p>
          <a:p>
            <a:r>
              <a:rPr lang="en-US" dirty="0" smtClean="0"/>
              <a:t>Majors and concentrations in their own row</a:t>
            </a:r>
          </a:p>
          <a:p>
            <a:r>
              <a:rPr lang="en-US" dirty="0" smtClean="0"/>
              <a:t>Unclear which concentration goes to which major</a:t>
            </a:r>
            <a:endParaRPr lang="en-US" dirty="0"/>
          </a:p>
        </p:txBody>
      </p:sp>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25</a:t>
            </a:fld>
            <a:endParaRPr lang="en-US" dirty="0"/>
          </a:p>
        </p:txBody>
      </p:sp>
      <p:pic>
        <p:nvPicPr>
          <p:cNvPr id="6" name="Picture 5"/>
          <p:cNvPicPr>
            <a:picLocks noChangeAspect="1"/>
          </p:cNvPicPr>
          <p:nvPr/>
        </p:nvPicPr>
        <p:blipFill>
          <a:blip r:embed="rId3"/>
          <a:stretch>
            <a:fillRect/>
          </a:stretch>
        </p:blipFill>
        <p:spPr>
          <a:xfrm>
            <a:off x="1916592" y="2571749"/>
            <a:ext cx="3939215" cy="1293943"/>
          </a:xfrm>
          <a:prstGeom prst="rect">
            <a:avLst/>
          </a:prstGeom>
        </p:spPr>
      </p:pic>
    </p:spTree>
    <p:extLst>
      <p:ext uri="{BB962C8B-B14F-4D97-AF65-F5344CB8AC3E}">
        <p14:creationId xmlns:p14="http://schemas.microsoft.com/office/powerpoint/2010/main" val="31966044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Solution: join RAD_GOALDATA_DTL to itself</a:t>
            </a:r>
            <a:endParaRPr lang="en-US" dirty="0"/>
          </a:p>
        </p:txBody>
      </p:sp>
      <p:sp>
        <p:nvSpPr>
          <p:cNvPr id="3" name="Title 2"/>
          <p:cNvSpPr>
            <a:spLocks noGrp="1"/>
          </p:cNvSpPr>
          <p:nvPr>
            <p:ph type="title"/>
          </p:nvPr>
        </p:nvSpPr>
        <p:spPr/>
        <p:txBody>
          <a:bodyPr/>
          <a:lstStyle/>
          <a:p>
            <a:r>
              <a:rPr lang="en-US" dirty="0" smtClean="0"/>
              <a:t>RAD_GOALDATA_DTL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26</a:t>
            </a:fld>
            <a:endParaRPr lang="en-US" dirty="0"/>
          </a:p>
        </p:txBody>
      </p:sp>
      <p:pic>
        <p:nvPicPr>
          <p:cNvPr id="5" name="Picture 4"/>
          <p:cNvPicPr>
            <a:picLocks noChangeAspect="1"/>
          </p:cNvPicPr>
          <p:nvPr/>
        </p:nvPicPr>
        <p:blipFill>
          <a:blip r:embed="rId3"/>
          <a:stretch>
            <a:fillRect/>
          </a:stretch>
        </p:blipFill>
        <p:spPr>
          <a:xfrm>
            <a:off x="317395" y="1651000"/>
            <a:ext cx="8496300" cy="2724150"/>
          </a:xfrm>
          <a:prstGeom prst="rect">
            <a:avLst/>
          </a:prstGeom>
        </p:spPr>
      </p:pic>
      <p:sp>
        <p:nvSpPr>
          <p:cNvPr id="6" name="Rectangle 5"/>
          <p:cNvSpPr/>
          <p:nvPr/>
        </p:nvSpPr>
        <p:spPr>
          <a:xfrm>
            <a:off x="6271260" y="2331720"/>
            <a:ext cx="2542435" cy="259080"/>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7" name="Rectangle 6"/>
          <p:cNvSpPr/>
          <p:nvPr/>
        </p:nvSpPr>
        <p:spPr>
          <a:xfrm>
            <a:off x="6271260" y="3604260"/>
            <a:ext cx="2542435" cy="251460"/>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2281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00150"/>
            <a:ext cx="8293100" cy="3257550"/>
          </a:xfrm>
        </p:spPr>
        <p:txBody>
          <a:bodyPr>
            <a:normAutofit/>
          </a:bodyPr>
          <a:lstStyle/>
          <a:p>
            <a:r>
              <a:rPr lang="en-US" dirty="0"/>
              <a:t>SELECT </a:t>
            </a:r>
            <a:r>
              <a:rPr lang="en-US" dirty="0" err="1"/>
              <a:t>rad_goaldata_dtl.rad_id</a:t>
            </a:r>
            <a:r>
              <a:rPr lang="en-US" dirty="0"/>
              <a:t>, </a:t>
            </a:r>
            <a:r>
              <a:rPr lang="en-US" dirty="0" smtClean="0"/>
              <a:t/>
            </a:r>
            <a:br>
              <a:rPr lang="en-US" dirty="0" smtClean="0"/>
            </a:br>
            <a:r>
              <a:rPr lang="en-US" dirty="0" err="1" smtClean="0"/>
              <a:t>rad_goaldata_dtl.rad_goal_code</a:t>
            </a:r>
            <a:r>
              <a:rPr lang="en-US" dirty="0"/>
              <a:t>, </a:t>
            </a:r>
            <a:r>
              <a:rPr lang="en-US" dirty="0" smtClean="0"/>
              <a:t/>
            </a:r>
            <a:br>
              <a:rPr lang="en-US" dirty="0" smtClean="0"/>
            </a:br>
            <a:r>
              <a:rPr lang="en-US" dirty="0" err="1" smtClean="0"/>
              <a:t>rad_goaldata_dtl.rad_goal_value</a:t>
            </a:r>
            <a:r>
              <a:rPr lang="en-US" dirty="0"/>
              <a:t>, </a:t>
            </a:r>
            <a:r>
              <a:rPr lang="en-US" dirty="0" smtClean="0"/>
              <a:t/>
            </a:r>
            <a:br>
              <a:rPr lang="en-US" dirty="0" smtClean="0"/>
            </a:br>
            <a:r>
              <a:rPr lang="en-US" dirty="0" smtClean="0"/>
              <a:t>rad_goaldata_dtl_1.rad_goal_code</a:t>
            </a:r>
            <a:r>
              <a:rPr lang="en-US" dirty="0"/>
              <a:t>, </a:t>
            </a:r>
            <a:r>
              <a:rPr lang="en-US" dirty="0" smtClean="0"/>
              <a:t/>
            </a:r>
            <a:br>
              <a:rPr lang="en-US" dirty="0" smtClean="0"/>
            </a:br>
            <a:r>
              <a:rPr lang="en-US" dirty="0" smtClean="0"/>
              <a:t>rad_goaldata_dtl_1.rad_goal_value</a:t>
            </a:r>
            <a:endParaRPr lang="en-US" dirty="0"/>
          </a:p>
          <a:p>
            <a:r>
              <a:rPr lang="en-US" dirty="0"/>
              <a:t>FROM </a:t>
            </a:r>
            <a:r>
              <a:rPr lang="en-US" dirty="0" err="1"/>
              <a:t>rad_goaldata_dtl</a:t>
            </a:r>
            <a:r>
              <a:rPr lang="en-US" dirty="0"/>
              <a:t>, </a:t>
            </a:r>
            <a:r>
              <a:rPr lang="en-US" dirty="0" err="1"/>
              <a:t>rad_goaldata_dtl</a:t>
            </a:r>
            <a:r>
              <a:rPr lang="en-US" dirty="0"/>
              <a:t> as rad_goaldata_dtl_1</a:t>
            </a:r>
          </a:p>
          <a:p>
            <a:r>
              <a:rPr lang="en-US" dirty="0"/>
              <a:t>WHERE </a:t>
            </a:r>
            <a:r>
              <a:rPr lang="en-US" dirty="0" err="1"/>
              <a:t>rad_goaldata_dtl.rad_id</a:t>
            </a:r>
            <a:r>
              <a:rPr lang="en-US" dirty="0"/>
              <a:t>=rad_goaldata_dtl_1.rad_id AND </a:t>
            </a:r>
            <a:r>
              <a:rPr lang="en-US" dirty="0" err="1"/>
              <a:t>rad_goaldata_dtl.rad_goal_code</a:t>
            </a:r>
            <a:r>
              <a:rPr lang="en-US" dirty="0"/>
              <a:t>=rad_goaldata_dtl_1.rad_attach_code AND </a:t>
            </a:r>
            <a:r>
              <a:rPr lang="en-US" dirty="0" err="1"/>
              <a:t>rad_goaldata_dtl.rad_goal_value</a:t>
            </a:r>
            <a:r>
              <a:rPr lang="en-US" dirty="0"/>
              <a:t>=rad_goaldata_dtl_1.rad_attach_value AND rad_goaldata_dtl_1.rad_goal_code='CONC';</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27</a:t>
            </a:fld>
            <a:endParaRPr lang="en-US" dirty="0"/>
          </a:p>
        </p:txBody>
      </p:sp>
    </p:spTree>
    <p:extLst>
      <p:ext uri="{BB962C8B-B14F-4D97-AF65-F5344CB8AC3E}">
        <p14:creationId xmlns:p14="http://schemas.microsoft.com/office/powerpoint/2010/main" val="13815674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28</a:t>
            </a:fld>
            <a:endParaRPr lang="en-US" dirty="0"/>
          </a:p>
        </p:txBody>
      </p:sp>
      <p:pic>
        <p:nvPicPr>
          <p:cNvPr id="2" name="Picture 1"/>
          <p:cNvPicPr>
            <a:picLocks noChangeAspect="1"/>
          </p:cNvPicPr>
          <p:nvPr/>
        </p:nvPicPr>
        <p:blipFill>
          <a:blip r:embed="rId3"/>
          <a:stretch>
            <a:fillRect/>
          </a:stretch>
        </p:blipFill>
        <p:spPr>
          <a:xfrm>
            <a:off x="90487" y="2205037"/>
            <a:ext cx="8963025" cy="733425"/>
          </a:xfrm>
          <a:prstGeom prst="rect">
            <a:avLst/>
          </a:prstGeom>
        </p:spPr>
      </p:pic>
    </p:spTree>
    <p:extLst>
      <p:ext uri="{BB962C8B-B14F-4D97-AF65-F5344CB8AC3E}">
        <p14:creationId xmlns:p14="http://schemas.microsoft.com/office/powerpoint/2010/main" val="2609739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stretch>
            <a:fillRect/>
          </a:stretch>
        </p:blipFill>
        <p:spPr>
          <a:xfrm>
            <a:off x="457200" y="918208"/>
            <a:ext cx="6858000" cy="445923"/>
          </a:xfrm>
          <a:prstGeom prst="rect">
            <a:avLst/>
          </a:prstGeom>
        </p:spPr>
      </p:pic>
      <p:sp>
        <p:nvSpPr>
          <p:cNvPr id="3" name="Title 2"/>
          <p:cNvSpPr>
            <a:spLocks noGrp="1"/>
          </p:cNvSpPr>
          <p:nvPr>
            <p:ph type="title"/>
          </p:nvPr>
        </p:nvSpPr>
        <p:spPr/>
        <p:txBody>
          <a:bodyPr/>
          <a:lstStyle/>
          <a:p>
            <a:r>
              <a:rPr lang="en-US" dirty="0" smtClean="0"/>
              <a:t>RAD_TERM_DTL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29</a:t>
            </a:fld>
            <a:endParaRPr lang="en-US" dirty="0"/>
          </a:p>
        </p:txBody>
      </p:sp>
      <p:pic>
        <p:nvPicPr>
          <p:cNvPr id="6" name="Picture 5"/>
          <p:cNvPicPr>
            <a:picLocks noChangeAspect="1"/>
          </p:cNvPicPr>
          <p:nvPr/>
        </p:nvPicPr>
        <p:blipFill>
          <a:blip r:embed="rId4"/>
          <a:stretch>
            <a:fillRect/>
          </a:stretch>
        </p:blipFill>
        <p:spPr>
          <a:xfrm>
            <a:off x="457200" y="1364131"/>
            <a:ext cx="1920240" cy="3241697"/>
          </a:xfrm>
          <a:prstGeom prst="rect">
            <a:avLst/>
          </a:prstGeom>
        </p:spPr>
      </p:pic>
    </p:spTree>
    <p:extLst>
      <p:ext uri="{BB962C8B-B14F-4D97-AF65-F5344CB8AC3E}">
        <p14:creationId xmlns:p14="http://schemas.microsoft.com/office/powerpoint/2010/main" val="15898945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RAD_CLASS_DTL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30</a:t>
            </a:fld>
            <a:endParaRPr lang="en-US" dirty="0"/>
          </a:p>
        </p:txBody>
      </p:sp>
      <p:pic>
        <p:nvPicPr>
          <p:cNvPr id="6" name="Picture 5"/>
          <p:cNvPicPr>
            <a:picLocks noChangeAspect="1"/>
          </p:cNvPicPr>
          <p:nvPr/>
        </p:nvPicPr>
        <p:blipFill>
          <a:blip r:embed="rId3"/>
          <a:stretch>
            <a:fillRect/>
          </a:stretch>
        </p:blipFill>
        <p:spPr>
          <a:xfrm>
            <a:off x="-7620" y="2192403"/>
            <a:ext cx="9144000" cy="1415667"/>
          </a:xfrm>
          <a:prstGeom prst="rect">
            <a:avLst/>
          </a:prstGeom>
        </p:spPr>
      </p:pic>
    </p:spTree>
    <p:extLst>
      <p:ext uri="{BB962C8B-B14F-4D97-AF65-F5344CB8AC3E}">
        <p14:creationId xmlns:p14="http://schemas.microsoft.com/office/powerpoint/2010/main" val="4065962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classes is a student enrolled in this semester?</a:t>
            </a:r>
          </a:p>
          <a:p>
            <a:endParaRPr lang="en-US" dirty="0" smtClean="0"/>
          </a:p>
          <a:p>
            <a:r>
              <a:rPr lang="en-US" dirty="0"/>
              <a:t>SELECT </a:t>
            </a:r>
            <a:r>
              <a:rPr lang="en-US" dirty="0" err="1"/>
              <a:t>rad_class_dtl.rad_id</a:t>
            </a:r>
            <a:r>
              <a:rPr lang="en-US" dirty="0"/>
              <a:t>, </a:t>
            </a:r>
            <a:br>
              <a:rPr lang="en-US" dirty="0"/>
            </a:br>
            <a:r>
              <a:rPr lang="en-US" dirty="0" err="1"/>
              <a:t>rad_class_dtl.rad_course_key</a:t>
            </a:r>
            <a:r>
              <a:rPr lang="en-US" dirty="0"/>
              <a:t>, </a:t>
            </a:r>
            <a:br>
              <a:rPr lang="en-US" dirty="0"/>
            </a:br>
            <a:r>
              <a:rPr lang="en-US" dirty="0" err="1"/>
              <a:t>rad_class_dtl.rad_term</a:t>
            </a:r>
            <a:r>
              <a:rPr lang="en-US" dirty="0"/>
              <a:t>, </a:t>
            </a:r>
            <a:br>
              <a:rPr lang="en-US" dirty="0"/>
            </a:br>
            <a:r>
              <a:rPr lang="en-US" dirty="0" err="1"/>
              <a:t>rad_class_dtl.rad_final_grade</a:t>
            </a:r>
            <a:endParaRPr lang="en-US" dirty="0"/>
          </a:p>
          <a:p>
            <a:r>
              <a:rPr lang="en-US" dirty="0"/>
              <a:t>FROM </a:t>
            </a:r>
            <a:r>
              <a:rPr lang="en-US" dirty="0" err="1"/>
              <a:t>rad_class_dtl</a:t>
            </a:r>
            <a:endParaRPr lang="en-US" dirty="0"/>
          </a:p>
          <a:p>
            <a:r>
              <a:rPr lang="en-US" dirty="0"/>
              <a:t>WHERE </a:t>
            </a:r>
            <a:r>
              <a:rPr lang="en-US" dirty="0" err="1"/>
              <a:t>rad_class_dtl.rad_term</a:t>
            </a:r>
            <a:r>
              <a:rPr lang="en-US" dirty="0"/>
              <a:t>='201820' AND </a:t>
            </a:r>
            <a:br>
              <a:rPr lang="en-US" dirty="0"/>
            </a:br>
            <a:r>
              <a:rPr lang="en-US" dirty="0" err="1"/>
              <a:t>rad_class_dtl.rad_final_grade</a:t>
            </a:r>
            <a:r>
              <a:rPr lang="en-US" dirty="0"/>
              <a:t>&lt;&gt;'W';</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31</a:t>
            </a:fld>
            <a:endParaRPr lang="en-US" dirty="0"/>
          </a:p>
        </p:txBody>
      </p:sp>
    </p:spTree>
    <p:extLst>
      <p:ext uri="{BB962C8B-B14F-4D97-AF65-F5344CB8AC3E}">
        <p14:creationId xmlns:p14="http://schemas.microsoft.com/office/powerpoint/2010/main" val="9028668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32</a:t>
            </a:fld>
            <a:endParaRPr lang="en-US" dirty="0"/>
          </a:p>
        </p:txBody>
      </p:sp>
      <p:pic>
        <p:nvPicPr>
          <p:cNvPr id="2" name="Picture 1"/>
          <p:cNvPicPr>
            <a:picLocks noChangeAspect="1"/>
          </p:cNvPicPr>
          <p:nvPr/>
        </p:nvPicPr>
        <p:blipFill>
          <a:blip r:embed="rId3"/>
          <a:stretch>
            <a:fillRect/>
          </a:stretch>
        </p:blipFill>
        <p:spPr>
          <a:xfrm>
            <a:off x="2066925" y="1800225"/>
            <a:ext cx="5010150" cy="1543050"/>
          </a:xfrm>
          <a:prstGeom prst="rect">
            <a:avLst/>
          </a:prstGeom>
        </p:spPr>
      </p:pic>
    </p:spTree>
    <p:extLst>
      <p:ext uri="{BB962C8B-B14F-4D97-AF65-F5344CB8AC3E}">
        <p14:creationId xmlns:p14="http://schemas.microsoft.com/office/powerpoint/2010/main" val="2543881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Note that RAD_COURSE_KEY is a concatenation of </a:t>
            </a:r>
            <a:br>
              <a:rPr lang="en-US" dirty="0" smtClean="0"/>
            </a:br>
            <a:r>
              <a:rPr lang="en-US" dirty="0" smtClean="0"/>
              <a:t>Discipline and </a:t>
            </a:r>
            <a:r>
              <a:rPr lang="en-US" dirty="0" err="1" smtClean="0"/>
              <a:t>CourseNumber</a:t>
            </a:r>
            <a:endParaRPr lang="en-US" dirty="0" smtClean="0"/>
          </a:p>
          <a:p>
            <a:endParaRPr lang="en-US" dirty="0"/>
          </a:p>
        </p:txBody>
      </p:sp>
      <p:sp>
        <p:nvSpPr>
          <p:cNvPr id="3" name="Title 2"/>
          <p:cNvSpPr>
            <a:spLocks noGrp="1"/>
          </p:cNvSpPr>
          <p:nvPr>
            <p:ph type="title"/>
          </p:nvPr>
        </p:nvSpPr>
        <p:spPr/>
        <p:txBody>
          <a:bodyPr/>
          <a:lstStyle/>
          <a:p>
            <a:r>
              <a:rPr lang="en-US" dirty="0" smtClean="0"/>
              <a:t>RAD_CLASS_DTL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33</a:t>
            </a:fld>
            <a:endParaRPr lang="en-US" dirty="0"/>
          </a:p>
        </p:txBody>
      </p:sp>
      <p:pic>
        <p:nvPicPr>
          <p:cNvPr id="5" name="Picture 4"/>
          <p:cNvPicPr>
            <a:picLocks noChangeAspect="1"/>
          </p:cNvPicPr>
          <p:nvPr/>
        </p:nvPicPr>
        <p:blipFill>
          <a:blip r:embed="rId3"/>
          <a:stretch>
            <a:fillRect/>
          </a:stretch>
        </p:blipFill>
        <p:spPr>
          <a:xfrm>
            <a:off x="457200" y="2200222"/>
            <a:ext cx="1609950" cy="371527"/>
          </a:xfrm>
          <a:prstGeom prst="rect">
            <a:avLst/>
          </a:prstGeom>
        </p:spPr>
      </p:pic>
      <p:pic>
        <p:nvPicPr>
          <p:cNvPr id="7" name="Picture 6"/>
          <p:cNvPicPr>
            <a:picLocks noChangeAspect="1"/>
          </p:cNvPicPr>
          <p:nvPr/>
        </p:nvPicPr>
        <p:blipFill>
          <a:blip r:embed="rId4"/>
          <a:stretch>
            <a:fillRect/>
          </a:stretch>
        </p:blipFill>
        <p:spPr>
          <a:xfrm>
            <a:off x="2657663" y="2119585"/>
            <a:ext cx="1588393" cy="532800"/>
          </a:xfrm>
          <a:prstGeom prst="rect">
            <a:avLst/>
          </a:prstGeom>
        </p:spPr>
      </p:pic>
    </p:spTree>
    <p:extLst>
      <p:ext uri="{BB962C8B-B14F-4D97-AF65-F5344CB8AC3E}">
        <p14:creationId xmlns:p14="http://schemas.microsoft.com/office/powerpoint/2010/main" val="10059984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RAD_CUSTOM_DTL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34</a:t>
            </a:fld>
            <a:endParaRPr lang="en-US" dirty="0"/>
          </a:p>
        </p:txBody>
      </p:sp>
      <p:pic>
        <p:nvPicPr>
          <p:cNvPr id="5" name="Picture 4"/>
          <p:cNvPicPr>
            <a:picLocks noChangeAspect="1"/>
          </p:cNvPicPr>
          <p:nvPr/>
        </p:nvPicPr>
        <p:blipFill>
          <a:blip r:embed="rId3"/>
          <a:stretch>
            <a:fillRect/>
          </a:stretch>
        </p:blipFill>
        <p:spPr>
          <a:xfrm>
            <a:off x="323257" y="1136650"/>
            <a:ext cx="8497486" cy="3448531"/>
          </a:xfrm>
          <a:prstGeom prst="rect">
            <a:avLst/>
          </a:prstGeom>
        </p:spPr>
      </p:pic>
    </p:spTree>
    <p:extLst>
      <p:ext uri="{BB962C8B-B14F-4D97-AF65-F5344CB8AC3E}">
        <p14:creationId xmlns:p14="http://schemas.microsoft.com/office/powerpoint/2010/main" val="8796828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Populated based on entries in SCR002</a:t>
            </a:r>
          </a:p>
          <a:p>
            <a:r>
              <a:rPr lang="en-US" dirty="0" smtClean="0"/>
              <a:t>Not every student will have a value for every entry in SCR002</a:t>
            </a:r>
            <a:endParaRPr lang="en-US" dirty="0"/>
          </a:p>
        </p:txBody>
      </p:sp>
      <p:sp>
        <p:nvSpPr>
          <p:cNvPr id="3" name="Title 2"/>
          <p:cNvSpPr>
            <a:spLocks noGrp="1"/>
          </p:cNvSpPr>
          <p:nvPr>
            <p:ph type="title"/>
          </p:nvPr>
        </p:nvSpPr>
        <p:spPr/>
        <p:txBody>
          <a:bodyPr/>
          <a:lstStyle/>
          <a:p>
            <a:r>
              <a:rPr lang="en-US" dirty="0" smtClean="0"/>
              <a:t>RAD_CUSTOM_DTL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35</a:t>
            </a:fld>
            <a:endParaRPr lang="en-US" dirty="0"/>
          </a:p>
        </p:txBody>
      </p:sp>
      <p:pic>
        <p:nvPicPr>
          <p:cNvPr id="5" name="Picture 4"/>
          <p:cNvPicPr>
            <a:picLocks noChangeAspect="1"/>
          </p:cNvPicPr>
          <p:nvPr/>
        </p:nvPicPr>
        <p:blipFill>
          <a:blip r:embed="rId3"/>
          <a:stretch>
            <a:fillRect/>
          </a:stretch>
        </p:blipFill>
        <p:spPr>
          <a:xfrm>
            <a:off x="457200" y="2106786"/>
            <a:ext cx="6839905" cy="2057687"/>
          </a:xfrm>
          <a:prstGeom prst="rect">
            <a:avLst/>
          </a:prstGeom>
        </p:spPr>
      </p:pic>
    </p:spTree>
    <p:extLst>
      <p:ext uri="{BB962C8B-B14F-4D97-AF65-F5344CB8AC3E}">
        <p14:creationId xmlns:p14="http://schemas.microsoft.com/office/powerpoint/2010/main" val="13994989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There are many other student data tables to be found on the Student Data Report.  See what you can find!</a:t>
            </a:r>
            <a:endParaRPr lang="en-US" dirty="0"/>
          </a:p>
        </p:txBody>
      </p:sp>
      <p:sp>
        <p:nvSpPr>
          <p:cNvPr id="3" name="Title 2"/>
          <p:cNvSpPr>
            <a:spLocks noGrp="1"/>
          </p:cNvSpPr>
          <p:nvPr>
            <p:ph type="title"/>
          </p:nvPr>
        </p:nvSpPr>
        <p:spPr/>
        <p:txBody>
          <a:bodyPr/>
          <a:lstStyle/>
          <a:p>
            <a:r>
              <a:rPr lang="en-US" dirty="0" smtClean="0"/>
              <a:t>Even more…</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36</a:t>
            </a:fld>
            <a:endParaRPr lang="en-US" dirty="0"/>
          </a:p>
        </p:txBody>
      </p:sp>
    </p:spTree>
    <p:extLst>
      <p:ext uri="{BB962C8B-B14F-4D97-AF65-F5344CB8AC3E}">
        <p14:creationId xmlns:p14="http://schemas.microsoft.com/office/powerpoint/2010/main" val="15302081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Course Planning with SEP</a:t>
            </a:r>
            <a:endParaRPr lang="en-US" dirty="0"/>
          </a:p>
        </p:txBody>
      </p:sp>
      <p:sp>
        <p:nvSpPr>
          <p:cNvPr id="3" name="Subtitle 2"/>
          <p:cNvSpPr>
            <a:spLocks noGrp="1"/>
          </p:cNvSpPr>
          <p:nvPr>
            <p:ph type="subTitle" idx="1"/>
          </p:nvPr>
        </p:nvSpPr>
        <p:spPr/>
        <p:txBody>
          <a:bodyPr/>
          <a:lstStyle/>
          <a:p>
            <a:r>
              <a:rPr lang="en-US" dirty="0" smtClean="0"/>
              <a:t>Predicting Demand</a:t>
            </a:r>
            <a:endParaRPr lang="en-US" dirty="0"/>
          </a:p>
        </p:txBody>
      </p:sp>
    </p:spTree>
    <p:extLst>
      <p:ext uri="{BB962C8B-B14F-4D97-AF65-F5344CB8AC3E}">
        <p14:creationId xmlns:p14="http://schemas.microsoft.com/office/powerpoint/2010/main" val="1103544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SEP Tables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38</a:t>
            </a:fld>
            <a:endParaRPr lang="en-US" dirty="0"/>
          </a:p>
        </p:txBody>
      </p:sp>
      <p:pic>
        <p:nvPicPr>
          <p:cNvPr id="7" name="Picture 6"/>
          <p:cNvPicPr>
            <a:picLocks noChangeAspect="1"/>
          </p:cNvPicPr>
          <p:nvPr/>
        </p:nvPicPr>
        <p:blipFill>
          <a:blip r:embed="rId3"/>
          <a:stretch>
            <a:fillRect/>
          </a:stretch>
        </p:blipFill>
        <p:spPr>
          <a:xfrm>
            <a:off x="457200" y="875946"/>
            <a:ext cx="1790700" cy="3648075"/>
          </a:xfrm>
          <a:prstGeom prst="rect">
            <a:avLst/>
          </a:prstGeom>
        </p:spPr>
      </p:pic>
    </p:spTree>
    <p:extLst>
      <p:ext uri="{BB962C8B-B14F-4D97-AF65-F5344CB8AC3E}">
        <p14:creationId xmlns:p14="http://schemas.microsoft.com/office/powerpoint/2010/main" val="29229084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There are also SEP_TMPL tables that contain template data</a:t>
            </a:r>
          </a:p>
          <a:p>
            <a:r>
              <a:rPr lang="en-US" dirty="0" smtClean="0"/>
              <a:t>Not covered in this presentation</a:t>
            </a:r>
            <a:endParaRPr lang="en-US" dirty="0"/>
          </a:p>
        </p:txBody>
      </p:sp>
      <p:sp>
        <p:nvSpPr>
          <p:cNvPr id="3" name="Title 2"/>
          <p:cNvSpPr>
            <a:spLocks noGrp="1"/>
          </p:cNvSpPr>
          <p:nvPr>
            <p:ph type="title"/>
          </p:nvPr>
        </p:nvSpPr>
        <p:spPr/>
        <p:txBody>
          <a:bodyPr/>
          <a:lstStyle/>
          <a:p>
            <a:r>
              <a:rPr lang="en-US" dirty="0" smtClean="0"/>
              <a:t>SEP Tables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39</a:t>
            </a:fld>
            <a:endParaRPr lang="en-US" dirty="0"/>
          </a:p>
        </p:txBody>
      </p:sp>
    </p:spTree>
    <p:extLst>
      <p:ext uri="{BB962C8B-B14F-4D97-AF65-F5344CB8AC3E}">
        <p14:creationId xmlns:p14="http://schemas.microsoft.com/office/powerpoint/2010/main" val="26530904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Who has an active, locked plan</a:t>
            </a:r>
            <a:r>
              <a:rPr lang="en-US" dirty="0" smtClean="0"/>
              <a:t>?</a:t>
            </a:r>
          </a:p>
          <a:p>
            <a:endParaRPr lang="en-US" dirty="0"/>
          </a:p>
          <a:p>
            <a:r>
              <a:rPr lang="en-US" dirty="0" smtClean="0"/>
              <a:t>SELECT </a:t>
            </a:r>
            <a:r>
              <a:rPr lang="en-US" dirty="0" err="1"/>
              <a:t>sep_plan.student_id</a:t>
            </a:r>
            <a:r>
              <a:rPr lang="en-US" dirty="0"/>
              <a:t>, </a:t>
            </a:r>
            <a:br>
              <a:rPr lang="en-US" dirty="0"/>
            </a:br>
            <a:r>
              <a:rPr lang="en-US" dirty="0" err="1"/>
              <a:t>sep_plan.description</a:t>
            </a:r>
            <a:r>
              <a:rPr lang="en-US" dirty="0"/>
              <a:t>, </a:t>
            </a:r>
            <a:br>
              <a:rPr lang="en-US" dirty="0"/>
            </a:br>
            <a:r>
              <a:rPr lang="en-US" dirty="0" err="1"/>
              <a:t>sep_plan.is_active</a:t>
            </a:r>
            <a:r>
              <a:rPr lang="en-US" dirty="0"/>
              <a:t>, </a:t>
            </a:r>
            <a:br>
              <a:rPr lang="en-US" dirty="0"/>
            </a:br>
            <a:r>
              <a:rPr lang="en-US" dirty="0" err="1"/>
              <a:t>sep_plan.is_locked</a:t>
            </a:r>
            <a:endParaRPr lang="en-US" dirty="0"/>
          </a:p>
          <a:p>
            <a:r>
              <a:rPr lang="en-US" dirty="0"/>
              <a:t>FROM </a:t>
            </a:r>
            <a:r>
              <a:rPr lang="en-US" dirty="0" err="1"/>
              <a:t>sep_plan</a:t>
            </a:r>
            <a:endParaRPr lang="en-US" dirty="0"/>
          </a:p>
          <a:p>
            <a:r>
              <a:rPr lang="en-US" dirty="0"/>
              <a:t>WHERE </a:t>
            </a:r>
            <a:r>
              <a:rPr lang="en-US" dirty="0" err="1"/>
              <a:t>sep_plan.is_active</a:t>
            </a:r>
            <a:r>
              <a:rPr lang="en-US" dirty="0"/>
              <a:t>='Y' AND </a:t>
            </a:r>
            <a:br>
              <a:rPr lang="en-US" dirty="0"/>
            </a:br>
            <a:r>
              <a:rPr lang="en-US" dirty="0" err="1"/>
              <a:t>sep_plan.is_locked</a:t>
            </a:r>
            <a:r>
              <a:rPr lang="en-US" dirty="0"/>
              <a:t>='Y';</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40</a:t>
            </a:fld>
            <a:endParaRPr lang="en-US" dirty="0"/>
          </a:p>
        </p:txBody>
      </p:sp>
    </p:spTree>
    <p:extLst>
      <p:ext uri="{BB962C8B-B14F-4D97-AF65-F5344CB8AC3E}">
        <p14:creationId xmlns:p14="http://schemas.microsoft.com/office/powerpoint/2010/main" val="19279825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41</a:t>
            </a:fld>
            <a:endParaRPr lang="en-US" dirty="0"/>
          </a:p>
        </p:txBody>
      </p:sp>
      <p:pic>
        <p:nvPicPr>
          <p:cNvPr id="8" name="Picture 7"/>
          <p:cNvPicPr>
            <a:picLocks noChangeAspect="1"/>
          </p:cNvPicPr>
          <p:nvPr/>
        </p:nvPicPr>
        <p:blipFill>
          <a:blip r:embed="rId3"/>
          <a:stretch>
            <a:fillRect/>
          </a:stretch>
        </p:blipFill>
        <p:spPr>
          <a:xfrm>
            <a:off x="2055985" y="2051635"/>
            <a:ext cx="5032029" cy="1040229"/>
          </a:xfrm>
          <a:prstGeom prst="rect">
            <a:avLst/>
          </a:prstGeom>
        </p:spPr>
      </p:pic>
    </p:spTree>
    <p:extLst>
      <p:ext uri="{BB962C8B-B14F-4D97-AF65-F5344CB8AC3E}">
        <p14:creationId xmlns:p14="http://schemas.microsoft.com/office/powerpoint/2010/main" val="245769471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How many students are planning to take MGMT 325 in Fall?</a:t>
            </a:r>
          </a:p>
          <a:p>
            <a:r>
              <a:rPr lang="en-US" dirty="0" smtClean="0"/>
              <a:t>Need three tables</a:t>
            </a:r>
          </a:p>
          <a:p>
            <a:pPr marL="285750" indent="-285750">
              <a:buFont typeface="Arial" panose="020B0604020202020204" pitchFamily="34" charset="0"/>
              <a:buChar char="•"/>
            </a:pPr>
            <a:r>
              <a:rPr lang="en-US" dirty="0" smtClean="0"/>
              <a:t>SEP_PLAN </a:t>
            </a:r>
          </a:p>
          <a:p>
            <a:pPr marL="285750" indent="-285750">
              <a:buFont typeface="Arial" panose="020B0604020202020204" pitchFamily="34" charset="0"/>
              <a:buChar char="•"/>
            </a:pPr>
            <a:r>
              <a:rPr lang="en-US" dirty="0" smtClean="0"/>
              <a:t>SEP_PLAN_TERM</a:t>
            </a:r>
          </a:p>
          <a:p>
            <a:pPr marL="285750" indent="-285750">
              <a:buFont typeface="Arial" panose="020B0604020202020204" pitchFamily="34" charset="0"/>
              <a:buChar char="•"/>
            </a:pPr>
            <a:r>
              <a:rPr lang="en-US" dirty="0" smtClean="0"/>
              <a:t>SEP_PLAN_CLASS</a:t>
            </a:r>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42</a:t>
            </a:fld>
            <a:endParaRPr lang="en-US" dirty="0"/>
          </a:p>
        </p:txBody>
      </p:sp>
    </p:spTree>
    <p:extLst>
      <p:ext uri="{BB962C8B-B14F-4D97-AF65-F5344CB8AC3E}">
        <p14:creationId xmlns:p14="http://schemas.microsoft.com/office/powerpoint/2010/main" val="12588545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SELECT </a:t>
            </a:r>
            <a:r>
              <a:rPr lang="en-US" dirty="0" err="1"/>
              <a:t>sep_plan_class.course_discipline</a:t>
            </a:r>
            <a:r>
              <a:rPr lang="en-US" dirty="0"/>
              <a:t>, </a:t>
            </a:r>
            <a:br>
              <a:rPr lang="en-US" dirty="0"/>
            </a:br>
            <a:r>
              <a:rPr lang="en-US" dirty="0" err="1"/>
              <a:t>sep_plan_class.course_number</a:t>
            </a:r>
            <a:r>
              <a:rPr lang="en-US" dirty="0"/>
              <a:t>, </a:t>
            </a:r>
            <a:br>
              <a:rPr lang="en-US" dirty="0"/>
            </a:br>
            <a:r>
              <a:rPr lang="en-US" dirty="0"/>
              <a:t>count(</a:t>
            </a:r>
            <a:r>
              <a:rPr lang="en-US" dirty="0" err="1"/>
              <a:t>sep_plan.student_id</a:t>
            </a:r>
            <a:r>
              <a:rPr lang="en-US" dirty="0"/>
              <a:t> as </a:t>
            </a:r>
            <a:r>
              <a:rPr lang="en-US" dirty="0" err="1"/>
              <a:t>countofstudent_id</a:t>
            </a:r>
            <a:r>
              <a:rPr lang="en-US" dirty="0"/>
              <a:t>)</a:t>
            </a:r>
          </a:p>
          <a:p>
            <a:r>
              <a:rPr lang="en-US" dirty="0"/>
              <a:t>FROM </a:t>
            </a:r>
            <a:r>
              <a:rPr lang="en-US" dirty="0" err="1"/>
              <a:t>sep_plan</a:t>
            </a:r>
            <a:r>
              <a:rPr lang="en-US" dirty="0"/>
              <a:t>, </a:t>
            </a:r>
            <a:r>
              <a:rPr lang="en-US" dirty="0" err="1"/>
              <a:t>sep_plan_class</a:t>
            </a:r>
            <a:r>
              <a:rPr lang="en-US" dirty="0"/>
              <a:t>, </a:t>
            </a:r>
            <a:r>
              <a:rPr lang="en-US" dirty="0" err="1"/>
              <a:t>sep_plan_term</a:t>
            </a:r>
            <a:endParaRPr lang="en-US" dirty="0"/>
          </a:p>
          <a:p>
            <a:r>
              <a:rPr lang="en-US" dirty="0"/>
              <a:t>WHERE </a:t>
            </a:r>
            <a:r>
              <a:rPr lang="en-US" dirty="0" err="1"/>
              <a:t>sep_plan.is_active</a:t>
            </a:r>
            <a:r>
              <a:rPr lang="en-US" dirty="0" smtClean="0"/>
              <a:t>='Y' AND </a:t>
            </a:r>
            <a:br>
              <a:rPr lang="en-US" dirty="0" smtClean="0"/>
            </a:br>
            <a:r>
              <a:rPr lang="en-US" dirty="0" err="1" smtClean="0"/>
              <a:t>sep_plan.is_locked</a:t>
            </a:r>
            <a:r>
              <a:rPr lang="en-US" dirty="0" smtClean="0"/>
              <a:t>='Y' </a:t>
            </a:r>
            <a:r>
              <a:rPr lang="en-US" dirty="0"/>
              <a:t>AND </a:t>
            </a:r>
            <a:br>
              <a:rPr lang="en-US" dirty="0"/>
            </a:br>
            <a:r>
              <a:rPr lang="en-US" dirty="0" err="1"/>
              <a:t>sep_plan_term.term</a:t>
            </a:r>
            <a:r>
              <a:rPr lang="en-US" dirty="0"/>
              <a:t>='201910' AND </a:t>
            </a:r>
            <a:br>
              <a:rPr lang="en-US" dirty="0"/>
            </a:br>
            <a:r>
              <a:rPr lang="en-US" dirty="0" err="1"/>
              <a:t>sep_plan_class.group_id</a:t>
            </a:r>
            <a:r>
              <a:rPr lang="en-US" dirty="0"/>
              <a:t>=</a:t>
            </a:r>
            <a:r>
              <a:rPr lang="en-US" dirty="0" err="1"/>
              <a:t>sep_plan_term.group_id</a:t>
            </a:r>
            <a:r>
              <a:rPr lang="en-US" dirty="0"/>
              <a:t> AND </a:t>
            </a:r>
            <a:br>
              <a:rPr lang="en-US" dirty="0"/>
            </a:br>
            <a:r>
              <a:rPr lang="en-US" dirty="0" err="1"/>
              <a:t>sep_plan_term.plan_id</a:t>
            </a:r>
            <a:r>
              <a:rPr lang="en-US" dirty="0"/>
              <a:t>=</a:t>
            </a:r>
            <a:r>
              <a:rPr lang="en-US" dirty="0" err="1"/>
              <a:t>sep_plan.plan_id</a:t>
            </a:r>
            <a:endParaRPr lang="en-US" dirty="0"/>
          </a:p>
          <a:p>
            <a:r>
              <a:rPr lang="en-US" dirty="0"/>
              <a:t>GROUP BY </a:t>
            </a:r>
            <a:r>
              <a:rPr lang="en-US" dirty="0" err="1"/>
              <a:t>sep_plan_class.course_discipline</a:t>
            </a:r>
            <a:r>
              <a:rPr lang="en-US" dirty="0"/>
              <a:t>, </a:t>
            </a:r>
            <a:r>
              <a:rPr lang="en-US" dirty="0" err="1"/>
              <a:t>sep_plan_class.course_number</a:t>
            </a:r>
            <a:endParaRPr lang="en-US" dirty="0"/>
          </a:p>
          <a:p>
            <a:r>
              <a:rPr lang="en-US" dirty="0"/>
              <a:t>HAVING </a:t>
            </a:r>
            <a:r>
              <a:rPr lang="en-US" dirty="0" err="1"/>
              <a:t>sep_plan_class.course_discipline</a:t>
            </a:r>
            <a:r>
              <a:rPr lang="en-US" dirty="0"/>
              <a:t>='MGMT' AND </a:t>
            </a:r>
            <a:br>
              <a:rPr lang="en-US" dirty="0"/>
            </a:br>
            <a:r>
              <a:rPr lang="en-US" dirty="0" err="1"/>
              <a:t>sep_plan_class.course_number</a:t>
            </a:r>
            <a:r>
              <a:rPr lang="en-US" dirty="0"/>
              <a:t>='325';</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43</a:t>
            </a:fld>
            <a:endParaRPr lang="en-US" dirty="0"/>
          </a:p>
        </p:txBody>
      </p:sp>
    </p:spTree>
    <p:extLst>
      <p:ext uri="{BB962C8B-B14F-4D97-AF65-F5344CB8AC3E}">
        <p14:creationId xmlns:p14="http://schemas.microsoft.com/office/powerpoint/2010/main" val="8484857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1781191" y="1571925"/>
            <a:ext cx="5591144" cy="532800"/>
          </a:xfrm>
          <a:prstGeom prst="rect">
            <a:avLst/>
          </a:prstGeom>
        </p:spPr>
      </p:pic>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44</a:t>
            </a:fld>
            <a:endParaRPr lang="en-US" dirty="0"/>
          </a:p>
        </p:txBody>
      </p:sp>
    </p:spTree>
    <p:extLst>
      <p:ext uri="{BB962C8B-B14F-4D97-AF65-F5344CB8AC3E}">
        <p14:creationId xmlns:p14="http://schemas.microsoft.com/office/powerpoint/2010/main" val="36762414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smtClean="0"/>
              <a:t>What are most planned for courses?</a:t>
            </a:r>
          </a:p>
          <a:p>
            <a:r>
              <a:rPr lang="en-US" dirty="0"/>
              <a:t>SELECT </a:t>
            </a:r>
            <a:r>
              <a:rPr lang="en-US" dirty="0" err="1"/>
              <a:t>sep_plan_class.course_discipline</a:t>
            </a:r>
            <a:r>
              <a:rPr lang="en-US" dirty="0"/>
              <a:t>, </a:t>
            </a:r>
            <a:br>
              <a:rPr lang="en-US" dirty="0"/>
            </a:br>
            <a:r>
              <a:rPr lang="en-US" dirty="0" err="1"/>
              <a:t>sep_plan_class.course_number</a:t>
            </a:r>
            <a:r>
              <a:rPr lang="en-US" dirty="0"/>
              <a:t>, </a:t>
            </a:r>
            <a:br>
              <a:rPr lang="en-US" dirty="0"/>
            </a:br>
            <a:r>
              <a:rPr lang="en-US" dirty="0"/>
              <a:t>count(</a:t>
            </a:r>
            <a:r>
              <a:rPr lang="en-US" dirty="0" err="1"/>
              <a:t>sep_plan.student_id</a:t>
            </a:r>
            <a:r>
              <a:rPr lang="en-US" dirty="0"/>
              <a:t> as </a:t>
            </a:r>
            <a:r>
              <a:rPr lang="en-US" dirty="0" err="1"/>
              <a:t>countofstudent_id</a:t>
            </a:r>
            <a:r>
              <a:rPr lang="en-US" dirty="0"/>
              <a:t>)</a:t>
            </a:r>
          </a:p>
          <a:p>
            <a:r>
              <a:rPr lang="en-US" dirty="0"/>
              <a:t>FROM </a:t>
            </a:r>
            <a:r>
              <a:rPr lang="en-US" dirty="0" err="1"/>
              <a:t>sep_plan</a:t>
            </a:r>
            <a:r>
              <a:rPr lang="en-US" dirty="0"/>
              <a:t>, </a:t>
            </a:r>
            <a:r>
              <a:rPr lang="en-US" dirty="0" err="1"/>
              <a:t>sep_plan_class</a:t>
            </a:r>
            <a:r>
              <a:rPr lang="en-US" dirty="0"/>
              <a:t>, </a:t>
            </a:r>
            <a:r>
              <a:rPr lang="en-US" dirty="0" err="1"/>
              <a:t>sep_plan_term</a:t>
            </a:r>
            <a:endParaRPr lang="en-US" dirty="0"/>
          </a:p>
          <a:p>
            <a:r>
              <a:rPr lang="en-US" dirty="0"/>
              <a:t>WHERE </a:t>
            </a:r>
            <a:r>
              <a:rPr lang="en-US" dirty="0" err="1"/>
              <a:t>sep_plan.is_active</a:t>
            </a:r>
            <a:r>
              <a:rPr lang="en-US" dirty="0"/>
              <a:t>='Y' AND </a:t>
            </a:r>
            <a:br>
              <a:rPr lang="en-US" dirty="0"/>
            </a:br>
            <a:r>
              <a:rPr lang="en-US" dirty="0" err="1"/>
              <a:t>sep_plan.is_locked</a:t>
            </a:r>
            <a:r>
              <a:rPr lang="en-US" dirty="0"/>
              <a:t>='Y' AND </a:t>
            </a:r>
            <a:br>
              <a:rPr lang="en-US" dirty="0"/>
            </a:br>
            <a:r>
              <a:rPr lang="en-US" dirty="0" err="1"/>
              <a:t>sep_plan_term.term</a:t>
            </a:r>
            <a:r>
              <a:rPr lang="en-US" dirty="0"/>
              <a:t>='201910' AND </a:t>
            </a:r>
            <a:br>
              <a:rPr lang="en-US" dirty="0"/>
            </a:br>
            <a:r>
              <a:rPr lang="en-US" dirty="0" err="1"/>
              <a:t>sep_plan_class.group_id</a:t>
            </a:r>
            <a:r>
              <a:rPr lang="en-US" dirty="0"/>
              <a:t>=</a:t>
            </a:r>
            <a:r>
              <a:rPr lang="en-US" dirty="0" err="1"/>
              <a:t>sep_plan_term.group_id</a:t>
            </a:r>
            <a:r>
              <a:rPr lang="en-US" dirty="0"/>
              <a:t> AND </a:t>
            </a:r>
            <a:br>
              <a:rPr lang="en-US" dirty="0"/>
            </a:br>
            <a:r>
              <a:rPr lang="en-US" dirty="0" err="1"/>
              <a:t>sep_plan_term.plan_id</a:t>
            </a:r>
            <a:r>
              <a:rPr lang="en-US" dirty="0"/>
              <a:t>=</a:t>
            </a:r>
            <a:r>
              <a:rPr lang="en-US" dirty="0" err="1"/>
              <a:t>sep_plan.plan_id</a:t>
            </a:r>
            <a:endParaRPr lang="en-US" dirty="0"/>
          </a:p>
          <a:p>
            <a:r>
              <a:rPr lang="en-US" dirty="0"/>
              <a:t>GROUP BY </a:t>
            </a:r>
            <a:r>
              <a:rPr lang="en-US" dirty="0" err="1"/>
              <a:t>sep_plan_class.course_discipline</a:t>
            </a:r>
            <a:r>
              <a:rPr lang="en-US" dirty="0"/>
              <a:t>, </a:t>
            </a:r>
            <a:r>
              <a:rPr lang="en-US" dirty="0" err="1" smtClean="0"/>
              <a:t>sep_plan_class.course_number</a:t>
            </a:r>
            <a:r>
              <a:rPr lang="en-US" dirty="0" smtClean="0"/>
              <a:t>;</a:t>
            </a:r>
            <a:endParaRPr lang="en-US" dirty="0"/>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45</a:t>
            </a:fld>
            <a:endParaRPr lang="en-US" dirty="0"/>
          </a:p>
        </p:txBody>
      </p:sp>
    </p:spTree>
    <p:extLst>
      <p:ext uri="{BB962C8B-B14F-4D97-AF65-F5344CB8AC3E}">
        <p14:creationId xmlns:p14="http://schemas.microsoft.com/office/powerpoint/2010/main" val="25996304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46</a:t>
            </a:fld>
            <a:endParaRPr lang="en-US" dirty="0"/>
          </a:p>
        </p:txBody>
      </p:sp>
      <p:pic>
        <p:nvPicPr>
          <p:cNvPr id="8" name="Picture 7"/>
          <p:cNvPicPr>
            <a:picLocks noChangeAspect="1"/>
          </p:cNvPicPr>
          <p:nvPr/>
        </p:nvPicPr>
        <p:blipFill>
          <a:blip r:embed="rId3"/>
          <a:stretch>
            <a:fillRect/>
          </a:stretch>
        </p:blipFill>
        <p:spPr>
          <a:xfrm>
            <a:off x="1776428" y="1797921"/>
            <a:ext cx="5591144" cy="1547657"/>
          </a:xfrm>
          <a:prstGeom prst="rect">
            <a:avLst/>
          </a:prstGeom>
        </p:spPr>
      </p:pic>
    </p:spTree>
    <p:extLst>
      <p:ext uri="{BB962C8B-B14F-4D97-AF65-F5344CB8AC3E}">
        <p14:creationId xmlns:p14="http://schemas.microsoft.com/office/powerpoint/2010/main" val="16194214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courses are cybersecurity students planning to take?</a:t>
            </a:r>
          </a:p>
          <a:p>
            <a:r>
              <a:rPr lang="en-US" dirty="0"/>
              <a:t>Need </a:t>
            </a:r>
            <a:r>
              <a:rPr lang="en-US" dirty="0" smtClean="0"/>
              <a:t>four </a:t>
            </a:r>
            <a:r>
              <a:rPr lang="en-US" dirty="0"/>
              <a:t>tables</a:t>
            </a:r>
          </a:p>
          <a:p>
            <a:pPr marL="285750" indent="-285750">
              <a:buFont typeface="Arial" panose="020B0604020202020204" pitchFamily="34" charset="0"/>
              <a:buChar char="•"/>
            </a:pPr>
            <a:r>
              <a:rPr lang="en-US" dirty="0"/>
              <a:t>SEP_PLAN </a:t>
            </a:r>
          </a:p>
          <a:p>
            <a:pPr marL="285750" indent="-285750">
              <a:buFont typeface="Arial" panose="020B0604020202020204" pitchFamily="34" charset="0"/>
              <a:buChar char="•"/>
            </a:pPr>
            <a:r>
              <a:rPr lang="en-US" dirty="0"/>
              <a:t>SEP_PLAN_TERM</a:t>
            </a:r>
          </a:p>
          <a:p>
            <a:pPr marL="285750" indent="-285750">
              <a:buFont typeface="Arial" panose="020B0604020202020204" pitchFamily="34" charset="0"/>
              <a:buChar char="•"/>
            </a:pPr>
            <a:r>
              <a:rPr lang="en-US" dirty="0" smtClean="0"/>
              <a:t>SEP_PLAN_CLASS</a:t>
            </a:r>
          </a:p>
          <a:p>
            <a:pPr marL="285750" indent="-285750">
              <a:buFont typeface="Arial" panose="020B0604020202020204" pitchFamily="34" charset="0"/>
              <a:buChar char="•"/>
            </a:pPr>
            <a:r>
              <a:rPr lang="en-US" dirty="0" smtClean="0"/>
              <a:t>RAD_GOALDATA_DTL</a:t>
            </a:r>
            <a:endParaRPr lang="en-US" dirty="0"/>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47</a:t>
            </a:fld>
            <a:endParaRPr lang="en-US" dirty="0"/>
          </a:p>
        </p:txBody>
      </p:sp>
    </p:spTree>
    <p:extLst>
      <p:ext uri="{BB962C8B-B14F-4D97-AF65-F5344CB8AC3E}">
        <p14:creationId xmlns:p14="http://schemas.microsoft.com/office/powerpoint/2010/main" val="15740799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SELECT </a:t>
            </a:r>
            <a:r>
              <a:rPr lang="en-US" dirty="0" err="1"/>
              <a:t>sep_plan_class.course_discipline</a:t>
            </a:r>
            <a:r>
              <a:rPr lang="en-US" dirty="0"/>
              <a:t>, </a:t>
            </a:r>
            <a:br>
              <a:rPr lang="en-US" dirty="0"/>
            </a:br>
            <a:r>
              <a:rPr lang="en-US" dirty="0" err="1"/>
              <a:t>sep_plan_class.course_number</a:t>
            </a:r>
            <a:r>
              <a:rPr lang="en-US" dirty="0"/>
              <a:t>, </a:t>
            </a:r>
            <a:br>
              <a:rPr lang="en-US" dirty="0"/>
            </a:br>
            <a:r>
              <a:rPr lang="en-US" dirty="0"/>
              <a:t>count(</a:t>
            </a:r>
            <a:r>
              <a:rPr lang="en-US" dirty="0" err="1"/>
              <a:t>sep_plan.student_id</a:t>
            </a:r>
            <a:r>
              <a:rPr lang="en-US" dirty="0"/>
              <a:t> as </a:t>
            </a:r>
            <a:r>
              <a:rPr lang="en-US" dirty="0" err="1"/>
              <a:t>countofstudent_id</a:t>
            </a:r>
            <a:r>
              <a:rPr lang="en-US" dirty="0"/>
              <a:t>)</a:t>
            </a:r>
          </a:p>
          <a:p>
            <a:r>
              <a:rPr lang="en-US" dirty="0"/>
              <a:t>FROM </a:t>
            </a:r>
            <a:r>
              <a:rPr lang="en-US" dirty="0" err="1"/>
              <a:t>sep_plan</a:t>
            </a:r>
            <a:r>
              <a:rPr lang="en-US" dirty="0"/>
              <a:t>, </a:t>
            </a:r>
            <a:r>
              <a:rPr lang="en-US" dirty="0" err="1"/>
              <a:t>sep_plan_class</a:t>
            </a:r>
            <a:r>
              <a:rPr lang="en-US" dirty="0"/>
              <a:t>, </a:t>
            </a:r>
            <a:r>
              <a:rPr lang="en-US" dirty="0" err="1" smtClean="0"/>
              <a:t>sep_plan_term</a:t>
            </a:r>
            <a:r>
              <a:rPr lang="en-US" dirty="0" smtClean="0"/>
              <a:t>, </a:t>
            </a:r>
            <a:r>
              <a:rPr lang="en-US" dirty="0" err="1" smtClean="0"/>
              <a:t>rad_goaldata_dtl</a:t>
            </a:r>
            <a:endParaRPr lang="en-US" dirty="0"/>
          </a:p>
          <a:p>
            <a:r>
              <a:rPr lang="en-US" dirty="0"/>
              <a:t>WHERE </a:t>
            </a:r>
            <a:r>
              <a:rPr lang="en-US" dirty="0" err="1"/>
              <a:t>sep_plan.is_active</a:t>
            </a:r>
            <a:r>
              <a:rPr lang="en-US" dirty="0"/>
              <a:t>='Y' AND </a:t>
            </a:r>
            <a:br>
              <a:rPr lang="en-US" dirty="0"/>
            </a:br>
            <a:r>
              <a:rPr lang="en-US" dirty="0" err="1"/>
              <a:t>sep_plan.is_locked</a:t>
            </a:r>
            <a:r>
              <a:rPr lang="en-US" dirty="0"/>
              <a:t>='Y' AND </a:t>
            </a:r>
            <a:br>
              <a:rPr lang="en-US" dirty="0"/>
            </a:br>
            <a:r>
              <a:rPr lang="en-US" dirty="0" err="1"/>
              <a:t>sep_plan_term.term</a:t>
            </a:r>
            <a:r>
              <a:rPr lang="en-US" dirty="0"/>
              <a:t>='201910' AND </a:t>
            </a:r>
            <a:br>
              <a:rPr lang="en-US" dirty="0"/>
            </a:br>
            <a:r>
              <a:rPr lang="en-US" dirty="0" err="1"/>
              <a:t>sep_plan_class.group_id</a:t>
            </a:r>
            <a:r>
              <a:rPr lang="en-US" dirty="0"/>
              <a:t>=</a:t>
            </a:r>
            <a:r>
              <a:rPr lang="en-US" dirty="0" err="1"/>
              <a:t>sep_plan_term.group_id</a:t>
            </a:r>
            <a:r>
              <a:rPr lang="en-US" dirty="0"/>
              <a:t> AND </a:t>
            </a:r>
            <a:br>
              <a:rPr lang="en-US" dirty="0"/>
            </a:br>
            <a:r>
              <a:rPr lang="en-US" dirty="0" err="1" smtClean="0"/>
              <a:t>sep_plan_term.plan_id</a:t>
            </a:r>
            <a:r>
              <a:rPr lang="en-US" dirty="0" smtClean="0"/>
              <a:t>=</a:t>
            </a:r>
            <a:r>
              <a:rPr lang="en-US" dirty="0" err="1" smtClean="0"/>
              <a:t>sep_plan.plan_id</a:t>
            </a:r>
            <a:r>
              <a:rPr lang="en-US" dirty="0" smtClean="0"/>
              <a:t> AND</a:t>
            </a:r>
            <a:br>
              <a:rPr lang="en-US" dirty="0" smtClean="0"/>
            </a:br>
            <a:r>
              <a:rPr lang="en-US" dirty="0" err="1"/>
              <a:t>sep_plan.student_id</a:t>
            </a:r>
            <a:r>
              <a:rPr lang="en-US" dirty="0"/>
              <a:t>=</a:t>
            </a:r>
            <a:r>
              <a:rPr lang="en-US" dirty="0" err="1"/>
              <a:t>rad_goaldata_dtl.rad_id</a:t>
            </a:r>
            <a:r>
              <a:rPr lang="en-US" dirty="0"/>
              <a:t> AND </a:t>
            </a:r>
            <a:br>
              <a:rPr lang="en-US" dirty="0"/>
            </a:br>
            <a:r>
              <a:rPr lang="en-US" dirty="0" err="1"/>
              <a:t>rad_goaldata_dtl.rad_goal_code</a:t>
            </a:r>
            <a:r>
              <a:rPr lang="en-US" dirty="0"/>
              <a:t>='MAJOR' AND </a:t>
            </a:r>
            <a:br>
              <a:rPr lang="en-US" dirty="0"/>
            </a:br>
            <a:r>
              <a:rPr lang="en-US" dirty="0" err="1"/>
              <a:t>rad_goaldata_dtl.rad_goal_value</a:t>
            </a:r>
            <a:r>
              <a:rPr lang="en-US" dirty="0"/>
              <a:t>='CYBR</a:t>
            </a:r>
            <a:r>
              <a:rPr lang="en-US" dirty="0" smtClean="0"/>
              <a:t>'</a:t>
            </a:r>
            <a:endParaRPr lang="en-US" dirty="0"/>
          </a:p>
          <a:p>
            <a:r>
              <a:rPr lang="en-US" dirty="0"/>
              <a:t>GROUP BY </a:t>
            </a:r>
            <a:r>
              <a:rPr lang="en-US" dirty="0" err="1"/>
              <a:t>sep_plan_class.course_discipline</a:t>
            </a:r>
            <a:r>
              <a:rPr lang="en-US" dirty="0"/>
              <a:t>, </a:t>
            </a:r>
            <a:r>
              <a:rPr lang="en-US" dirty="0" err="1"/>
              <a:t>sep_plan_class.course_number</a:t>
            </a:r>
            <a:r>
              <a:rPr lang="en-US" dirty="0"/>
              <a:t>;</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48</a:t>
            </a:fld>
            <a:endParaRPr lang="en-US" dirty="0"/>
          </a:p>
        </p:txBody>
      </p:sp>
    </p:spTree>
    <p:extLst>
      <p:ext uri="{BB962C8B-B14F-4D97-AF65-F5344CB8AC3E}">
        <p14:creationId xmlns:p14="http://schemas.microsoft.com/office/powerpoint/2010/main" val="140597776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49</a:t>
            </a:fld>
            <a:endParaRPr lang="en-US" dirty="0"/>
          </a:p>
        </p:txBody>
      </p:sp>
      <p:pic>
        <p:nvPicPr>
          <p:cNvPr id="6" name="Picture 5"/>
          <p:cNvPicPr>
            <a:picLocks noChangeAspect="1"/>
          </p:cNvPicPr>
          <p:nvPr/>
        </p:nvPicPr>
        <p:blipFill>
          <a:blip r:embed="rId3"/>
          <a:stretch>
            <a:fillRect/>
          </a:stretch>
        </p:blipFill>
        <p:spPr>
          <a:xfrm>
            <a:off x="1776428" y="1797921"/>
            <a:ext cx="5591144" cy="1547657"/>
          </a:xfrm>
          <a:prstGeom prst="rect">
            <a:avLst/>
          </a:prstGeom>
        </p:spPr>
      </p:pic>
    </p:spTree>
    <p:extLst>
      <p:ext uri="{BB962C8B-B14F-4D97-AF65-F5344CB8AC3E}">
        <p14:creationId xmlns:p14="http://schemas.microsoft.com/office/powerpoint/2010/main" val="13996629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Which cybersecurity majors do not have a plan for Fall?</a:t>
            </a:r>
          </a:p>
          <a:p>
            <a:r>
              <a:rPr lang="en-US" dirty="0"/>
              <a:t>Need </a:t>
            </a:r>
            <a:r>
              <a:rPr lang="en-US" dirty="0" smtClean="0"/>
              <a:t>three </a:t>
            </a:r>
            <a:r>
              <a:rPr lang="en-US" dirty="0"/>
              <a:t>tables</a:t>
            </a:r>
          </a:p>
          <a:p>
            <a:pPr marL="285750" indent="-285750">
              <a:buFont typeface="Arial" panose="020B0604020202020204" pitchFamily="34" charset="0"/>
              <a:buChar char="•"/>
            </a:pPr>
            <a:r>
              <a:rPr lang="en-US" dirty="0"/>
              <a:t>SEP_PLAN </a:t>
            </a:r>
          </a:p>
          <a:p>
            <a:pPr marL="285750" indent="-285750">
              <a:buFont typeface="Arial" panose="020B0604020202020204" pitchFamily="34" charset="0"/>
              <a:buChar char="•"/>
            </a:pPr>
            <a:r>
              <a:rPr lang="en-US" dirty="0" smtClean="0"/>
              <a:t>SEP_PLAN_TERM</a:t>
            </a:r>
          </a:p>
          <a:p>
            <a:pPr marL="285750" indent="-285750">
              <a:buFont typeface="Arial" panose="020B0604020202020204" pitchFamily="34" charset="0"/>
              <a:buChar char="•"/>
            </a:pPr>
            <a:r>
              <a:rPr lang="en-US" dirty="0" smtClean="0"/>
              <a:t>RAD_GOALDATA_DTL</a:t>
            </a:r>
          </a:p>
          <a:p>
            <a:r>
              <a:rPr lang="en-US" dirty="0" smtClean="0"/>
              <a:t>Need two queries</a:t>
            </a:r>
          </a:p>
          <a:p>
            <a:pPr marL="285750" indent="-285750">
              <a:buFont typeface="Arial" panose="020B0604020202020204" pitchFamily="34" charset="0"/>
              <a:buChar char="•"/>
            </a:pPr>
            <a:r>
              <a:rPr lang="en-US" dirty="0" smtClean="0"/>
              <a:t>One to identify who does have a plan</a:t>
            </a:r>
          </a:p>
          <a:p>
            <a:pPr marL="285750" indent="-285750">
              <a:buFont typeface="Arial" panose="020B0604020202020204" pitchFamily="34" charset="0"/>
              <a:buChar char="•"/>
            </a:pPr>
            <a:r>
              <a:rPr lang="en-US" dirty="0" smtClean="0"/>
              <a:t>Use that as criteria for second query</a:t>
            </a:r>
            <a:endParaRPr lang="en-US" dirty="0"/>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50</a:t>
            </a:fld>
            <a:endParaRPr lang="en-US" dirty="0"/>
          </a:p>
        </p:txBody>
      </p:sp>
    </p:spTree>
    <p:extLst>
      <p:ext uri="{BB962C8B-B14F-4D97-AF65-F5344CB8AC3E}">
        <p14:creationId xmlns:p14="http://schemas.microsoft.com/office/powerpoint/2010/main" val="153381011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a:t>SELECT </a:t>
            </a:r>
            <a:r>
              <a:rPr lang="en-US" dirty="0" err="1"/>
              <a:t>rad_goaldata_dtl.rad_id</a:t>
            </a:r>
            <a:r>
              <a:rPr lang="en-US" dirty="0"/>
              <a:t>, </a:t>
            </a:r>
            <a:br>
              <a:rPr lang="en-US" dirty="0"/>
            </a:br>
            <a:r>
              <a:rPr lang="en-US" dirty="0" err="1"/>
              <a:t>rad_goaldata_dtl.rad_goal_code</a:t>
            </a:r>
            <a:r>
              <a:rPr lang="en-US" dirty="0"/>
              <a:t>, </a:t>
            </a:r>
            <a:br>
              <a:rPr lang="en-US" dirty="0"/>
            </a:br>
            <a:r>
              <a:rPr lang="en-US" dirty="0" err="1"/>
              <a:t>rad_goaldata_dtl.rad_goal_value</a:t>
            </a:r>
            <a:endParaRPr lang="en-US" dirty="0"/>
          </a:p>
          <a:p>
            <a:r>
              <a:rPr lang="en-US" dirty="0"/>
              <a:t>FROM </a:t>
            </a:r>
            <a:r>
              <a:rPr lang="en-US" dirty="0" err="1"/>
              <a:t>rad_goaldata_dtl</a:t>
            </a:r>
            <a:endParaRPr lang="en-US" dirty="0"/>
          </a:p>
          <a:p>
            <a:r>
              <a:rPr lang="en-US" dirty="0"/>
              <a:t>WHERE </a:t>
            </a:r>
            <a:r>
              <a:rPr lang="en-US" dirty="0" err="1"/>
              <a:t>rad_goaldata_dtl.rad_id</a:t>
            </a:r>
            <a:r>
              <a:rPr lang="en-US" dirty="0"/>
              <a:t> NOT IN (</a:t>
            </a:r>
            <a:r>
              <a:rPr lang="en-US" dirty="0">
                <a:solidFill>
                  <a:schemeClr val="accent5"/>
                </a:solidFill>
              </a:rPr>
              <a:t>SELECT </a:t>
            </a:r>
            <a:r>
              <a:rPr lang="en-US" dirty="0" err="1">
                <a:solidFill>
                  <a:schemeClr val="accent5"/>
                </a:solidFill>
              </a:rPr>
              <a:t>sep_plan.student_id</a:t>
            </a:r>
            <a:endParaRPr lang="en-US" dirty="0">
              <a:solidFill>
                <a:schemeClr val="accent5"/>
              </a:solidFill>
            </a:endParaRPr>
          </a:p>
          <a:p>
            <a:r>
              <a:rPr lang="en-US" dirty="0">
                <a:solidFill>
                  <a:schemeClr val="accent5"/>
                </a:solidFill>
              </a:rPr>
              <a:t>FROM </a:t>
            </a:r>
            <a:r>
              <a:rPr lang="en-US" dirty="0" err="1">
                <a:solidFill>
                  <a:schemeClr val="accent5"/>
                </a:solidFill>
              </a:rPr>
              <a:t>sep_plan</a:t>
            </a:r>
            <a:r>
              <a:rPr lang="en-US" dirty="0">
                <a:solidFill>
                  <a:schemeClr val="accent5"/>
                </a:solidFill>
              </a:rPr>
              <a:t>, </a:t>
            </a:r>
            <a:r>
              <a:rPr lang="en-US" dirty="0" err="1">
                <a:solidFill>
                  <a:schemeClr val="accent5"/>
                </a:solidFill>
              </a:rPr>
              <a:t>sep_plan_term</a:t>
            </a:r>
            <a:r>
              <a:rPr lang="en-US" dirty="0">
                <a:solidFill>
                  <a:schemeClr val="accent5"/>
                </a:solidFill>
              </a:rPr>
              <a:t>, </a:t>
            </a:r>
            <a:r>
              <a:rPr lang="en-US" dirty="0" err="1">
                <a:solidFill>
                  <a:schemeClr val="accent5"/>
                </a:solidFill>
              </a:rPr>
              <a:t>rad_goaldata_dtl</a:t>
            </a:r>
            <a:endParaRPr lang="en-US" dirty="0">
              <a:solidFill>
                <a:schemeClr val="accent5"/>
              </a:solidFill>
            </a:endParaRPr>
          </a:p>
          <a:p>
            <a:r>
              <a:rPr lang="en-US" dirty="0">
                <a:solidFill>
                  <a:schemeClr val="accent5"/>
                </a:solidFill>
              </a:rPr>
              <a:t>WHERE </a:t>
            </a:r>
            <a:r>
              <a:rPr lang="en-US" dirty="0" err="1">
                <a:solidFill>
                  <a:schemeClr val="accent5"/>
                </a:solidFill>
              </a:rPr>
              <a:t>sep_plan.is_active</a:t>
            </a:r>
            <a:r>
              <a:rPr lang="en-US" dirty="0">
                <a:solidFill>
                  <a:schemeClr val="accent5"/>
                </a:solidFill>
              </a:rPr>
              <a:t>='Y' AND </a:t>
            </a:r>
            <a:br>
              <a:rPr lang="en-US" dirty="0">
                <a:solidFill>
                  <a:schemeClr val="accent5"/>
                </a:solidFill>
              </a:rPr>
            </a:br>
            <a:r>
              <a:rPr lang="en-US" dirty="0" err="1">
                <a:solidFill>
                  <a:schemeClr val="accent5"/>
                </a:solidFill>
              </a:rPr>
              <a:t>sep_plan.is_locked</a:t>
            </a:r>
            <a:r>
              <a:rPr lang="en-US" dirty="0">
                <a:solidFill>
                  <a:schemeClr val="accent5"/>
                </a:solidFill>
              </a:rPr>
              <a:t>='Y' AND </a:t>
            </a:r>
            <a:br>
              <a:rPr lang="en-US" dirty="0">
                <a:solidFill>
                  <a:schemeClr val="accent5"/>
                </a:solidFill>
              </a:rPr>
            </a:br>
            <a:r>
              <a:rPr lang="en-US" dirty="0" err="1">
                <a:solidFill>
                  <a:schemeClr val="accent5"/>
                </a:solidFill>
              </a:rPr>
              <a:t>sep_plan_term.term</a:t>
            </a:r>
            <a:r>
              <a:rPr lang="en-US" dirty="0">
                <a:solidFill>
                  <a:schemeClr val="accent5"/>
                </a:solidFill>
              </a:rPr>
              <a:t>='201910' AND </a:t>
            </a:r>
            <a:br>
              <a:rPr lang="en-US" dirty="0">
                <a:solidFill>
                  <a:schemeClr val="accent5"/>
                </a:solidFill>
              </a:rPr>
            </a:br>
            <a:r>
              <a:rPr lang="en-US" dirty="0" err="1">
                <a:solidFill>
                  <a:schemeClr val="accent5"/>
                </a:solidFill>
              </a:rPr>
              <a:t>sep_plan_term.plan_id</a:t>
            </a:r>
            <a:r>
              <a:rPr lang="en-US" dirty="0">
                <a:solidFill>
                  <a:schemeClr val="accent5"/>
                </a:solidFill>
              </a:rPr>
              <a:t>=</a:t>
            </a:r>
            <a:r>
              <a:rPr lang="en-US" dirty="0" err="1">
                <a:solidFill>
                  <a:schemeClr val="accent5"/>
                </a:solidFill>
              </a:rPr>
              <a:t>sep_plan.plan_id</a:t>
            </a:r>
            <a:r>
              <a:rPr lang="en-US" dirty="0">
                <a:solidFill>
                  <a:schemeClr val="accent5"/>
                </a:solidFill>
              </a:rPr>
              <a:t> AND </a:t>
            </a:r>
            <a:br>
              <a:rPr lang="en-US" dirty="0">
                <a:solidFill>
                  <a:schemeClr val="accent5"/>
                </a:solidFill>
              </a:rPr>
            </a:br>
            <a:r>
              <a:rPr lang="en-US" dirty="0" err="1">
                <a:solidFill>
                  <a:schemeClr val="accent5"/>
                </a:solidFill>
              </a:rPr>
              <a:t>sep_plan.student_id</a:t>
            </a:r>
            <a:r>
              <a:rPr lang="en-US" dirty="0">
                <a:solidFill>
                  <a:schemeClr val="accent5"/>
                </a:solidFill>
              </a:rPr>
              <a:t>=</a:t>
            </a:r>
            <a:r>
              <a:rPr lang="en-US" dirty="0" err="1">
                <a:solidFill>
                  <a:schemeClr val="accent5"/>
                </a:solidFill>
              </a:rPr>
              <a:t>rad_goaldata_dtl.rad_id</a:t>
            </a:r>
            <a:r>
              <a:rPr lang="en-US" dirty="0">
                <a:solidFill>
                  <a:schemeClr val="accent5"/>
                </a:solidFill>
              </a:rPr>
              <a:t> AND </a:t>
            </a:r>
            <a:br>
              <a:rPr lang="en-US" dirty="0">
                <a:solidFill>
                  <a:schemeClr val="accent5"/>
                </a:solidFill>
              </a:rPr>
            </a:br>
            <a:r>
              <a:rPr lang="en-US" dirty="0" err="1">
                <a:solidFill>
                  <a:schemeClr val="accent5"/>
                </a:solidFill>
              </a:rPr>
              <a:t>rad_goaldata_dtl.rad_goal_code</a:t>
            </a:r>
            <a:r>
              <a:rPr lang="en-US" dirty="0">
                <a:solidFill>
                  <a:schemeClr val="accent5"/>
                </a:solidFill>
              </a:rPr>
              <a:t>='MAJOR' AND </a:t>
            </a:r>
            <a:br>
              <a:rPr lang="en-US" dirty="0">
                <a:solidFill>
                  <a:schemeClr val="accent5"/>
                </a:solidFill>
              </a:rPr>
            </a:br>
            <a:r>
              <a:rPr lang="en-US" dirty="0" err="1">
                <a:solidFill>
                  <a:schemeClr val="accent5"/>
                </a:solidFill>
              </a:rPr>
              <a:t>rad_goaldata_dtl.rad_goal_value</a:t>
            </a:r>
            <a:r>
              <a:rPr lang="en-US" dirty="0">
                <a:solidFill>
                  <a:schemeClr val="accent5"/>
                </a:solidFill>
              </a:rPr>
              <a:t>='CYBR';</a:t>
            </a:r>
            <a:r>
              <a:rPr lang="en-US" dirty="0"/>
              <a:t>) AND </a:t>
            </a:r>
            <a:br>
              <a:rPr lang="en-US" dirty="0"/>
            </a:br>
            <a:r>
              <a:rPr lang="en-US" dirty="0" err="1"/>
              <a:t>rad_goaldata_dtl.rad_goal_code</a:t>
            </a:r>
            <a:r>
              <a:rPr lang="en-US" dirty="0"/>
              <a:t>='MAJOR' AND</a:t>
            </a:r>
            <a:br>
              <a:rPr lang="en-US" dirty="0"/>
            </a:br>
            <a:r>
              <a:rPr lang="en-US" dirty="0"/>
              <a:t> </a:t>
            </a:r>
            <a:r>
              <a:rPr lang="en-US" dirty="0" err="1"/>
              <a:t>rad_goaldata_dtl.rad_goal_value</a:t>
            </a:r>
            <a:r>
              <a:rPr lang="en-US" dirty="0"/>
              <a:t>='CYBR';</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51</a:t>
            </a:fld>
            <a:endParaRPr lang="en-US" dirty="0"/>
          </a:p>
        </p:txBody>
      </p:sp>
    </p:spTree>
    <p:extLst>
      <p:ext uri="{BB962C8B-B14F-4D97-AF65-F5344CB8AC3E}">
        <p14:creationId xmlns:p14="http://schemas.microsoft.com/office/powerpoint/2010/main" val="35021840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562680" y="1657350"/>
            <a:ext cx="4028165" cy="1040229"/>
          </a:xfrm>
          <a:prstGeom prst="rect">
            <a:avLst/>
          </a:prstGeom>
        </p:spPr>
      </p:pic>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52</a:t>
            </a:fld>
            <a:endParaRPr lang="en-US" dirty="0"/>
          </a:p>
        </p:txBody>
      </p:sp>
    </p:spTree>
    <p:extLst>
      <p:ext uri="{BB962C8B-B14F-4D97-AF65-F5344CB8AC3E}">
        <p14:creationId xmlns:p14="http://schemas.microsoft.com/office/powerpoint/2010/main" val="36625022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smtClean="0"/>
              <a:t>Choice </a:t>
            </a:r>
          </a:p>
          <a:p>
            <a:pPr marL="285750" indent="-285750">
              <a:buFont typeface="Arial" panose="020B0604020202020204" pitchFamily="34" charset="0"/>
              <a:buChar char="•"/>
            </a:pPr>
            <a:r>
              <a:rPr lang="en-US" dirty="0" smtClean="0"/>
              <a:t>Test</a:t>
            </a:r>
          </a:p>
          <a:p>
            <a:pPr marL="285750" indent="-285750">
              <a:buFont typeface="Arial" panose="020B0604020202020204" pitchFamily="34" charset="0"/>
              <a:buChar char="•"/>
            </a:pPr>
            <a:r>
              <a:rPr lang="en-US" dirty="0" err="1" smtClean="0"/>
              <a:t>Noncourse</a:t>
            </a:r>
            <a:endParaRPr lang="en-US" dirty="0" smtClean="0"/>
          </a:p>
          <a:p>
            <a:pPr marL="285750" indent="-285750">
              <a:buFont typeface="Arial" panose="020B0604020202020204" pitchFamily="34" charset="0"/>
              <a:buChar char="•"/>
            </a:pPr>
            <a:r>
              <a:rPr lang="en-US" dirty="0" smtClean="0"/>
              <a:t>Placeholder</a:t>
            </a:r>
          </a:p>
          <a:p>
            <a:pPr marL="285750" indent="-285750">
              <a:buFont typeface="Arial" panose="020B0604020202020204" pitchFamily="34" charset="0"/>
              <a:buChar char="•"/>
            </a:pPr>
            <a:r>
              <a:rPr lang="en-US" dirty="0" smtClean="0"/>
              <a:t>Notes</a:t>
            </a:r>
            <a:endParaRPr lang="en-US" dirty="0"/>
          </a:p>
        </p:txBody>
      </p:sp>
      <p:sp>
        <p:nvSpPr>
          <p:cNvPr id="3" name="Title 2"/>
          <p:cNvSpPr>
            <a:spLocks noGrp="1"/>
          </p:cNvSpPr>
          <p:nvPr>
            <p:ph type="title"/>
          </p:nvPr>
        </p:nvSpPr>
        <p:spPr/>
        <p:txBody>
          <a:bodyPr/>
          <a:lstStyle/>
          <a:p>
            <a:r>
              <a:rPr lang="en-US" dirty="0" smtClean="0"/>
              <a:t>Other Considerations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53</a:t>
            </a:fld>
            <a:endParaRPr lang="en-US" dirty="0"/>
          </a:p>
        </p:txBody>
      </p:sp>
    </p:spTree>
    <p:extLst>
      <p:ext uri="{BB962C8B-B14F-4D97-AF65-F5344CB8AC3E}">
        <p14:creationId xmlns:p14="http://schemas.microsoft.com/office/powerpoint/2010/main" val="309161262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Graduation and Missing Requirements</a:t>
            </a:r>
            <a:endParaRPr lang="en-US" dirty="0"/>
          </a:p>
        </p:txBody>
      </p:sp>
      <p:sp>
        <p:nvSpPr>
          <p:cNvPr id="3" name="Subtitle 2"/>
          <p:cNvSpPr>
            <a:spLocks noGrp="1"/>
          </p:cNvSpPr>
          <p:nvPr>
            <p:ph type="subTitle" idx="1"/>
          </p:nvPr>
        </p:nvSpPr>
        <p:spPr/>
        <p:txBody>
          <a:bodyPr/>
          <a:lstStyle/>
          <a:p>
            <a:r>
              <a:rPr lang="en-US" dirty="0"/>
              <a:t>a</a:t>
            </a:r>
            <a:r>
              <a:rPr lang="en-US" dirty="0" smtClean="0"/>
              <a:t>nd Exceptions, too</a:t>
            </a:r>
            <a:endParaRPr lang="en-US" dirty="0"/>
          </a:p>
        </p:txBody>
      </p:sp>
    </p:spTree>
    <p:extLst>
      <p:ext uri="{BB962C8B-B14F-4D97-AF65-F5344CB8AC3E}">
        <p14:creationId xmlns:p14="http://schemas.microsoft.com/office/powerpoint/2010/main" val="37831184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CPA_BLOCKCRCLNEEDED Table</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55</a:t>
            </a:fld>
            <a:endParaRPr lang="en-US" dirty="0"/>
          </a:p>
        </p:txBody>
      </p:sp>
      <p:pic>
        <p:nvPicPr>
          <p:cNvPr id="8" name="Content Placeholder 7"/>
          <p:cNvPicPr>
            <a:picLocks noGrp="1" noChangeAspect="1"/>
          </p:cNvPicPr>
          <p:nvPr>
            <p:ph idx="1"/>
          </p:nvPr>
        </p:nvPicPr>
        <p:blipFill>
          <a:blip r:embed="rId3"/>
          <a:stretch>
            <a:fillRect/>
          </a:stretch>
        </p:blipFill>
        <p:spPr>
          <a:xfrm>
            <a:off x="457200" y="1136650"/>
            <a:ext cx="4035225" cy="3257550"/>
          </a:xfrm>
          <a:prstGeom prst="rect">
            <a:avLst/>
          </a:prstGeom>
        </p:spPr>
      </p:pic>
      <p:pic>
        <p:nvPicPr>
          <p:cNvPr id="10" name="Picture 9"/>
          <p:cNvPicPr>
            <a:picLocks noChangeAspect="1"/>
          </p:cNvPicPr>
          <p:nvPr/>
        </p:nvPicPr>
        <p:blipFill>
          <a:blip r:embed="rId4"/>
          <a:stretch>
            <a:fillRect/>
          </a:stretch>
        </p:blipFill>
        <p:spPr>
          <a:xfrm>
            <a:off x="5206505" y="1136650"/>
            <a:ext cx="3543795" cy="3048425"/>
          </a:xfrm>
          <a:prstGeom prst="rect">
            <a:avLst/>
          </a:prstGeom>
        </p:spPr>
      </p:pic>
      <p:cxnSp>
        <p:nvCxnSpPr>
          <p:cNvPr id="12" name="Straight Arrow Connector 11"/>
          <p:cNvCxnSpPr/>
          <p:nvPr/>
        </p:nvCxnSpPr>
        <p:spPr>
          <a:xfrm flipH="1">
            <a:off x="3612258" y="1246188"/>
            <a:ext cx="3982552" cy="756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3105937" y="2570163"/>
            <a:ext cx="2735643" cy="14275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flipV="1">
            <a:off x="4492425" y="2570163"/>
            <a:ext cx="1349155" cy="11688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flipV="1">
            <a:off x="4492425" y="3030367"/>
            <a:ext cx="1349155" cy="70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816895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746365" y="1200150"/>
            <a:ext cx="3060378" cy="3257550"/>
          </a:xfrm>
          <a:prstGeom prst="rect">
            <a:avLst/>
          </a:prstGeom>
        </p:spPr>
      </p:pic>
      <p:sp>
        <p:nvSpPr>
          <p:cNvPr id="3" name="Title 2"/>
          <p:cNvSpPr>
            <a:spLocks noGrp="1"/>
          </p:cNvSpPr>
          <p:nvPr>
            <p:ph type="title"/>
          </p:nvPr>
        </p:nvSpPr>
        <p:spPr/>
        <p:txBody>
          <a:bodyPr/>
          <a:lstStyle/>
          <a:p>
            <a:r>
              <a:rPr lang="en-US" dirty="0" smtClean="0"/>
              <a:t>CPA_BLOCKGPA</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56</a:t>
            </a:fld>
            <a:endParaRPr lang="en-US" dirty="0"/>
          </a:p>
        </p:txBody>
      </p:sp>
      <p:pic>
        <p:nvPicPr>
          <p:cNvPr id="7" name="Picture 6"/>
          <p:cNvPicPr>
            <a:picLocks noChangeAspect="1"/>
          </p:cNvPicPr>
          <p:nvPr/>
        </p:nvPicPr>
        <p:blipFill>
          <a:blip r:embed="rId4"/>
          <a:stretch>
            <a:fillRect/>
          </a:stretch>
        </p:blipFill>
        <p:spPr>
          <a:xfrm>
            <a:off x="3995420" y="1434417"/>
            <a:ext cx="4754880" cy="235727"/>
          </a:xfrm>
          <a:prstGeom prst="rect">
            <a:avLst/>
          </a:prstGeom>
        </p:spPr>
      </p:pic>
      <p:pic>
        <p:nvPicPr>
          <p:cNvPr id="8" name="Picture 7"/>
          <p:cNvPicPr>
            <a:picLocks noChangeAspect="1"/>
          </p:cNvPicPr>
          <p:nvPr/>
        </p:nvPicPr>
        <p:blipFill>
          <a:blip r:embed="rId5"/>
          <a:stretch>
            <a:fillRect/>
          </a:stretch>
        </p:blipFill>
        <p:spPr>
          <a:xfrm>
            <a:off x="3995420" y="2497384"/>
            <a:ext cx="4754880" cy="221288"/>
          </a:xfrm>
          <a:prstGeom prst="rect">
            <a:avLst/>
          </a:prstGeom>
        </p:spPr>
      </p:pic>
      <p:cxnSp>
        <p:nvCxnSpPr>
          <p:cNvPr id="10" name="Straight Arrow Connector 9"/>
          <p:cNvCxnSpPr/>
          <p:nvPr/>
        </p:nvCxnSpPr>
        <p:spPr>
          <a:xfrm flipH="1">
            <a:off x="3045481" y="1662113"/>
            <a:ext cx="3506459" cy="6805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a:off x="3806743" y="1670144"/>
            <a:ext cx="2745197" cy="14509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3806743" y="2666882"/>
            <a:ext cx="3062593" cy="6657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flipV="1">
            <a:off x="2969911" y="2497384"/>
            <a:ext cx="3899425" cy="1807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p:cNvCxnSpPr>
            <a:stCxn id="8" idx="1"/>
          </p:cNvCxnSpPr>
          <p:nvPr/>
        </p:nvCxnSpPr>
        <p:spPr>
          <a:xfrm flipH="1">
            <a:off x="2969911" y="2608028"/>
            <a:ext cx="1025509" cy="325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32222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CPA_BLOCKLABELS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57</a:t>
            </a:fld>
            <a:endParaRPr lang="en-US" dirty="0"/>
          </a:p>
        </p:txBody>
      </p:sp>
      <p:pic>
        <p:nvPicPr>
          <p:cNvPr id="12" name="Picture 11"/>
          <p:cNvPicPr>
            <a:picLocks noChangeAspect="1"/>
          </p:cNvPicPr>
          <p:nvPr/>
        </p:nvPicPr>
        <p:blipFill>
          <a:blip r:embed="rId3"/>
          <a:stretch>
            <a:fillRect/>
          </a:stretch>
        </p:blipFill>
        <p:spPr>
          <a:xfrm>
            <a:off x="457200" y="1021834"/>
            <a:ext cx="8229600" cy="1018616"/>
          </a:xfrm>
          <a:prstGeom prst="rect">
            <a:avLst/>
          </a:prstGeom>
        </p:spPr>
      </p:pic>
      <p:pic>
        <p:nvPicPr>
          <p:cNvPr id="13" name="Picture 12"/>
          <p:cNvPicPr>
            <a:picLocks noChangeAspect="1"/>
          </p:cNvPicPr>
          <p:nvPr/>
        </p:nvPicPr>
        <p:blipFill>
          <a:blip r:embed="rId4"/>
          <a:stretch>
            <a:fillRect/>
          </a:stretch>
        </p:blipFill>
        <p:spPr>
          <a:xfrm>
            <a:off x="1234449" y="2361200"/>
            <a:ext cx="4001058" cy="2000529"/>
          </a:xfrm>
          <a:prstGeom prst="rect">
            <a:avLst/>
          </a:prstGeom>
        </p:spPr>
      </p:pic>
      <p:cxnSp>
        <p:nvCxnSpPr>
          <p:cNvPr id="15" name="Straight Arrow Connector 14"/>
          <p:cNvCxnSpPr/>
          <p:nvPr/>
        </p:nvCxnSpPr>
        <p:spPr>
          <a:xfrm flipV="1">
            <a:off x="4572000" y="1246188"/>
            <a:ext cx="1605963" cy="13239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3742124" y="1467650"/>
            <a:ext cx="2435839" cy="182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4715495" y="1553953"/>
            <a:ext cx="1462468" cy="2063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4903754" y="1750727"/>
            <a:ext cx="1274209" cy="21872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4572000" y="2009191"/>
            <a:ext cx="1636878" cy="21325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93212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457200" y="1200150"/>
            <a:ext cx="2755226" cy="3257550"/>
          </a:xfrm>
          <a:prstGeom prst="rect">
            <a:avLst/>
          </a:prstGeom>
        </p:spPr>
      </p:pic>
      <p:sp>
        <p:nvSpPr>
          <p:cNvPr id="3" name="Title 2"/>
          <p:cNvSpPr>
            <a:spLocks noGrp="1"/>
          </p:cNvSpPr>
          <p:nvPr>
            <p:ph type="title"/>
          </p:nvPr>
        </p:nvSpPr>
        <p:spPr/>
        <p:txBody>
          <a:bodyPr/>
          <a:lstStyle/>
          <a:p>
            <a:r>
              <a:rPr lang="en-US" dirty="0" smtClean="0"/>
              <a:t>CPA_CLASSAPPLIED</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58</a:t>
            </a:fld>
            <a:endParaRPr lang="en-US" dirty="0"/>
          </a:p>
        </p:txBody>
      </p:sp>
      <p:pic>
        <p:nvPicPr>
          <p:cNvPr id="7" name="Picture 6"/>
          <p:cNvPicPr>
            <a:picLocks noChangeAspect="1"/>
          </p:cNvPicPr>
          <p:nvPr/>
        </p:nvPicPr>
        <p:blipFill>
          <a:blip r:embed="rId4"/>
          <a:stretch>
            <a:fillRect/>
          </a:stretch>
        </p:blipFill>
        <p:spPr>
          <a:xfrm>
            <a:off x="3749040" y="1900195"/>
            <a:ext cx="5394960" cy="135022"/>
          </a:xfrm>
          <a:prstGeom prst="rect">
            <a:avLst/>
          </a:prstGeom>
        </p:spPr>
      </p:pic>
      <p:cxnSp>
        <p:nvCxnSpPr>
          <p:cNvPr id="9" name="Straight Arrow Connector 8"/>
          <p:cNvCxnSpPr/>
          <p:nvPr/>
        </p:nvCxnSpPr>
        <p:spPr>
          <a:xfrm flipH="1">
            <a:off x="3212426" y="2035217"/>
            <a:ext cx="2750067" cy="14939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endCxn id="6" idx="3"/>
          </p:cNvCxnSpPr>
          <p:nvPr/>
        </p:nvCxnSpPr>
        <p:spPr>
          <a:xfrm flipH="1">
            <a:off x="3212426" y="2035217"/>
            <a:ext cx="2750067" cy="7937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3212426" y="2035217"/>
            <a:ext cx="2750067" cy="1024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34772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Who completed a requirement labeled Global Survey of Art History and what course is applied?</a:t>
            </a:r>
          </a:p>
        </p:txBody>
      </p:sp>
      <p:sp>
        <p:nvSpPr>
          <p:cNvPr id="3" name="Title 2"/>
          <p:cNvSpPr>
            <a:spLocks noGrp="1"/>
          </p:cNvSpPr>
          <p:nvPr>
            <p:ph type="title"/>
          </p:nvPr>
        </p:nvSpPr>
        <p:spPr/>
        <p:txBody>
          <a:bodyPr>
            <a:normAutofit fontScale="90000"/>
          </a:bodyPr>
          <a:lstStyle/>
          <a:p>
            <a:r>
              <a:rPr lang="en-US" dirty="0" smtClean="0"/>
              <a:t>CPA_BLOCKLABELS + CPA_CLASSAPPLIED</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59</a:t>
            </a:fld>
            <a:endParaRPr lang="en-US" dirty="0"/>
          </a:p>
        </p:txBody>
      </p:sp>
    </p:spTree>
    <p:extLst>
      <p:ext uri="{BB962C8B-B14F-4D97-AF65-F5344CB8AC3E}">
        <p14:creationId xmlns:p14="http://schemas.microsoft.com/office/powerpoint/2010/main" val="1863438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SELECT </a:t>
            </a:r>
            <a:r>
              <a:rPr lang="en-US" dirty="0" err="1"/>
              <a:t>cpa_classapplied.stu_id</a:t>
            </a:r>
            <a:r>
              <a:rPr lang="en-US" dirty="0"/>
              <a:t>, </a:t>
            </a:r>
            <a:r>
              <a:rPr lang="en-US" dirty="0" smtClean="0"/>
              <a:t/>
            </a:r>
            <a:br>
              <a:rPr lang="en-US" dirty="0" smtClean="0"/>
            </a:br>
            <a:r>
              <a:rPr lang="en-US" dirty="0" err="1" smtClean="0"/>
              <a:t>cpa_blocklabels.req_id</a:t>
            </a:r>
            <a:r>
              <a:rPr lang="en-US" dirty="0"/>
              <a:t>, </a:t>
            </a:r>
            <a:r>
              <a:rPr lang="en-US" dirty="0" smtClean="0"/>
              <a:t/>
            </a:r>
            <a:br>
              <a:rPr lang="en-US" dirty="0" smtClean="0"/>
            </a:br>
            <a:r>
              <a:rPr lang="en-US" dirty="0" err="1" smtClean="0"/>
              <a:t>cpa_blocklabels.rule_id</a:t>
            </a:r>
            <a:r>
              <a:rPr lang="en-US" dirty="0"/>
              <a:t>, </a:t>
            </a:r>
            <a:r>
              <a:rPr lang="en-US" dirty="0" smtClean="0"/>
              <a:t/>
            </a:r>
            <a:br>
              <a:rPr lang="en-US" dirty="0" smtClean="0"/>
            </a:br>
            <a:r>
              <a:rPr lang="en-US" dirty="0" err="1" smtClean="0"/>
              <a:t>cpa_blocklabels.label_text</a:t>
            </a:r>
            <a:r>
              <a:rPr lang="en-US" dirty="0"/>
              <a:t>, </a:t>
            </a:r>
            <a:r>
              <a:rPr lang="en-US" dirty="0" smtClean="0"/>
              <a:t/>
            </a:r>
            <a:br>
              <a:rPr lang="en-US" dirty="0" smtClean="0"/>
            </a:br>
            <a:r>
              <a:rPr lang="en-US" dirty="0" err="1" smtClean="0"/>
              <a:t>cpa_classapplied.course_key</a:t>
            </a:r>
            <a:endParaRPr lang="en-US" dirty="0"/>
          </a:p>
          <a:p>
            <a:r>
              <a:rPr lang="en-US" dirty="0"/>
              <a:t>FROM </a:t>
            </a:r>
            <a:r>
              <a:rPr lang="en-US" dirty="0" err="1"/>
              <a:t>cpa_classapplied</a:t>
            </a:r>
            <a:r>
              <a:rPr lang="en-US" dirty="0"/>
              <a:t>, </a:t>
            </a:r>
            <a:r>
              <a:rPr lang="en-US" dirty="0" err="1"/>
              <a:t>cpa_blocklabels</a:t>
            </a:r>
            <a:endParaRPr lang="en-US" dirty="0"/>
          </a:p>
          <a:p>
            <a:r>
              <a:rPr lang="en-US" dirty="0"/>
              <a:t>WHERE </a:t>
            </a:r>
            <a:r>
              <a:rPr lang="en-US" dirty="0" err="1"/>
              <a:t>cpa_blocklabels.req_id</a:t>
            </a:r>
            <a:r>
              <a:rPr lang="en-US" dirty="0"/>
              <a:t>=</a:t>
            </a:r>
            <a:r>
              <a:rPr lang="en-US" dirty="0" err="1"/>
              <a:t>cpa_classapplied.req_id</a:t>
            </a:r>
            <a:r>
              <a:rPr lang="en-US" dirty="0"/>
              <a:t> AND </a:t>
            </a:r>
            <a:r>
              <a:rPr lang="en-US" dirty="0" err="1"/>
              <a:t>cpa_blocklabels.rule_id</a:t>
            </a:r>
            <a:r>
              <a:rPr lang="en-US" dirty="0"/>
              <a:t>=</a:t>
            </a:r>
            <a:r>
              <a:rPr lang="en-US" dirty="0" err="1"/>
              <a:t>cpa_classapplied.rule_id</a:t>
            </a:r>
            <a:r>
              <a:rPr lang="en-US" dirty="0"/>
              <a:t> AND </a:t>
            </a:r>
            <a:r>
              <a:rPr lang="en-US" dirty="0" err="1"/>
              <a:t>cpa_blocklabels.label_text</a:t>
            </a:r>
            <a:r>
              <a:rPr lang="en-US" dirty="0"/>
              <a:t>='Global Survey of Art History';</a:t>
            </a:r>
          </a:p>
        </p:txBody>
      </p:sp>
      <p:sp>
        <p:nvSpPr>
          <p:cNvPr id="3" name="Title 2"/>
          <p:cNvSpPr>
            <a:spLocks noGrp="1"/>
          </p:cNvSpPr>
          <p:nvPr>
            <p:ph type="title"/>
          </p:nvPr>
        </p:nvSpPr>
        <p:spPr/>
        <p:txBody>
          <a:bodyPr>
            <a:normAutofit/>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60</a:t>
            </a:fld>
            <a:endParaRPr lang="en-US" dirty="0"/>
          </a:p>
        </p:txBody>
      </p:sp>
    </p:spTree>
    <p:extLst>
      <p:ext uri="{BB962C8B-B14F-4D97-AF65-F5344CB8AC3E}">
        <p14:creationId xmlns:p14="http://schemas.microsoft.com/office/powerpoint/2010/main" val="12595151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606425" y="1301623"/>
            <a:ext cx="6858000" cy="1020741"/>
          </a:xfrm>
          <a:prstGeom prst="rect">
            <a:avLst/>
          </a:prstGeom>
        </p:spPr>
      </p:pic>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61</a:t>
            </a:fld>
            <a:endParaRPr lang="en-US" dirty="0"/>
          </a:p>
        </p:txBody>
      </p:sp>
    </p:spTree>
    <p:extLst>
      <p:ext uri="{BB962C8B-B14F-4D97-AF65-F5344CB8AC3E}">
        <p14:creationId xmlns:p14="http://schemas.microsoft.com/office/powerpoint/2010/main" val="224862056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Who completed ARTH 150 and what </a:t>
            </a:r>
            <a:r>
              <a:rPr lang="en-US" dirty="0" smtClean="0"/>
              <a:t>is the label of the requirement it applied to?</a:t>
            </a:r>
            <a:endParaRPr lang="en-US" dirty="0"/>
          </a:p>
        </p:txBody>
      </p:sp>
      <p:sp>
        <p:nvSpPr>
          <p:cNvPr id="3" name="Title 2"/>
          <p:cNvSpPr>
            <a:spLocks noGrp="1"/>
          </p:cNvSpPr>
          <p:nvPr>
            <p:ph type="title"/>
          </p:nvPr>
        </p:nvSpPr>
        <p:spPr/>
        <p:txBody>
          <a:bodyPr>
            <a:normAutofit fontScale="90000"/>
          </a:bodyPr>
          <a:lstStyle/>
          <a:p>
            <a:r>
              <a:rPr lang="en-US" dirty="0"/>
              <a:t>CPA_BLOCKLABELS + CPA_CLASSAPPLIED</a:t>
            </a:r>
          </a:p>
        </p:txBody>
      </p:sp>
      <p:sp>
        <p:nvSpPr>
          <p:cNvPr id="4" name="Slide Number Placeholder 3"/>
          <p:cNvSpPr>
            <a:spLocks noGrp="1"/>
          </p:cNvSpPr>
          <p:nvPr>
            <p:ph type="sldNum" sz="quarter" idx="4"/>
          </p:nvPr>
        </p:nvSpPr>
        <p:spPr/>
        <p:txBody>
          <a:bodyPr/>
          <a:lstStyle/>
          <a:p>
            <a:fld id="{40A085A0-3A3D-6540-B0AC-0588E66301FB}" type="slidenum">
              <a:rPr lang="en-US" smtClean="0"/>
              <a:pPr/>
              <a:t>62</a:t>
            </a:fld>
            <a:endParaRPr lang="en-US" dirty="0"/>
          </a:p>
        </p:txBody>
      </p:sp>
    </p:spTree>
    <p:extLst>
      <p:ext uri="{BB962C8B-B14F-4D97-AF65-F5344CB8AC3E}">
        <p14:creationId xmlns:p14="http://schemas.microsoft.com/office/powerpoint/2010/main" val="300992836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SELECT </a:t>
            </a:r>
            <a:r>
              <a:rPr lang="en-US" dirty="0" err="1"/>
              <a:t>cpa_classapplied.stu_id</a:t>
            </a:r>
            <a:r>
              <a:rPr lang="en-US" dirty="0"/>
              <a:t>, </a:t>
            </a:r>
            <a:r>
              <a:rPr lang="en-US" dirty="0" smtClean="0"/>
              <a:t/>
            </a:r>
            <a:br>
              <a:rPr lang="en-US" dirty="0" smtClean="0"/>
            </a:br>
            <a:r>
              <a:rPr lang="en-US" dirty="0" err="1" smtClean="0"/>
              <a:t>cpa_blocklabels.req_id</a:t>
            </a:r>
            <a:r>
              <a:rPr lang="en-US" dirty="0"/>
              <a:t>, </a:t>
            </a:r>
            <a:r>
              <a:rPr lang="en-US" dirty="0" smtClean="0"/>
              <a:t/>
            </a:r>
            <a:br>
              <a:rPr lang="en-US" dirty="0" smtClean="0"/>
            </a:br>
            <a:r>
              <a:rPr lang="en-US" dirty="0" err="1" smtClean="0"/>
              <a:t>cpa_blocklabels.rule_id</a:t>
            </a:r>
            <a:r>
              <a:rPr lang="en-US" dirty="0"/>
              <a:t>, </a:t>
            </a:r>
            <a:r>
              <a:rPr lang="en-US" dirty="0" smtClean="0"/>
              <a:t/>
            </a:r>
            <a:br>
              <a:rPr lang="en-US" dirty="0" smtClean="0"/>
            </a:br>
            <a:r>
              <a:rPr lang="en-US" dirty="0" err="1" smtClean="0"/>
              <a:t>cpa_blocklabels.label_text</a:t>
            </a:r>
            <a:r>
              <a:rPr lang="en-US" dirty="0"/>
              <a:t>, </a:t>
            </a:r>
            <a:r>
              <a:rPr lang="en-US" dirty="0" smtClean="0"/>
              <a:t/>
            </a:r>
            <a:br>
              <a:rPr lang="en-US" dirty="0" smtClean="0"/>
            </a:br>
            <a:r>
              <a:rPr lang="en-US" dirty="0" err="1" smtClean="0"/>
              <a:t>cpa_classapplied.course_key</a:t>
            </a:r>
            <a:endParaRPr lang="en-US" dirty="0"/>
          </a:p>
          <a:p>
            <a:r>
              <a:rPr lang="en-US" dirty="0"/>
              <a:t>FROM </a:t>
            </a:r>
            <a:r>
              <a:rPr lang="en-US" dirty="0" err="1"/>
              <a:t>cpa_classapplied</a:t>
            </a:r>
            <a:r>
              <a:rPr lang="en-US" dirty="0"/>
              <a:t>, </a:t>
            </a:r>
            <a:r>
              <a:rPr lang="en-US" dirty="0" err="1"/>
              <a:t>cpa_blocklabels</a:t>
            </a:r>
            <a:endParaRPr lang="en-US" dirty="0"/>
          </a:p>
          <a:p>
            <a:r>
              <a:rPr lang="en-US" dirty="0"/>
              <a:t>WHERE </a:t>
            </a:r>
            <a:r>
              <a:rPr lang="en-US" dirty="0" err="1"/>
              <a:t>cpa_blocklabels.req_id</a:t>
            </a:r>
            <a:r>
              <a:rPr lang="en-US" dirty="0"/>
              <a:t>=</a:t>
            </a:r>
            <a:r>
              <a:rPr lang="en-US" dirty="0" err="1"/>
              <a:t>cpa_classapplied.req_id</a:t>
            </a:r>
            <a:r>
              <a:rPr lang="en-US" dirty="0"/>
              <a:t> AND </a:t>
            </a:r>
            <a:r>
              <a:rPr lang="en-US" dirty="0" err="1"/>
              <a:t>cpa_blocklabels.rule_id</a:t>
            </a:r>
            <a:r>
              <a:rPr lang="en-US" dirty="0"/>
              <a:t>=</a:t>
            </a:r>
            <a:r>
              <a:rPr lang="en-US" dirty="0" err="1"/>
              <a:t>cpa_classapplied.rule_id</a:t>
            </a:r>
            <a:r>
              <a:rPr lang="en-US" dirty="0"/>
              <a:t> AND </a:t>
            </a:r>
            <a:r>
              <a:rPr lang="en-US" dirty="0" err="1"/>
              <a:t>cpa_classapplied.course_key</a:t>
            </a:r>
            <a:r>
              <a:rPr lang="en-US" dirty="0"/>
              <a:t> </a:t>
            </a:r>
            <a:r>
              <a:rPr lang="en-US" dirty="0" smtClean="0"/>
              <a:t>='ARTH 150';</a:t>
            </a:r>
            <a:endParaRPr lang="en-US" dirty="0"/>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63</a:t>
            </a:fld>
            <a:endParaRPr lang="en-US" dirty="0"/>
          </a:p>
        </p:txBody>
      </p:sp>
    </p:spTree>
    <p:extLst>
      <p:ext uri="{BB962C8B-B14F-4D97-AF65-F5344CB8AC3E}">
        <p14:creationId xmlns:p14="http://schemas.microsoft.com/office/powerpoint/2010/main" val="76863235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457200" y="1271460"/>
            <a:ext cx="6858000" cy="771779"/>
          </a:xfrm>
          <a:prstGeom prst="rect">
            <a:avLst/>
          </a:prstGeom>
        </p:spPr>
      </p:pic>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64</a:t>
            </a:fld>
            <a:endParaRPr lang="en-US" dirty="0"/>
          </a:p>
        </p:txBody>
      </p:sp>
    </p:spTree>
    <p:extLst>
      <p:ext uri="{BB962C8B-B14F-4D97-AF65-F5344CB8AC3E}">
        <p14:creationId xmlns:p14="http://schemas.microsoft.com/office/powerpoint/2010/main" val="104547706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DAP_AUDIT_DTL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65</a:t>
            </a:fld>
            <a:endParaRPr lang="en-US" dirty="0"/>
          </a:p>
        </p:txBody>
      </p:sp>
      <p:sp>
        <p:nvSpPr>
          <p:cNvPr id="7" name="Content Placeholder 6"/>
          <p:cNvSpPr>
            <a:spLocks noGrp="1"/>
          </p:cNvSpPr>
          <p:nvPr>
            <p:ph idx="1"/>
          </p:nvPr>
        </p:nvSpPr>
        <p:spPr/>
        <p:txBody>
          <a:bodyPr/>
          <a:lstStyle/>
          <a:p>
            <a:pPr marL="285750" indent="-285750">
              <a:buFont typeface="Arial" panose="020B0604020202020204" pitchFamily="34" charset="0"/>
              <a:buChar char="•"/>
            </a:pPr>
            <a:r>
              <a:rPr lang="en-US" dirty="0" smtClean="0"/>
              <a:t>Up to 10 different block results are available</a:t>
            </a:r>
          </a:p>
          <a:p>
            <a:pPr marL="285750" indent="-285750">
              <a:buFont typeface="Arial" panose="020B0604020202020204" pitchFamily="34" charset="0"/>
              <a:buChar char="•"/>
            </a:pPr>
            <a:r>
              <a:rPr lang="en-US" dirty="0" smtClean="0"/>
              <a:t>Next slide only shows one block result</a:t>
            </a:r>
            <a:endParaRPr lang="en-US" dirty="0"/>
          </a:p>
        </p:txBody>
      </p:sp>
    </p:spTree>
    <p:extLst>
      <p:ext uri="{BB962C8B-B14F-4D97-AF65-F5344CB8AC3E}">
        <p14:creationId xmlns:p14="http://schemas.microsoft.com/office/powerpoint/2010/main" val="148462384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DAP_AUDIT_DTL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66</a:t>
            </a:fld>
            <a:endParaRPr lang="en-US" dirty="0"/>
          </a:p>
        </p:txBody>
      </p:sp>
      <p:pic>
        <p:nvPicPr>
          <p:cNvPr id="9" name="Picture 8"/>
          <p:cNvPicPr>
            <a:picLocks noChangeAspect="1"/>
          </p:cNvPicPr>
          <p:nvPr/>
        </p:nvPicPr>
        <p:blipFill>
          <a:blip r:embed="rId3"/>
          <a:stretch>
            <a:fillRect/>
          </a:stretch>
        </p:blipFill>
        <p:spPr>
          <a:xfrm>
            <a:off x="457200" y="1163635"/>
            <a:ext cx="2592257" cy="2816229"/>
          </a:xfrm>
          <a:prstGeom prst="rect">
            <a:avLst/>
          </a:prstGeom>
        </p:spPr>
      </p:pic>
      <p:pic>
        <p:nvPicPr>
          <p:cNvPr id="10" name="Picture 9"/>
          <p:cNvPicPr>
            <a:picLocks noChangeAspect="1"/>
          </p:cNvPicPr>
          <p:nvPr/>
        </p:nvPicPr>
        <p:blipFill>
          <a:blip r:embed="rId4"/>
          <a:stretch>
            <a:fillRect/>
          </a:stretch>
        </p:blipFill>
        <p:spPr>
          <a:xfrm>
            <a:off x="3721100" y="1419222"/>
            <a:ext cx="5029200" cy="2176653"/>
          </a:xfrm>
          <a:prstGeom prst="rect">
            <a:avLst/>
          </a:prstGeom>
        </p:spPr>
      </p:pic>
      <p:cxnSp>
        <p:nvCxnSpPr>
          <p:cNvPr id="12" name="Straight Arrow Connector 11"/>
          <p:cNvCxnSpPr/>
          <p:nvPr/>
        </p:nvCxnSpPr>
        <p:spPr>
          <a:xfrm flipH="1">
            <a:off x="3049457" y="1496291"/>
            <a:ext cx="671643" cy="45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3049457" y="1496291"/>
            <a:ext cx="2550298" cy="302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3049457" y="1798572"/>
            <a:ext cx="671643" cy="241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3049457" y="2571749"/>
            <a:ext cx="1167363" cy="2696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H="1" flipV="1">
            <a:off x="3049457" y="3105937"/>
            <a:ext cx="3744308" cy="476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flipV="1">
            <a:off x="3049457" y="3372793"/>
            <a:ext cx="671643" cy="1059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3049457" y="3478785"/>
            <a:ext cx="671643" cy="1358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113546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Who is at 100% and should be graduated?</a:t>
            </a:r>
          </a:p>
          <a:p>
            <a:endParaRPr lang="en-US" dirty="0" smtClean="0"/>
          </a:p>
          <a:p>
            <a:r>
              <a:rPr lang="en-US" dirty="0" smtClean="0"/>
              <a:t>SELECT </a:t>
            </a:r>
            <a:r>
              <a:rPr lang="en-US" dirty="0" err="1"/>
              <a:t>dap_audit_dtl.dap_stu_id</a:t>
            </a:r>
            <a:r>
              <a:rPr lang="en-US" dirty="0"/>
              <a:t>, </a:t>
            </a:r>
            <a:r>
              <a:rPr lang="en-US" dirty="0" err="1"/>
              <a:t>dap_audit_dtl.dap_degree</a:t>
            </a:r>
            <a:r>
              <a:rPr lang="en-US" dirty="0"/>
              <a:t>, </a:t>
            </a:r>
            <a:r>
              <a:rPr lang="en-US" dirty="0" err="1"/>
              <a:t>dap_audit_dtl.dap_audit_pct</a:t>
            </a:r>
            <a:endParaRPr lang="en-US" dirty="0"/>
          </a:p>
          <a:p>
            <a:r>
              <a:rPr lang="en-US" dirty="0"/>
              <a:t>FROM </a:t>
            </a:r>
            <a:r>
              <a:rPr lang="en-US" dirty="0" err="1"/>
              <a:t>dap_audit_dtl</a:t>
            </a:r>
            <a:endParaRPr lang="en-US" dirty="0"/>
          </a:p>
          <a:p>
            <a:r>
              <a:rPr lang="en-US" dirty="0"/>
              <a:t>WHERE </a:t>
            </a:r>
            <a:r>
              <a:rPr lang="en-US" dirty="0" err="1"/>
              <a:t>dap_audit_dtl.dap_audit_pct</a:t>
            </a:r>
            <a:r>
              <a:rPr lang="en-US" dirty="0"/>
              <a:t>='100';</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67</a:t>
            </a:fld>
            <a:endParaRPr lang="en-US" dirty="0"/>
          </a:p>
        </p:txBody>
      </p:sp>
    </p:spTree>
    <p:extLst>
      <p:ext uri="{BB962C8B-B14F-4D97-AF65-F5344CB8AC3E}">
        <p14:creationId xmlns:p14="http://schemas.microsoft.com/office/powerpoint/2010/main" val="406450878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68</a:t>
            </a:fld>
            <a:endParaRPr lang="en-US" dirty="0"/>
          </a:p>
        </p:txBody>
      </p:sp>
      <p:pic>
        <p:nvPicPr>
          <p:cNvPr id="9" name="Picture 8"/>
          <p:cNvPicPr>
            <a:picLocks noChangeAspect="1"/>
          </p:cNvPicPr>
          <p:nvPr/>
        </p:nvPicPr>
        <p:blipFill>
          <a:blip r:embed="rId3"/>
          <a:stretch>
            <a:fillRect/>
          </a:stretch>
        </p:blipFill>
        <p:spPr>
          <a:xfrm>
            <a:off x="2786646" y="2051635"/>
            <a:ext cx="3570708" cy="1040229"/>
          </a:xfrm>
          <a:prstGeom prst="rect">
            <a:avLst/>
          </a:prstGeom>
        </p:spPr>
      </p:pic>
    </p:spTree>
    <p:extLst>
      <p:ext uri="{BB962C8B-B14F-4D97-AF65-F5344CB8AC3E}">
        <p14:creationId xmlns:p14="http://schemas.microsoft.com/office/powerpoint/2010/main" val="382270649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Sums up all the CPA data</a:t>
            </a:r>
          </a:p>
          <a:p>
            <a:endParaRPr lang="en-US" dirty="0"/>
          </a:p>
          <a:p>
            <a:r>
              <a:rPr lang="en-US" dirty="0" smtClean="0"/>
              <a:t>Next slides will look at one block for one student</a:t>
            </a:r>
            <a:endParaRPr lang="en-US" dirty="0"/>
          </a:p>
        </p:txBody>
      </p:sp>
      <p:sp>
        <p:nvSpPr>
          <p:cNvPr id="3" name="Title 2"/>
          <p:cNvSpPr>
            <a:spLocks noGrp="1"/>
          </p:cNvSpPr>
          <p:nvPr>
            <p:ph type="title"/>
          </p:nvPr>
        </p:nvSpPr>
        <p:spPr/>
        <p:txBody>
          <a:bodyPr/>
          <a:lstStyle/>
          <a:p>
            <a:r>
              <a:rPr lang="en-US" dirty="0" smtClean="0"/>
              <a:t>DAP_RESULT_DTL	</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69</a:t>
            </a:fld>
            <a:endParaRPr lang="en-US" dirty="0"/>
          </a:p>
        </p:txBody>
      </p:sp>
    </p:spTree>
    <p:extLst>
      <p:ext uri="{BB962C8B-B14F-4D97-AF65-F5344CB8AC3E}">
        <p14:creationId xmlns:p14="http://schemas.microsoft.com/office/powerpoint/2010/main" val="148728213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stretch>
            <a:fillRect/>
          </a:stretch>
        </p:blipFill>
        <p:spPr>
          <a:xfrm>
            <a:off x="1392921" y="1200150"/>
            <a:ext cx="4986558" cy="3257550"/>
          </a:xfrm>
          <a:prstGeom prst="rect">
            <a:avLst/>
          </a:prstGeom>
        </p:spPr>
      </p:pic>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70</a:t>
            </a:fld>
            <a:endParaRPr lang="en-US" dirty="0"/>
          </a:p>
        </p:txBody>
      </p:sp>
    </p:spTree>
    <p:extLst>
      <p:ext uri="{BB962C8B-B14F-4D97-AF65-F5344CB8AC3E}">
        <p14:creationId xmlns:p14="http://schemas.microsoft.com/office/powerpoint/2010/main" val="390800493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stretch>
            <a:fillRect/>
          </a:stretch>
        </p:blipFill>
        <p:spPr>
          <a:xfrm>
            <a:off x="457200" y="2228167"/>
            <a:ext cx="6858000" cy="1201515"/>
          </a:xfrm>
          <a:prstGeom prst="rect">
            <a:avLst/>
          </a:prstGeom>
        </p:spPr>
      </p:pic>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71</a:t>
            </a:fld>
            <a:endParaRPr lang="en-US" dirty="0"/>
          </a:p>
        </p:txBody>
      </p:sp>
    </p:spTree>
    <p:extLst>
      <p:ext uri="{BB962C8B-B14F-4D97-AF65-F5344CB8AC3E}">
        <p14:creationId xmlns:p14="http://schemas.microsoft.com/office/powerpoint/2010/main" val="84763497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72</a:t>
            </a:fld>
            <a:endParaRPr lang="en-US" dirty="0"/>
          </a:p>
        </p:txBody>
      </p:sp>
      <p:pic>
        <p:nvPicPr>
          <p:cNvPr id="7" name="Picture 6"/>
          <p:cNvPicPr>
            <a:picLocks noChangeAspect="1"/>
          </p:cNvPicPr>
          <p:nvPr/>
        </p:nvPicPr>
        <p:blipFill>
          <a:blip r:embed="rId3"/>
          <a:stretch>
            <a:fillRect/>
          </a:stretch>
        </p:blipFill>
        <p:spPr>
          <a:xfrm>
            <a:off x="6067" y="1415127"/>
            <a:ext cx="9144000" cy="2724395"/>
          </a:xfrm>
          <a:prstGeom prst="rect">
            <a:avLst/>
          </a:prstGeom>
        </p:spPr>
      </p:pic>
    </p:spTree>
    <p:extLst>
      <p:ext uri="{BB962C8B-B14F-4D97-AF65-F5344CB8AC3E}">
        <p14:creationId xmlns:p14="http://schemas.microsoft.com/office/powerpoint/2010/main" val="190757266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73</a:t>
            </a:fld>
            <a:endParaRPr lang="en-US" dirty="0"/>
          </a:p>
        </p:txBody>
      </p:sp>
      <p:pic>
        <p:nvPicPr>
          <p:cNvPr id="9" name="Picture 8"/>
          <p:cNvPicPr>
            <a:picLocks noChangeAspect="1"/>
          </p:cNvPicPr>
          <p:nvPr/>
        </p:nvPicPr>
        <p:blipFill>
          <a:blip r:embed="rId3"/>
          <a:stretch>
            <a:fillRect/>
          </a:stretch>
        </p:blipFill>
        <p:spPr>
          <a:xfrm>
            <a:off x="4763" y="993472"/>
            <a:ext cx="9144000" cy="505431"/>
          </a:xfrm>
          <a:prstGeom prst="rect">
            <a:avLst/>
          </a:prstGeom>
        </p:spPr>
      </p:pic>
      <p:pic>
        <p:nvPicPr>
          <p:cNvPr id="10" name="Content Placeholder 4"/>
          <p:cNvPicPr>
            <a:picLocks noGrp="1" noChangeAspect="1"/>
          </p:cNvPicPr>
          <p:nvPr>
            <p:ph idx="1"/>
          </p:nvPr>
        </p:nvPicPr>
        <p:blipFill>
          <a:blip r:embed="rId4"/>
          <a:stretch>
            <a:fillRect/>
          </a:stretch>
        </p:blipFill>
        <p:spPr>
          <a:xfrm>
            <a:off x="1147763" y="2303737"/>
            <a:ext cx="6858000" cy="1201515"/>
          </a:xfrm>
          <a:prstGeom prst="rect">
            <a:avLst/>
          </a:prstGeom>
        </p:spPr>
      </p:pic>
      <p:sp>
        <p:nvSpPr>
          <p:cNvPr id="16" name="Rectangle 15"/>
          <p:cNvSpPr/>
          <p:nvPr/>
        </p:nvSpPr>
        <p:spPr>
          <a:xfrm>
            <a:off x="1080655" y="2236879"/>
            <a:ext cx="6997805" cy="272053"/>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243809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00150"/>
            <a:ext cx="7315200" cy="3257550"/>
          </a:xfrm>
        </p:spPr>
        <p:txBody>
          <a:bodyPr>
            <a:normAutofit fontScale="92500" lnSpcReduction="10000"/>
          </a:bodyPr>
          <a:lstStyle/>
          <a:p>
            <a:r>
              <a:rPr lang="en-US" dirty="0" smtClean="0"/>
              <a:t>Who is not meeting the minimum GPA for a major/minor?</a:t>
            </a:r>
          </a:p>
          <a:p>
            <a:r>
              <a:rPr lang="en-US" dirty="0"/>
              <a:t>SELECT DAP_RESULT_DTL.DAP_STU_ID, </a:t>
            </a:r>
            <a:r>
              <a:rPr lang="en-US" dirty="0" smtClean="0"/>
              <a:t>DAP_RESULT_DTL.DAP_REQ_ID</a:t>
            </a:r>
            <a:r>
              <a:rPr lang="en-US" dirty="0"/>
              <a:t>, DAP_REQ_MST.DAP_BLOCK_TYPE, DAP_REQ_MST.DAP_REQ_TITLE, DAP_RESULT_DTL.DAP_RESULT_TYPE, DAP_RESULT_DTL.DAP_NUMBER2</a:t>
            </a:r>
          </a:p>
          <a:p>
            <a:r>
              <a:rPr lang="en-US" dirty="0"/>
              <a:t>FROM DAP_RESULT_DTL, DAP_REQ_MST</a:t>
            </a:r>
          </a:p>
          <a:p>
            <a:r>
              <a:rPr lang="en-US" dirty="0"/>
              <a:t>WHERE DAP_RESULT_DTL.DAP_REQ_ID=DAP_REQ_MST.DAP_REQ_ID AND </a:t>
            </a:r>
            <a:br>
              <a:rPr lang="en-US" dirty="0"/>
            </a:br>
            <a:r>
              <a:rPr lang="en-US" dirty="0"/>
              <a:t>DAP_REQ_MST.DAP_BLOCK_TYPE=‘MAJOR‘ AND </a:t>
            </a:r>
            <a:br>
              <a:rPr lang="en-US" dirty="0"/>
            </a:br>
            <a:r>
              <a:rPr lang="en-US" dirty="0"/>
              <a:t>DAP_RESULT_DTL.DAP_RESULT_TYPE=‘BLOCKGPA’ AND </a:t>
            </a:r>
            <a:br>
              <a:rPr lang="en-US" dirty="0"/>
            </a:br>
            <a:r>
              <a:rPr lang="en-US" dirty="0"/>
              <a:t>DAP_RESULT_DTL.DAP_NUMBER2&lt;2;</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74</a:t>
            </a:fld>
            <a:endParaRPr lang="en-US" dirty="0"/>
          </a:p>
        </p:txBody>
      </p:sp>
    </p:spTree>
    <p:extLst>
      <p:ext uri="{BB962C8B-B14F-4D97-AF65-F5344CB8AC3E}">
        <p14:creationId xmlns:p14="http://schemas.microsoft.com/office/powerpoint/2010/main" val="12699380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75</a:t>
            </a:fld>
            <a:endParaRPr lang="en-US" dirty="0"/>
          </a:p>
        </p:txBody>
      </p:sp>
      <p:pic>
        <p:nvPicPr>
          <p:cNvPr id="8" name="Picture 7"/>
          <p:cNvPicPr>
            <a:picLocks noChangeAspect="1"/>
          </p:cNvPicPr>
          <p:nvPr/>
        </p:nvPicPr>
        <p:blipFill>
          <a:blip r:embed="rId3"/>
          <a:stretch>
            <a:fillRect/>
          </a:stretch>
        </p:blipFill>
        <p:spPr>
          <a:xfrm>
            <a:off x="35459" y="2177953"/>
            <a:ext cx="9052560" cy="749036"/>
          </a:xfrm>
          <a:prstGeom prst="rect">
            <a:avLst/>
          </a:prstGeom>
        </p:spPr>
      </p:pic>
    </p:spTree>
    <p:extLst>
      <p:ext uri="{BB962C8B-B14F-4D97-AF65-F5344CB8AC3E}">
        <p14:creationId xmlns:p14="http://schemas.microsoft.com/office/powerpoint/2010/main" val="7609750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76</a:t>
            </a:fld>
            <a:endParaRPr lang="en-US" dirty="0"/>
          </a:p>
        </p:txBody>
      </p:sp>
      <p:pic>
        <p:nvPicPr>
          <p:cNvPr id="6" name="Picture 5"/>
          <p:cNvPicPr>
            <a:picLocks noChangeAspect="1"/>
          </p:cNvPicPr>
          <p:nvPr/>
        </p:nvPicPr>
        <p:blipFill>
          <a:blip r:embed="rId3"/>
          <a:stretch>
            <a:fillRect/>
          </a:stretch>
        </p:blipFill>
        <p:spPr>
          <a:xfrm>
            <a:off x="4763" y="902441"/>
            <a:ext cx="9144000" cy="234209"/>
          </a:xfrm>
          <a:prstGeom prst="rect">
            <a:avLst/>
          </a:prstGeom>
        </p:spPr>
      </p:pic>
      <p:pic>
        <p:nvPicPr>
          <p:cNvPr id="7" name="Content Placeholder 4"/>
          <p:cNvPicPr>
            <a:picLocks noGrp="1" noChangeAspect="1"/>
          </p:cNvPicPr>
          <p:nvPr>
            <p:ph idx="1"/>
          </p:nvPr>
        </p:nvPicPr>
        <p:blipFill>
          <a:blip r:embed="rId4"/>
          <a:stretch>
            <a:fillRect/>
          </a:stretch>
        </p:blipFill>
        <p:spPr>
          <a:xfrm>
            <a:off x="1147763" y="2303737"/>
            <a:ext cx="6858000" cy="1201515"/>
          </a:xfrm>
          <a:prstGeom prst="rect">
            <a:avLst/>
          </a:prstGeom>
        </p:spPr>
      </p:pic>
      <p:sp>
        <p:nvSpPr>
          <p:cNvPr id="8" name="Rectangle 7"/>
          <p:cNvSpPr/>
          <p:nvPr/>
        </p:nvSpPr>
        <p:spPr>
          <a:xfrm>
            <a:off x="1080655" y="2410690"/>
            <a:ext cx="6997805" cy="272053"/>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5"/>
          <a:stretch>
            <a:fillRect/>
          </a:stretch>
        </p:blipFill>
        <p:spPr>
          <a:xfrm>
            <a:off x="2823918" y="3956783"/>
            <a:ext cx="3505689" cy="590632"/>
          </a:xfrm>
          <a:prstGeom prst="rect">
            <a:avLst/>
          </a:prstGeom>
        </p:spPr>
      </p:pic>
    </p:spTree>
    <p:extLst>
      <p:ext uri="{BB962C8B-B14F-4D97-AF65-F5344CB8AC3E}">
        <p14:creationId xmlns:p14="http://schemas.microsoft.com/office/powerpoint/2010/main" val="4911520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DAP_AUDIT_DTL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77</a:t>
            </a:fld>
            <a:endParaRPr lang="en-US" dirty="0"/>
          </a:p>
        </p:txBody>
      </p:sp>
      <p:pic>
        <p:nvPicPr>
          <p:cNvPr id="6" name="Picture 5"/>
          <p:cNvPicPr>
            <a:picLocks noChangeAspect="1"/>
          </p:cNvPicPr>
          <p:nvPr/>
        </p:nvPicPr>
        <p:blipFill>
          <a:blip r:embed="rId3"/>
          <a:stretch>
            <a:fillRect/>
          </a:stretch>
        </p:blipFill>
        <p:spPr>
          <a:xfrm>
            <a:off x="4763" y="908017"/>
            <a:ext cx="9144000" cy="457266"/>
          </a:xfrm>
          <a:prstGeom prst="rect">
            <a:avLst/>
          </a:prstGeom>
        </p:spPr>
      </p:pic>
      <p:pic>
        <p:nvPicPr>
          <p:cNvPr id="7" name="Content Placeholder 4"/>
          <p:cNvPicPr>
            <a:picLocks noGrp="1" noChangeAspect="1"/>
          </p:cNvPicPr>
          <p:nvPr>
            <p:ph idx="1"/>
          </p:nvPr>
        </p:nvPicPr>
        <p:blipFill>
          <a:blip r:embed="rId4"/>
          <a:stretch>
            <a:fillRect/>
          </a:stretch>
        </p:blipFill>
        <p:spPr>
          <a:xfrm>
            <a:off x="1147763" y="2303737"/>
            <a:ext cx="6858000" cy="1201515"/>
          </a:xfrm>
          <a:prstGeom prst="rect">
            <a:avLst/>
          </a:prstGeom>
        </p:spPr>
      </p:pic>
      <p:sp>
        <p:nvSpPr>
          <p:cNvPr id="8" name="Rectangle 7"/>
          <p:cNvSpPr/>
          <p:nvPr/>
        </p:nvSpPr>
        <p:spPr>
          <a:xfrm>
            <a:off x="1080655" y="2570163"/>
            <a:ext cx="6997805" cy="272053"/>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5"/>
          <a:stretch>
            <a:fillRect/>
          </a:stretch>
        </p:blipFill>
        <p:spPr>
          <a:xfrm>
            <a:off x="2790576" y="3919758"/>
            <a:ext cx="3572374" cy="523948"/>
          </a:xfrm>
          <a:prstGeom prst="rect">
            <a:avLst/>
          </a:prstGeom>
        </p:spPr>
      </p:pic>
    </p:spTree>
    <p:extLst>
      <p:ext uri="{BB962C8B-B14F-4D97-AF65-F5344CB8AC3E}">
        <p14:creationId xmlns:p14="http://schemas.microsoft.com/office/powerpoint/2010/main" val="89217602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78</a:t>
            </a:fld>
            <a:endParaRPr lang="en-US" dirty="0"/>
          </a:p>
        </p:txBody>
      </p:sp>
      <p:pic>
        <p:nvPicPr>
          <p:cNvPr id="6" name="Picture 5"/>
          <p:cNvPicPr>
            <a:picLocks noChangeAspect="1"/>
          </p:cNvPicPr>
          <p:nvPr/>
        </p:nvPicPr>
        <p:blipFill>
          <a:blip r:embed="rId3"/>
          <a:stretch>
            <a:fillRect/>
          </a:stretch>
        </p:blipFill>
        <p:spPr>
          <a:xfrm>
            <a:off x="4763" y="875946"/>
            <a:ext cx="9144000" cy="680322"/>
          </a:xfrm>
          <a:prstGeom prst="rect">
            <a:avLst/>
          </a:prstGeom>
        </p:spPr>
      </p:pic>
      <p:pic>
        <p:nvPicPr>
          <p:cNvPr id="7" name="Content Placeholder 4"/>
          <p:cNvPicPr>
            <a:picLocks noGrp="1" noChangeAspect="1"/>
          </p:cNvPicPr>
          <p:nvPr>
            <p:ph idx="1"/>
          </p:nvPr>
        </p:nvPicPr>
        <p:blipFill>
          <a:blip r:embed="rId4"/>
          <a:stretch>
            <a:fillRect/>
          </a:stretch>
        </p:blipFill>
        <p:spPr>
          <a:xfrm>
            <a:off x="1147763" y="2303737"/>
            <a:ext cx="6858000" cy="1201515"/>
          </a:xfrm>
          <a:prstGeom prst="rect">
            <a:avLst/>
          </a:prstGeom>
        </p:spPr>
      </p:pic>
      <p:sp>
        <p:nvSpPr>
          <p:cNvPr id="8" name="Rectangle 7"/>
          <p:cNvSpPr/>
          <p:nvPr/>
        </p:nvSpPr>
        <p:spPr>
          <a:xfrm>
            <a:off x="1080655" y="3265407"/>
            <a:ext cx="6997805" cy="272053"/>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5"/>
          <a:stretch>
            <a:fillRect/>
          </a:stretch>
        </p:blipFill>
        <p:spPr>
          <a:xfrm>
            <a:off x="2015597" y="3885957"/>
            <a:ext cx="4553585" cy="733527"/>
          </a:xfrm>
          <a:prstGeom prst="rect">
            <a:avLst/>
          </a:prstGeom>
        </p:spPr>
      </p:pic>
    </p:spTree>
    <p:extLst>
      <p:ext uri="{BB962C8B-B14F-4D97-AF65-F5344CB8AC3E}">
        <p14:creationId xmlns:p14="http://schemas.microsoft.com/office/powerpoint/2010/main" val="294271117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the difference between a complete and an incomplete requirement?</a:t>
            </a:r>
            <a:endParaRPr lang="en-US" dirty="0"/>
          </a:p>
        </p:txBody>
      </p:sp>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79</a:t>
            </a:fld>
            <a:endParaRPr lang="en-US" dirty="0"/>
          </a:p>
        </p:txBody>
      </p:sp>
    </p:spTree>
    <p:extLst>
      <p:ext uri="{BB962C8B-B14F-4D97-AF65-F5344CB8AC3E}">
        <p14:creationId xmlns:p14="http://schemas.microsoft.com/office/powerpoint/2010/main" val="3012428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80</a:t>
            </a:fld>
            <a:endParaRPr lang="en-US" dirty="0"/>
          </a:p>
        </p:txBody>
      </p:sp>
      <p:pic>
        <p:nvPicPr>
          <p:cNvPr id="6" name="Picture 5"/>
          <p:cNvPicPr>
            <a:picLocks noChangeAspect="1"/>
          </p:cNvPicPr>
          <p:nvPr/>
        </p:nvPicPr>
        <p:blipFill>
          <a:blip r:embed="rId3"/>
          <a:stretch>
            <a:fillRect/>
          </a:stretch>
        </p:blipFill>
        <p:spPr>
          <a:xfrm>
            <a:off x="0" y="909897"/>
            <a:ext cx="9144000" cy="1014906"/>
          </a:xfrm>
          <a:prstGeom prst="rect">
            <a:avLst/>
          </a:prstGeom>
        </p:spPr>
      </p:pic>
      <p:sp>
        <p:nvSpPr>
          <p:cNvPr id="7" name="Rectangle 6"/>
          <p:cNvSpPr/>
          <p:nvPr/>
        </p:nvSpPr>
        <p:spPr>
          <a:xfrm>
            <a:off x="4709905" y="1669671"/>
            <a:ext cx="546624" cy="255132"/>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Rectangle 7"/>
          <p:cNvSpPr/>
          <p:nvPr/>
        </p:nvSpPr>
        <p:spPr>
          <a:xfrm>
            <a:off x="2462306" y="1240212"/>
            <a:ext cx="1844424" cy="139174"/>
          </a:xfrm>
          <a:prstGeom prst="rect">
            <a:avLst/>
          </a:prstGeom>
          <a:noFill/>
          <a:ln w="38100">
            <a:solidFill>
              <a:schemeClr val="accent3"/>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ectangle 8"/>
          <p:cNvSpPr/>
          <p:nvPr/>
        </p:nvSpPr>
        <p:spPr>
          <a:xfrm>
            <a:off x="2462306" y="1572379"/>
            <a:ext cx="1844424" cy="352423"/>
          </a:xfrm>
          <a:prstGeom prst="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874007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MUSTTAKE – this is the only option</a:t>
            </a:r>
          </a:p>
          <a:p>
            <a:r>
              <a:rPr lang="en-US" dirty="0" smtClean="0"/>
              <a:t>MAYTAKE – one option of many</a:t>
            </a:r>
            <a:endParaRPr lang="en-US" dirty="0"/>
          </a:p>
        </p:txBody>
      </p:sp>
      <p:sp>
        <p:nvSpPr>
          <p:cNvPr id="3" name="Title 2"/>
          <p:cNvSpPr>
            <a:spLocks noGrp="1"/>
          </p:cNvSpPr>
          <p:nvPr>
            <p:ph type="title"/>
          </p:nvPr>
        </p:nvSpPr>
        <p:spPr/>
        <p:txBody>
          <a:bodyPr/>
          <a:lstStyle/>
          <a:p>
            <a:r>
              <a:rPr lang="en-US" dirty="0" smtClean="0"/>
              <a:t>RAD_RESULT_DTL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81</a:t>
            </a:fld>
            <a:endParaRPr lang="en-US" dirty="0"/>
          </a:p>
        </p:txBody>
      </p:sp>
    </p:spTree>
    <p:extLst>
      <p:ext uri="{BB962C8B-B14F-4D97-AF65-F5344CB8AC3E}">
        <p14:creationId xmlns:p14="http://schemas.microsoft.com/office/powerpoint/2010/main" val="43690651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requirements are students missing?</a:t>
            </a:r>
          </a:p>
          <a:p>
            <a:r>
              <a:rPr lang="en-US" dirty="0"/>
              <a:t>SELECT DAP_RESULT_DTL.DAP_STU_ID, DAP_RESULT_DTL.DAP_RESULT_TYPE, DAP_RESULT_DTL.DAP_VALUE1, DAP_RESULT_DTL.DAP_VALUE2, DAP_RESULT_DTL.DAP_VALUE4</a:t>
            </a:r>
          </a:p>
          <a:p>
            <a:r>
              <a:rPr lang="en-US" dirty="0"/>
              <a:t>FROM DAP_RESULT_DTL</a:t>
            </a:r>
          </a:p>
          <a:p>
            <a:r>
              <a:rPr lang="en-US" dirty="0"/>
              <a:t>WHERE DAP_RESULT_DTL.DAP_RESULT_TYPE="CLASSNEEDED";</a:t>
            </a:r>
          </a:p>
          <a:p>
            <a:endParaRPr lang="en-US" dirty="0"/>
          </a:p>
        </p:txBody>
      </p:sp>
      <p:sp>
        <p:nvSpPr>
          <p:cNvPr id="3" name="Title 2"/>
          <p:cNvSpPr>
            <a:spLocks noGrp="1"/>
          </p:cNvSpPr>
          <p:nvPr>
            <p:ph type="title"/>
          </p:nvPr>
        </p:nvSpPr>
        <p:spPr/>
        <p:txBody>
          <a:bodyPr>
            <a:normAutofit/>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82</a:t>
            </a:fld>
            <a:endParaRPr lang="en-US" dirty="0"/>
          </a:p>
        </p:txBody>
      </p:sp>
    </p:spTree>
    <p:extLst>
      <p:ext uri="{BB962C8B-B14F-4D97-AF65-F5344CB8AC3E}">
        <p14:creationId xmlns:p14="http://schemas.microsoft.com/office/powerpoint/2010/main" val="29154847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83</a:t>
            </a:fld>
            <a:endParaRPr lang="en-US" dirty="0"/>
          </a:p>
        </p:txBody>
      </p:sp>
      <p:pic>
        <p:nvPicPr>
          <p:cNvPr id="5" name="Picture 4"/>
          <p:cNvPicPr>
            <a:picLocks noChangeAspect="1"/>
          </p:cNvPicPr>
          <p:nvPr/>
        </p:nvPicPr>
        <p:blipFill>
          <a:blip r:embed="rId2"/>
          <a:stretch>
            <a:fillRect/>
          </a:stretch>
        </p:blipFill>
        <p:spPr>
          <a:xfrm>
            <a:off x="491712" y="1796859"/>
            <a:ext cx="8160575" cy="1549781"/>
          </a:xfrm>
          <a:prstGeom prst="rect">
            <a:avLst/>
          </a:prstGeom>
        </p:spPr>
      </p:pic>
    </p:spTree>
    <p:extLst>
      <p:ext uri="{BB962C8B-B14F-4D97-AF65-F5344CB8AC3E}">
        <p14:creationId xmlns:p14="http://schemas.microsoft.com/office/powerpoint/2010/main" val="34361491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Group rules</a:t>
            </a:r>
          </a:p>
          <a:p>
            <a:r>
              <a:rPr lang="en-US" dirty="0" smtClean="0"/>
              <a:t>Rule-Incomplete</a:t>
            </a:r>
            <a:endParaRPr lang="en-US" dirty="0"/>
          </a:p>
        </p:txBody>
      </p:sp>
      <p:sp>
        <p:nvSpPr>
          <p:cNvPr id="3" name="Title 2"/>
          <p:cNvSpPr>
            <a:spLocks noGrp="1"/>
          </p:cNvSpPr>
          <p:nvPr>
            <p:ph type="title"/>
          </p:nvPr>
        </p:nvSpPr>
        <p:spPr/>
        <p:txBody>
          <a:bodyPr/>
          <a:lstStyle/>
          <a:p>
            <a:r>
              <a:rPr lang="en-US" dirty="0" smtClean="0"/>
              <a:t>Other Considerations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84</a:t>
            </a:fld>
            <a:endParaRPr lang="en-US" dirty="0"/>
          </a:p>
        </p:txBody>
      </p:sp>
    </p:spTree>
    <p:extLst>
      <p:ext uri="{BB962C8B-B14F-4D97-AF65-F5344CB8AC3E}">
        <p14:creationId xmlns:p14="http://schemas.microsoft.com/office/powerpoint/2010/main" val="42094995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DAP_EXCEPT_DTL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85</a:t>
            </a:fld>
            <a:endParaRPr lang="en-US" dirty="0"/>
          </a:p>
        </p:txBody>
      </p:sp>
      <p:pic>
        <p:nvPicPr>
          <p:cNvPr id="6" name="Picture 5"/>
          <p:cNvPicPr>
            <a:picLocks noChangeAspect="1"/>
          </p:cNvPicPr>
          <p:nvPr/>
        </p:nvPicPr>
        <p:blipFill>
          <a:blip r:embed="rId3"/>
          <a:stretch>
            <a:fillRect/>
          </a:stretch>
        </p:blipFill>
        <p:spPr>
          <a:xfrm>
            <a:off x="3715345" y="82609"/>
            <a:ext cx="1101911" cy="4754880"/>
          </a:xfrm>
          <a:prstGeom prst="rect">
            <a:avLst/>
          </a:prstGeom>
        </p:spPr>
      </p:pic>
    </p:spTree>
    <p:extLst>
      <p:ext uri="{BB962C8B-B14F-4D97-AF65-F5344CB8AC3E}">
        <p14:creationId xmlns:p14="http://schemas.microsoft.com/office/powerpoint/2010/main" val="30788599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199" y="1200150"/>
            <a:ext cx="7584831" cy="3257550"/>
          </a:xfrm>
        </p:spPr>
        <p:txBody>
          <a:bodyPr>
            <a:normAutofit/>
          </a:bodyPr>
          <a:lstStyle/>
          <a:p>
            <a:r>
              <a:rPr lang="en-US" dirty="0" smtClean="0"/>
              <a:t>Who has made the most exceptions?</a:t>
            </a:r>
          </a:p>
          <a:p>
            <a:r>
              <a:rPr lang="en-US" dirty="0"/>
              <a:t>SELECT DAP_EXCEPT_DTL.DAP_WHO, RAD_PRIMARY_MST.RAD_NAME, Count(DAP_EXCEPT_DTL.DAP_STU_ID) AS </a:t>
            </a:r>
            <a:r>
              <a:rPr lang="en-US" dirty="0" err="1"/>
              <a:t>CountOfDAP_STU_ID</a:t>
            </a:r>
            <a:endParaRPr lang="en-US" dirty="0"/>
          </a:p>
          <a:p>
            <a:r>
              <a:rPr lang="en-US" dirty="0"/>
              <a:t>FROM DAP_EXCEPT_DTL, RAD_PRIMARY_MST</a:t>
            </a:r>
          </a:p>
          <a:p>
            <a:r>
              <a:rPr lang="en-US" dirty="0"/>
              <a:t>WHERE DAP_EXCEPT_DTL.DAP_WHO=RAD_PRIMARY_MST.RAD_ID</a:t>
            </a:r>
          </a:p>
          <a:p>
            <a:r>
              <a:rPr lang="en-US" dirty="0"/>
              <a:t>GROUP BY DAP_EXCEPT_DTL.DAP_WHO, RAD_PRIMARY_MST.RAD_NAME</a:t>
            </a:r>
          </a:p>
          <a:p>
            <a:r>
              <a:rPr lang="en-US" dirty="0"/>
              <a:t>ORDER BY </a:t>
            </a:r>
            <a:r>
              <a:rPr lang="en-US" dirty="0" err="1"/>
              <a:t>CountDAP_EXCEPT_DTL.DAP_STU_ID</a:t>
            </a:r>
            <a:r>
              <a:rPr lang="en-US" dirty="0"/>
              <a:t> DESC;</a:t>
            </a:r>
          </a:p>
          <a:p>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86</a:t>
            </a:fld>
            <a:endParaRPr lang="en-US" dirty="0"/>
          </a:p>
        </p:txBody>
      </p:sp>
    </p:spTree>
    <p:extLst>
      <p:ext uri="{BB962C8B-B14F-4D97-AF65-F5344CB8AC3E}">
        <p14:creationId xmlns:p14="http://schemas.microsoft.com/office/powerpoint/2010/main" val="1925232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87</a:t>
            </a:fld>
            <a:endParaRPr lang="en-US" dirty="0"/>
          </a:p>
        </p:txBody>
      </p:sp>
      <p:pic>
        <p:nvPicPr>
          <p:cNvPr id="6" name="Picture 5"/>
          <p:cNvPicPr>
            <a:picLocks noChangeAspect="1"/>
          </p:cNvPicPr>
          <p:nvPr/>
        </p:nvPicPr>
        <p:blipFill>
          <a:blip r:embed="rId3"/>
          <a:stretch>
            <a:fillRect/>
          </a:stretch>
        </p:blipFill>
        <p:spPr>
          <a:xfrm>
            <a:off x="2306583" y="2050922"/>
            <a:ext cx="4530833" cy="1041656"/>
          </a:xfrm>
          <a:prstGeom prst="rect">
            <a:avLst/>
          </a:prstGeom>
        </p:spPr>
      </p:pic>
    </p:spTree>
    <p:extLst>
      <p:ext uri="{BB962C8B-B14F-4D97-AF65-F5344CB8AC3E}">
        <p14:creationId xmlns:p14="http://schemas.microsoft.com/office/powerpoint/2010/main" val="7466958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US" dirty="0" smtClean="0"/>
              <a:t>Which rules have the most exceptions</a:t>
            </a:r>
            <a:r>
              <a:rPr lang="en-US" dirty="0" smtClean="0"/>
              <a:t>?</a:t>
            </a:r>
          </a:p>
          <a:p>
            <a:r>
              <a:rPr lang="en-US" dirty="0"/>
              <a:t>SELECT DAP_EXCEPT_DTL.DAP_REQ_ID, DAP_REQ_MST.DAP_REQ_TITLE, CPA_BLOCKLABELS.LABEL_TEXT, Count(DAP_EXCEPT_DTL.DAP_STU_ID) AS </a:t>
            </a:r>
            <a:r>
              <a:rPr lang="en-US" dirty="0" err="1"/>
              <a:t>CountOfDAP_STU_ID</a:t>
            </a:r>
            <a:endParaRPr lang="en-US" dirty="0"/>
          </a:p>
          <a:p>
            <a:r>
              <a:rPr lang="en-US" dirty="0"/>
              <a:t>FROM DAP_EXCEPT_DTL, CPA_BLOCKLABELS, DAP_REQ_MST</a:t>
            </a:r>
          </a:p>
          <a:p>
            <a:r>
              <a:rPr lang="en-US" dirty="0"/>
              <a:t>WHERE DAP_EXCEPT_DTL.DAP_REQ_ID=</a:t>
            </a:r>
            <a:r>
              <a:rPr lang="en-US" dirty="0" err="1"/>
              <a:t>CPA_BLOCKLABELS.req_ID</a:t>
            </a:r>
            <a:r>
              <a:rPr lang="en-US" dirty="0"/>
              <a:t> AND DAP_EXCEPT_DTL.DAP_NODE_ID=CPA_BLOCKLABELS.NODE_ID AND CPA_BLOCKLABELS.REQ_ID=DAP_REQ_MST.DAP_REQ_ID</a:t>
            </a:r>
          </a:p>
          <a:p>
            <a:r>
              <a:rPr lang="en-US" dirty="0"/>
              <a:t>GROUP BY DAP_EXCEPT_DTL.DAP_REQ_ID, DAP_REQ_MST.DAP_REQ_TITLE, CPA_BLOCKLABELS.LABEL_TEXT</a:t>
            </a:r>
          </a:p>
          <a:p>
            <a:r>
              <a:rPr lang="en-US" dirty="0"/>
              <a:t>ORDER BY </a:t>
            </a:r>
            <a:r>
              <a:rPr lang="en-US" dirty="0" err="1"/>
              <a:t>CountDAP_EXCEPT_DTL.DAP_STU_ID</a:t>
            </a:r>
            <a:r>
              <a:rPr lang="en-US" dirty="0"/>
              <a:t> DESC</a:t>
            </a:r>
            <a:r>
              <a:rPr lang="en-US" dirty="0" smtClean="0"/>
              <a:t>;</a:t>
            </a:r>
            <a:endParaRPr lang="en-US" dirty="0"/>
          </a:p>
        </p:txBody>
      </p:sp>
      <p:sp>
        <p:nvSpPr>
          <p:cNvPr id="3" name="Title 2"/>
          <p:cNvSpPr>
            <a:spLocks noGrp="1"/>
          </p:cNvSpPr>
          <p:nvPr>
            <p:ph type="title"/>
          </p:nvPr>
        </p:nvSpPr>
        <p:spPr/>
        <p:txBody>
          <a:bodyPr/>
          <a:lstStyle/>
          <a:p>
            <a:r>
              <a:rPr lang="en-US" dirty="0" smtClean="0"/>
              <a:t>SQL</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88</a:t>
            </a:fld>
            <a:endParaRPr lang="en-US" dirty="0"/>
          </a:p>
        </p:txBody>
      </p:sp>
    </p:spTree>
    <p:extLst>
      <p:ext uri="{BB962C8B-B14F-4D97-AF65-F5344CB8AC3E}">
        <p14:creationId xmlns:p14="http://schemas.microsoft.com/office/powerpoint/2010/main" val="18390575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a:t>
            </a:r>
            <a:endParaRPr lang="en-US" dirty="0"/>
          </a:p>
        </p:txBody>
      </p:sp>
      <p:sp>
        <p:nvSpPr>
          <p:cNvPr id="4" name="Slide Number Placeholder 3"/>
          <p:cNvSpPr>
            <a:spLocks noGrp="1"/>
          </p:cNvSpPr>
          <p:nvPr>
            <p:ph type="sldNum" sz="quarter" idx="4"/>
          </p:nvPr>
        </p:nvSpPr>
        <p:spPr/>
        <p:txBody>
          <a:bodyPr/>
          <a:lstStyle/>
          <a:p>
            <a:fld id="{40A085A0-3A3D-6540-B0AC-0588E66301FB}" type="slidenum">
              <a:rPr lang="en-US" smtClean="0"/>
              <a:pPr/>
              <a:t>89</a:t>
            </a:fld>
            <a:endParaRPr lang="en-US" dirty="0"/>
          </a:p>
        </p:txBody>
      </p:sp>
      <p:pic>
        <p:nvPicPr>
          <p:cNvPr id="6" name="Picture 5"/>
          <p:cNvPicPr>
            <a:picLocks noChangeAspect="1"/>
          </p:cNvPicPr>
          <p:nvPr/>
        </p:nvPicPr>
        <p:blipFill>
          <a:blip r:embed="rId3"/>
          <a:stretch>
            <a:fillRect/>
          </a:stretch>
        </p:blipFill>
        <p:spPr>
          <a:xfrm>
            <a:off x="37931" y="1796859"/>
            <a:ext cx="9052560" cy="1460282"/>
          </a:xfrm>
          <a:prstGeom prst="rect">
            <a:avLst/>
          </a:prstGeom>
        </p:spPr>
      </p:pic>
    </p:spTree>
    <p:extLst>
      <p:ext uri="{BB962C8B-B14F-4D97-AF65-F5344CB8AC3E}">
        <p14:creationId xmlns:p14="http://schemas.microsoft.com/office/powerpoint/2010/main" val="10852792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Summary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0721662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a:lstStyle/>
          <a:p>
            <a:pPr marL="285750" lvl="0" indent="-285750">
              <a:buFont typeface="Arial"/>
              <a:buChar char="•"/>
            </a:pPr>
            <a:r>
              <a:rPr lang="en-US" dirty="0" smtClean="0"/>
              <a:t>There are many more tables in the Degree Works </a:t>
            </a:r>
            <a:r>
              <a:rPr lang="en-US" dirty="0" smtClean="0"/>
              <a:t>database</a:t>
            </a:r>
          </a:p>
          <a:p>
            <a:pPr marL="285750" lvl="0" indent="-285750">
              <a:buFont typeface="Arial"/>
              <a:buChar char="•"/>
            </a:pPr>
            <a:r>
              <a:rPr lang="en-US" dirty="0" smtClean="0"/>
              <a:t>Examples are basic, your queries will be more robust</a:t>
            </a:r>
            <a:r>
              <a:rPr lang="en-US" dirty="0" smtClean="0"/>
              <a:t> </a:t>
            </a:r>
          </a:p>
          <a:p>
            <a:pPr marL="285750" lvl="0" indent="-285750">
              <a:buFont typeface="Arial"/>
              <a:buChar char="•"/>
            </a:pPr>
            <a:r>
              <a:rPr lang="en-US" dirty="0" smtClean="0"/>
              <a:t>Example SQL needs to be localized to your environment</a:t>
            </a:r>
          </a:p>
          <a:p>
            <a:pPr marL="285750" lvl="0" indent="-285750">
              <a:buFont typeface="Arial"/>
              <a:buChar char="•"/>
            </a:pPr>
            <a:r>
              <a:rPr lang="en-US" dirty="0" smtClean="0"/>
              <a:t>Is this the only way to query the data? No!</a:t>
            </a:r>
          </a:p>
          <a:p>
            <a:pPr marL="285750" lvl="0" indent="-285750">
              <a:buFont typeface="Arial"/>
              <a:buChar char="•"/>
            </a:pPr>
            <a:r>
              <a:rPr lang="en-US" dirty="0" smtClean="0"/>
              <a:t>Is this the best way to query the data? No!</a:t>
            </a:r>
          </a:p>
          <a:p>
            <a:pPr marL="285750" lvl="0" indent="-285750">
              <a:buFont typeface="Arial"/>
              <a:buChar char="•"/>
            </a:pPr>
            <a:r>
              <a:rPr lang="en-US" dirty="0" smtClean="0"/>
              <a:t>Is this a way to query the data? Yes!</a:t>
            </a:r>
            <a:endParaRPr lang="en-US" dirty="0"/>
          </a:p>
        </p:txBody>
      </p:sp>
      <p:sp>
        <p:nvSpPr>
          <p:cNvPr id="2" name="Title 1"/>
          <p:cNvSpPr>
            <a:spLocks noGrp="1"/>
          </p:cNvSpPr>
          <p:nvPr>
            <p:ph type="title"/>
          </p:nvPr>
        </p:nvSpPr>
        <p:spPr/>
        <p:txBody>
          <a:bodyPr/>
          <a:lstStyle/>
          <a:p>
            <a:r>
              <a:rPr lang="en-US" dirty="0"/>
              <a:t>Summary</a:t>
            </a:r>
          </a:p>
        </p:txBody>
      </p:sp>
      <p:sp>
        <p:nvSpPr>
          <p:cNvPr id="4" name="Slide Number Placeholder 3"/>
          <p:cNvSpPr>
            <a:spLocks noGrp="1"/>
          </p:cNvSpPr>
          <p:nvPr>
            <p:ph type="sldNum" sz="quarter" idx="4"/>
          </p:nvPr>
        </p:nvSpPr>
        <p:spPr/>
        <p:txBody>
          <a:bodyPr/>
          <a:lstStyle/>
          <a:p>
            <a:fld id="{40A085A0-3A3D-6540-B0AC-0588E66301FB}" type="slidenum">
              <a:rPr lang="en-US" smtClean="0"/>
              <a:pPr/>
              <a:t>91</a:t>
            </a:fld>
            <a:endParaRPr lang="en-US" dirty="0"/>
          </a:p>
        </p:txBody>
      </p:sp>
    </p:spTree>
    <p:extLst>
      <p:ext uri="{BB962C8B-B14F-4D97-AF65-F5344CB8AC3E}">
        <p14:creationId xmlns:p14="http://schemas.microsoft.com/office/powerpoint/2010/main" val="112636610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Questions</a:t>
            </a:r>
          </a:p>
        </p:txBody>
      </p:sp>
      <p:sp>
        <p:nvSpPr>
          <p:cNvPr id="9" name="Subtitle 7"/>
          <p:cNvSpPr txBox="1">
            <a:spLocks/>
          </p:cNvSpPr>
          <p:nvPr/>
        </p:nvSpPr>
        <p:spPr>
          <a:xfrm>
            <a:off x="4724400" y="2075580"/>
            <a:ext cx="4082704" cy="526302"/>
          </a:xfrm>
          <a:prstGeom prst="rect">
            <a:avLst/>
          </a:prstGeom>
        </p:spPr>
        <p:txBody>
          <a:bodyPr vert="horz" lIns="0" tIns="0" rIns="0" bIns="0" rtlCol="0">
            <a:noAutofit/>
          </a:bodyPr>
          <a:lstStyle/>
          <a:p>
            <a:pPr lvl="0">
              <a:spcAft>
                <a:spcPts val="1200"/>
              </a:spcAft>
            </a:pPr>
            <a:endParaRPr kumimoji="0" lang="en-US" sz="1600" i="0" u="none" strike="noStrike" kern="1200" cap="none" spc="0" normalizeH="0" baseline="0" noProof="0" dirty="0">
              <a:ln>
                <a:noFill/>
              </a:ln>
              <a:solidFill>
                <a:schemeClr val="bg1"/>
              </a:solidFill>
              <a:effectLst/>
              <a:uLnTx/>
              <a:uFillTx/>
              <a:latin typeface="Arial"/>
              <a:ea typeface="+mn-ea"/>
              <a:cs typeface="Arial"/>
            </a:endParaRPr>
          </a:p>
        </p:txBody>
      </p:sp>
    </p:spTree>
    <p:extLst>
      <p:ext uri="{BB962C8B-B14F-4D97-AF65-F5344CB8AC3E}">
        <p14:creationId xmlns:p14="http://schemas.microsoft.com/office/powerpoint/2010/main" val="1154176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b="1" dirty="0" smtClean="0">
                <a:solidFill>
                  <a:schemeClr val="bg1"/>
                </a:solidFill>
              </a:rPr>
              <a:t>Michael Moore, PhD</a:t>
            </a:r>
            <a:r>
              <a:rPr lang="en-US" dirty="0">
                <a:solidFill>
                  <a:schemeClr val="bg1"/>
                </a:solidFill>
              </a:rPr>
              <a:t/>
            </a:r>
            <a:br>
              <a:rPr lang="en-US" dirty="0">
                <a:solidFill>
                  <a:schemeClr val="bg1"/>
                </a:solidFill>
              </a:rPr>
            </a:br>
            <a:r>
              <a:rPr lang="en-US" dirty="0" smtClean="0">
                <a:solidFill>
                  <a:schemeClr val="bg1"/>
                </a:solidFill>
              </a:rPr>
              <a:t>mpmoore@odu.edu</a:t>
            </a:r>
            <a:endParaRPr lang="en-US" dirty="0">
              <a:solidFill>
                <a:schemeClr val="bg1"/>
              </a:solidFill>
            </a:endParaRPr>
          </a:p>
        </p:txBody>
      </p:sp>
      <p:sp>
        <p:nvSpPr>
          <p:cNvPr id="3" name="Text Placeholder 2"/>
          <p:cNvSpPr>
            <a:spLocks noGrp="1"/>
          </p:cNvSpPr>
          <p:nvPr>
            <p:ph type="body" sz="quarter" idx="11"/>
          </p:nvPr>
        </p:nvSpPr>
        <p:spPr/>
        <p:txBody>
          <a:bodyPr/>
          <a:lstStyle/>
          <a:p>
            <a:pPr>
              <a:spcBef>
                <a:spcPts val="1200"/>
              </a:spcBef>
            </a:pPr>
            <a:r>
              <a:rPr lang="en-US" dirty="0">
                <a:solidFill>
                  <a:schemeClr val="bg1"/>
                </a:solidFill>
              </a:rPr>
              <a:t>SESSION ID: </a:t>
            </a:r>
            <a:r>
              <a:rPr lang="en-US" dirty="0" smtClean="0">
                <a:solidFill>
                  <a:schemeClr val="bg1"/>
                </a:solidFill>
              </a:rPr>
              <a:t>DWF253522</a:t>
            </a:r>
            <a:endParaRPr lang="en-US" dirty="0">
              <a:solidFill>
                <a:schemeClr val="bg1"/>
              </a:solidFill>
            </a:endParaRPr>
          </a:p>
        </p:txBody>
      </p:sp>
    </p:spTree>
    <p:extLst>
      <p:ext uri="{BB962C8B-B14F-4D97-AF65-F5344CB8AC3E}">
        <p14:creationId xmlns:p14="http://schemas.microsoft.com/office/powerpoint/2010/main" val="2887458714"/>
      </p:ext>
    </p:extLst>
  </p:cSld>
  <p:clrMapOvr>
    <a:masterClrMapping/>
  </p:clrMapOvr>
</p:sld>
</file>

<file path=ppt/theme/theme1.xml><?xml version="1.0" encoding="utf-8"?>
<a:theme xmlns:a="http://schemas.openxmlformats.org/drawingml/2006/main" name="IDN - Ellucian PowerPoint Template">
  <a:themeElements>
    <a:clrScheme name="Custom 2">
      <a:dk1>
        <a:srgbClr val="414042"/>
      </a:dk1>
      <a:lt1>
        <a:sysClr val="window" lastClr="FFFFFF"/>
      </a:lt1>
      <a:dk2>
        <a:srgbClr val="414042"/>
      </a:dk2>
      <a:lt2>
        <a:srgbClr val="E2ECEC"/>
      </a:lt2>
      <a:accent1>
        <a:srgbClr val="642673"/>
      </a:accent1>
      <a:accent2>
        <a:srgbClr val="45A1AA"/>
      </a:accent2>
      <a:accent3>
        <a:srgbClr val="68C184"/>
      </a:accent3>
      <a:accent4>
        <a:srgbClr val="462F89"/>
      </a:accent4>
      <a:accent5>
        <a:srgbClr val="B61F5D"/>
      </a:accent5>
      <a:accent6>
        <a:srgbClr val="63A8E2"/>
      </a:accent6>
      <a:hlink>
        <a:srgbClr val="462F89"/>
      </a:hlink>
      <a:folHlink>
        <a:srgbClr val="A1ABD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fe46bcf-d94e-4efd-a3cd-e669a61993d0" xsi:nil="true"/>
    <lcf76f155ced4ddcb4097134ff3c332f xmlns="2042da26-2c3a-4b5f-a5a1-c51b944c39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23047289ED24B419F67AB721EF265A8" ma:contentTypeVersion="18" ma:contentTypeDescription="Create a new document." ma:contentTypeScope="" ma:versionID="b7b021602d77830a91ae61506c0c0254">
  <xsd:schema xmlns:xsd="http://www.w3.org/2001/XMLSchema" xmlns:xs="http://www.w3.org/2001/XMLSchema" xmlns:p="http://schemas.microsoft.com/office/2006/metadata/properties" xmlns:ns2="2042da26-2c3a-4b5f-a5a1-c51b944c3949" xmlns:ns3="1fe46bcf-d94e-4efd-a3cd-e669a61993d0" targetNamespace="http://schemas.microsoft.com/office/2006/metadata/properties" ma:root="true" ma:fieldsID="fd7a8d344d7511d87f18a38e0fe2bf2e" ns2:_="" ns3:_="">
    <xsd:import namespace="2042da26-2c3a-4b5f-a5a1-c51b944c3949"/>
    <xsd:import namespace="1fe46bcf-d94e-4efd-a3cd-e669a61993d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2da26-2c3a-4b5f-a5a1-c51b944c39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130029f-0b1c-488f-842e-084ea16ff38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fe46bcf-d94e-4efd-a3cd-e669a61993d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80ad9d7-33ff-43c3-b1cd-1a047d27cdb7}" ma:internalName="TaxCatchAll" ma:showField="CatchAllData" ma:web="1fe46bcf-d94e-4efd-a3cd-e669a61993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F9A6B4-579C-44B2-93D3-08AD4EDE8CAD}">
  <ds:schemaRefs>
    <ds:schemaRef ds:uri="http://purl.org/dc/terms/"/>
    <ds:schemaRef ds:uri="http://schemas.microsoft.com/office/2006/documentManagement/types"/>
    <ds:schemaRef ds:uri="http://www.w3.org/XML/1998/namespace"/>
    <ds:schemaRef ds:uri="http://purl.org/dc/dcmitype/"/>
    <ds:schemaRef ds:uri="http://purl.org/dc/elements/1.1/"/>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E81F83F-5663-4D15-824E-380D8047FB42}">
  <ds:schemaRefs>
    <ds:schemaRef ds:uri="http://schemas.microsoft.com/sharepoint/v3/contenttype/forms"/>
  </ds:schemaRefs>
</ds:datastoreItem>
</file>

<file path=customXml/itemProps3.xml><?xml version="1.0" encoding="utf-8"?>
<ds:datastoreItem xmlns:ds="http://schemas.openxmlformats.org/officeDocument/2006/customXml" ds:itemID="{E10422A4-4C77-40EB-95D5-163D5D8EF6B5}"/>
</file>

<file path=docProps/app.xml><?xml version="1.0" encoding="utf-8"?>
<Properties xmlns="http://schemas.openxmlformats.org/officeDocument/2006/extended-properties" xmlns:vt="http://schemas.openxmlformats.org/officeDocument/2006/docPropsVTypes">
  <Template>IDN - Ellucian PowerPoint Template</Template>
  <TotalTime>19027</TotalTime>
  <Words>3798</Words>
  <Application>Microsoft Office PowerPoint</Application>
  <PresentationFormat>On-screen Show (16:9)</PresentationFormat>
  <Paragraphs>518</Paragraphs>
  <Slides>93</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IDN - Ellucian PowerPoint Template</vt:lpstr>
      <vt:lpstr>Reporting  Degree Works  Data</vt:lpstr>
      <vt:lpstr>Disclaimer</vt:lpstr>
      <vt:lpstr>Introduction</vt:lpstr>
      <vt:lpstr>Assumptions</vt:lpstr>
      <vt:lpstr>Important Notes</vt:lpstr>
      <vt:lpstr>Agenda</vt:lpstr>
      <vt:lpstr>About Old Dominion University</vt:lpstr>
      <vt:lpstr>About Old Dominion University</vt:lpstr>
      <vt:lpstr>About the Tables</vt:lpstr>
      <vt:lpstr>Types of Tables</vt:lpstr>
      <vt:lpstr>CPA and DAP Data</vt:lpstr>
      <vt:lpstr>CPA and DAP Data</vt:lpstr>
      <vt:lpstr>RAD and SEP tables</vt:lpstr>
      <vt:lpstr>General Student Data</vt:lpstr>
      <vt:lpstr>Student Data Report</vt:lpstr>
      <vt:lpstr>RAD_PRIMARY_MST</vt:lpstr>
      <vt:lpstr>RAD_GOAL_DTL</vt:lpstr>
      <vt:lpstr>RAD_GOALDATA_DTL</vt:lpstr>
      <vt:lpstr>RAD_GOALDATA_DTL</vt:lpstr>
      <vt:lpstr>RAD_GOAL_DTL vs RAD_GOALDATA_DTL</vt:lpstr>
      <vt:lpstr>RAD_GOAL_DTL vs RAD_GOALDATA_DTL</vt:lpstr>
      <vt:lpstr>RAD_GOAL_DTL vs RAD_GOALDATA_DTL</vt:lpstr>
      <vt:lpstr>RAD_GOALDATA_DTL</vt:lpstr>
      <vt:lpstr>SQL</vt:lpstr>
      <vt:lpstr>Results</vt:lpstr>
      <vt:lpstr>RAD_GOALDATA_DTL</vt:lpstr>
      <vt:lpstr>SQL</vt:lpstr>
      <vt:lpstr>Results</vt:lpstr>
      <vt:lpstr>RAD_TERM_DTL</vt:lpstr>
      <vt:lpstr>RAD_CLASS_DTL</vt:lpstr>
      <vt:lpstr>SQL</vt:lpstr>
      <vt:lpstr>Results</vt:lpstr>
      <vt:lpstr>RAD_CLASS_DTL</vt:lpstr>
      <vt:lpstr>RAD_CUSTOM_DTL</vt:lpstr>
      <vt:lpstr>RAD_CUSTOM_DTL</vt:lpstr>
      <vt:lpstr>Even more…</vt:lpstr>
      <vt:lpstr>Course Planning with SEP</vt:lpstr>
      <vt:lpstr>SEP Tables</vt:lpstr>
      <vt:lpstr>SEP Tables</vt:lpstr>
      <vt:lpstr>SQL</vt:lpstr>
      <vt:lpstr>Results</vt:lpstr>
      <vt:lpstr>SQL</vt:lpstr>
      <vt:lpstr>SQL</vt:lpstr>
      <vt:lpstr>Results</vt:lpstr>
      <vt:lpstr>SQL</vt:lpstr>
      <vt:lpstr>Results</vt:lpstr>
      <vt:lpstr>SQL</vt:lpstr>
      <vt:lpstr>SQL</vt:lpstr>
      <vt:lpstr>Results</vt:lpstr>
      <vt:lpstr>SQL</vt:lpstr>
      <vt:lpstr>SQL</vt:lpstr>
      <vt:lpstr>Results</vt:lpstr>
      <vt:lpstr>Other Considerations</vt:lpstr>
      <vt:lpstr>Graduation and Missing Requirements</vt:lpstr>
      <vt:lpstr>CPA_BLOCKCRCLNEEDED Table</vt:lpstr>
      <vt:lpstr>CPA_BLOCKGPA</vt:lpstr>
      <vt:lpstr>CPA_BLOCKLABELS</vt:lpstr>
      <vt:lpstr>CPA_CLASSAPPLIED</vt:lpstr>
      <vt:lpstr>CPA_BLOCKLABELS + CPA_CLASSAPPLIED</vt:lpstr>
      <vt:lpstr>SQL</vt:lpstr>
      <vt:lpstr>Results</vt:lpstr>
      <vt:lpstr>CPA_BLOCKLABELS + CPA_CLASSAPPLIED</vt:lpstr>
      <vt:lpstr>SQL</vt:lpstr>
      <vt:lpstr>Results</vt:lpstr>
      <vt:lpstr>DAP_AUDIT_DTL</vt:lpstr>
      <vt:lpstr>DAP_AUDIT_DTL</vt:lpstr>
      <vt:lpstr>SQL</vt:lpstr>
      <vt:lpstr>Results</vt:lpstr>
      <vt:lpstr>DAP_RESULT_DTL </vt:lpstr>
      <vt:lpstr>DAP_RESULT_DTL</vt:lpstr>
      <vt:lpstr>DAP_RESULT_DTL</vt:lpstr>
      <vt:lpstr>DAP_RESULT_DTL</vt:lpstr>
      <vt:lpstr>DAP_RESULT_DTL</vt:lpstr>
      <vt:lpstr>SQL</vt:lpstr>
      <vt:lpstr>Results</vt:lpstr>
      <vt:lpstr>DAP_RESULT_DTL</vt:lpstr>
      <vt:lpstr>DAP_AUDIT_DTL</vt:lpstr>
      <vt:lpstr>DAP_RESULT_DTL</vt:lpstr>
      <vt:lpstr>DAP_RESULT_DTL</vt:lpstr>
      <vt:lpstr>DAP_RESULT_DTL</vt:lpstr>
      <vt:lpstr>RAD_RESULT_DTL</vt:lpstr>
      <vt:lpstr>SQL</vt:lpstr>
      <vt:lpstr>Results</vt:lpstr>
      <vt:lpstr>Other Considerations</vt:lpstr>
      <vt:lpstr>DAP_EXCEPT_DTL</vt:lpstr>
      <vt:lpstr>SQL</vt:lpstr>
      <vt:lpstr>Results</vt:lpstr>
      <vt:lpstr>SQL</vt:lpstr>
      <vt:lpstr>Results</vt:lpstr>
      <vt:lpstr>Summary</vt:lpstr>
      <vt:lpstr>Summary</vt:lpstr>
      <vt:lpstr>Questions</vt:lpstr>
      <vt:lpstr>PowerPoint Presentation</vt:lpstr>
    </vt:vector>
  </TitlesOfParts>
  <Company>Ellucian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Ellucian Identity Service Early Access Programs</dc:title>
  <dc:creator>Mark M. Bolembach</dc:creator>
  <cp:lastModifiedBy>Moore, Michael P.</cp:lastModifiedBy>
  <cp:revision>1248</cp:revision>
  <cp:lastPrinted>2018-11-15T20:31:47Z</cp:lastPrinted>
  <dcterms:created xsi:type="dcterms:W3CDTF">2015-01-30T16:14:07Z</dcterms:created>
  <dcterms:modified xsi:type="dcterms:W3CDTF">2019-04-05T16:58:55Z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orkflowChangePath">
    <vt:lpwstr>7c8400d0-a84f-403e-a8ca-37de6a498fe8,26;</vt:lpwstr>
  </property>
  <property fmtid="{D5CDD505-2E9C-101B-9397-08002B2CF9AE}" pid="3" name="ContentTypeId">
    <vt:lpwstr>0x010100623047289ED24B419F67AB721EF265A8</vt:lpwstr>
  </property>
  <property fmtid="{D5CDD505-2E9C-101B-9397-08002B2CF9AE}" pid="4" name="_NewReviewCycle">
    <vt:lpwstr/>
  </property>
  <property fmtid="{D5CDD505-2E9C-101B-9397-08002B2CF9AE}" pid="5" name="MediaServiceImageTags">
    <vt:lpwstr/>
  </property>
</Properties>
</file>